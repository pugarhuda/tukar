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Biaya deliverable</c:v>
                </c:pt>
              </c:strCache>
            </c:strRef>
          </c:tx>
          <c:spPr>
            <a:solidFill>
              <a:srgbClr val="161311"/>
            </a:solidFill>
          </c:spPr>
          <c:cat>
            <c:strRef>
              <c:f>Sheet1!$A$2:$A$5</c:f>
              <c:strCache>
                <c:ptCount val="4"/>
                <c:pt idx="0">
                  <c:v>Tranche #0
penerimaan</c:v>
                </c:pt>
                <c:pt idx="1">
                  <c:v>Tranche #1
MVP</c:v>
                </c:pt>
                <c:pt idx="2">
                  <c:v>Tranche #2
perluasan testnet</c:v>
                </c:pt>
                <c:pt idx="3">
                  <c:v>Tranche #3
go-live mainnet</c:v>
                </c:pt>
              </c:strCache>
            </c:strRef>
          </c:cat>
          <c:val>
            <c:numRef>
              <c:f>Sheet1!$B$2:$B$5</c:f>
              <c:numCache>
                <c:formatCode>General</c:formatCode>
                <c:ptCount val="4"/>
                <c:pt idx="0">
                  <c:v>0</c:v>
                </c:pt>
                <c:pt idx="1">
                  <c:v>13125</c:v>
                </c:pt>
                <c:pt idx="2">
                  <c:v>52125</c:v>
                </c:pt>
                <c:pt idx="3">
                  <c:v>54850</c:v>
                </c:pt>
              </c:numCache>
            </c:numRef>
          </c:val>
        </c:ser>
        <c:ser>
          <c:idx val="1"/>
          <c:order val="1"/>
          <c:tx>
            <c:strRef>
              <c:f>Sheet1!$C$1</c:f>
              <c:strCache>
                <c:ptCount val="1"/>
                <c:pt idx="0">
                  <c:v>Pembayaran SCF</c:v>
                </c:pt>
              </c:strCache>
            </c:strRef>
          </c:tx>
          <c:spPr>
            <a:solidFill>
              <a:srgbClr val="2A4FA8"/>
            </a:solidFill>
          </c:spPr>
          <c:cat>
            <c:strRef>
              <c:f>Sheet1!$A$2:$A$5</c:f>
              <c:strCache>
                <c:ptCount val="4"/>
                <c:pt idx="0">
                  <c:v>Tranche #0
penerimaan</c:v>
                </c:pt>
                <c:pt idx="1">
                  <c:v>Tranche #1
MVP</c:v>
                </c:pt>
                <c:pt idx="2">
                  <c:v>Tranche #2
perluasan testnet</c:v>
                </c:pt>
                <c:pt idx="3">
                  <c:v>Tranche #3
go-live mainnet</c:v>
                </c:pt>
              </c:strCache>
            </c:strRef>
          </c:cat>
          <c:val>
            <c:numRef>
              <c:f>Sheet1!$C$2:$C$5</c:f>
              <c:numCache>
                <c:formatCode>General</c:formatCode>
                <c:ptCount val="4"/>
                <c:pt idx="0">
                  <c:v>12010</c:v>
                </c:pt>
                <c:pt idx="1">
                  <c:v>24020</c:v>
                </c:pt>
                <c:pt idx="2">
                  <c:v>36030</c:v>
                </c:pt>
                <c:pt idx="3">
                  <c:v>48040</c:v>
                </c:pt>
              </c:numCache>
            </c:numRef>
          </c:val>
        </c:ser>
        <c:dLbls>
          <c:numFmt formatCode="&quot;$&quot;#,##0" sourceLinked="0"/>
          <c:txPr>
            <a:bodyPr/>
            <a:lstStyle/>
            <a:p>
              <a:pPr>
                <a:defRPr sz="850">
                  <a:solidFill>
                    <a:srgbClr val="161311"/>
                  </a:solidFill>
                  <a:latin typeface="Courier Prime"/>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none"/>
        <c:minorTickMark val="none"/>
        <c:tickLblPos val="nextTo"/>
        <c:spPr>
          <a:ln>
            <a:solidFill>
              <a:srgbClr val="161311"/>
            </a:solidFill>
          </a:ln>
        </c:spPr>
        <c:txPr>
          <a:bodyPr/>
          <a:lstStyle/>
          <a:p>
            <a:pPr>
              <a:defRPr sz="850">
                <a:latin typeface="Courier Prime"/>
              </a:defRPr>
            </a:pPr>
          </a:p>
        </c:txPr>
        <c:crossAx val="-2113994440"/>
        <c:crosses val="autoZero"/>
        <c:auto val="1"/>
        <c:lblAlgn val="ctr"/>
        <c:lblOffset val="100"/>
        <c:noMultiLvlLbl val="0"/>
      </c:catAx>
      <c:valAx>
        <c:axId val="-2113994440"/>
        <c:scaling>
          <c:max val="62000.0"/>
        </c:scaling>
        <c:delete val="0"/>
        <c:axPos val="l"/>
        <c:majorGridlines>
          <c:spPr>
            <a:ln w="6350">
              <a:solidFill>
                <a:srgbClr val="161311"/>
              </a:solidFill>
            </a:ln>
          </c:spPr>
        </c:majorGridlines>
        <c:majorTickMark val="out"/>
        <c:minorTickMark val="none"/>
        <c:tickLblPos val="nextTo"/>
        <c:spPr>
          <a:ln>
            <a:solidFill>
              <a:srgbClr val="161311"/>
            </a:solidFill>
          </a:ln>
        </c:spPr>
        <c:txPr>
          <a:bodyPr/>
          <a:lstStyle/>
          <a:p>
            <a:pPr>
              <a:defRPr sz="850">
                <a:latin typeface="Courier Prime"/>
              </a:defRPr>
            </a:pPr>
          </a:p>
        </c:txPr>
        <c:crossAx val="-2068027336"/>
        <c:crosses val="autoZero"/>
      </c:valAx>
    </c:plotArea>
    <c:legend>
      <c:legendPos val="t"/>
      <c:overlay val="0"/>
    </c:legend>
    <c:dispBlanksAs val="gap"/>
  </c:chart>
  <c:txPr>
    <a:bodyPr/>
    <a:lstStyle/>
    <a:p>
      <a:pPr>
        <a:defRPr sz="900">
          <a:solidFill>
            <a:srgbClr val="3D3731"/>
          </a:solidFill>
          <a:latin typeface="Courier Prim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 yang kerja di luar negeri kirim uang ke rumah tiap bulan, dan biayanya masih sekitar enam persen. Tukar bikin itu privat, di atas Stellar. Dolar masuk, uang lokal keluar, dan bagian tengahnya tetap tertutup. Privat di tengah, akuntabel di tepinya. Sebut statusnya duluan sebelum ditanya: ini testnet, pra-mainnet, belum diaudit, belum ada pengguna.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 tunjukkan langsung. Ini live di Stellar testnet. Sender dan Receiver itu aplikasi konsumen di ponsel; Regulator dan Operator konsol desktop. Seseorang kirim uang ke rumah, proof kepatuhannya dibangun di ponsel, deposit USDC sungguhan masuk ke shielded pool, dan keluar claim note. Keluarganya cairkan pakai kurs on-chain. Lalu regulator memverifikasi ulang resinya: valid, dan terikat ke deposit on-chain yang nyata. Ubah satu karakter, verifier live menolaknya. Dua kalimat yang paling menentukan adalah "terikat ke deposit on-chain yang nyata" dan "Invalid."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Stellar memindahkan uang sungguhan, tapi ledger-nya publik. Tiap pembayaran memperlihatkan nominal dan kedua orangnya. Itu riwayat keuangan pribadi yang terpampang. Pasarnya nyata: sekitar 669 miliar dolar masuk ke negara berpendapatan rendah dan menengah pada 2023, dan mengirim 200 dolar masih memakan lebih dari enam persen. Dua angka publik dari World Bank, selain itu tidak ada klaim ukuran pasar.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Jadi alurnya dibelah. Deposit-nya publik dan membawa proof kepatuhan. Lintasannya privat, nominal dan kedua pihak tersembunyi. Off-ramp-nya publik lagi, ke mata uang lokal. Deposit dan withdraw memang publik di tepinya, itu bentuk Privacy Pools. Yang ter-shield adalah lintasan di antaranya.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Perangkat utamanya ponsel dengan koneksi jelek. Seseorang kirim uang ke rumah. Proof kepatuhannya dibangun langsung di ponsel, membuktikan dia ada di allow-list dan tidak kena sanksi. Lalu deposit USDC sungguhan masuk ke shielded pool dan keluar claim note. Di rumah, keluarganya menempel note itu dan mencairkan dengan kurs live yang dibaca on-chain dari Reflector, median lima record, dengan lantai yang menutup diri kalau harganya jelek.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Koridornya membayar ke sepuluh negara di Amerika Latin, Asia, dan Afrika. Ini produk global, bukan cuma Indonesia. Jalur pertamanya Amerika Serikat ke Filipina, karena kedua kakinya terverifikasi di daftar negara anchor yang dipublikasikan. Arab Saudi ke Indonesia jadi jalur kedua.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bagian paling kuat dari desainnya, dan batasnya ada di slide yang sama. Selective disclosure sendirian membiarkan pemegang note memilih apa yang dibuka, jadi regulator yang minta total bisa dijawab dengan potongan yang enak dilihat. Auditor mendaftarkan permintaannya on-chain, dan pool menolak jawaban untuk permintaan yang tidak pernah didaftarkan. Batasnya: himpunan yang didaftarkan dibangun dari deposit yang memang sudah publik, jadi ini completeness atas pembayaran yang sebenarnya sudah bisa didaftar auditor dari chain. Ini belum completeness atas seluruh cash-out satu orang di semua alamat yang dia pakai.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bagian yang bikin dia patuh, bukan sekadar privat. Pemegang note membuktikan satu fakta soal pembayarannya lalu mengekspor resi. Regulator memverifikasi ulang, di browser dan di kontrak Stellar yang live. Valid, dan terikat ke deposit on-chain yang nyata, bukan tangkapan layar. Sekarang ubah satu karakter. Invalid. Verifier live menolaknya on-chain. Disclosure yang terverifikasi sendirian bukan hal unik; Stellar Private Payments juga memverifikasi disclosure.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inventaris lengkapnya, bukan cuma cerita utamanya. Kelompok pertama koridor ter-shield itu sendiri. Kelompok kedua permukaan kepatuhan di sekelilingnya, dan tiga di antaranya ada di preview track, belum di pool live: pool enforcement, akumulator liabilitas eksak, dan timelock admin. Menerapkannya ke pool live butuh migrasi state, itu Tranche #1. Node TRISA sudah ditulis tapi belum di-deploy.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Kelompok ketiga tepi uang, tempat koridornya menyentuh fiat nyata dan chain lain. Kelompok keempat konsol operator. Dua hal yang harus disebut keras: SEP stack-nya protokol sungguhan tapi terhadap anchor rujukan SDF, yang tidak punya KYC dan tidak membayarkan fiat nyata; dan semua ambang alert sengaja dikosongkan karena belum ada trafik untuk jadi baseline.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Kelompok kelima keluarga disclosure, kelompok keenam semua yang bikin ini bisa dipakai keluarga, bukan cuma developer. Dua catatan jujur di sini: idOS memverifikasi kredensial tapi tidak bisa mengikatnya ke alamat Stellar, jadi tidak menambah siapa pun ke allow-list, dan aplikasinya mengatakan itu; dan sign-in passkey dimatikan karena library-nya tidak bisa membaca data transaksi Protocol 28 di SDK yang dipakai sekarang.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Tidak ada yang mengawang di sini. Delapan circuit zero-knowledge, lima belas kontrak Soroban, delapan kontrak verifier BN254, live di testnet. Tiap proof dibangun di browser dan diverifikasi on-chain. Angka test-nya dihasilkan dengan benar-benar menjalankan suite-nya pada 15 September, bukan dari menghitung atribut test di source.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alamat kontrak di sini bisa dibuka di stellar.expert. Ini jejak on-chain yang didaftarkan sesuai Official Rules SCF, dan akan diperbarui kalau berubah secara material. Identitas mainnet baru didaftarkan saat deployment Tranche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apa adanya duluan, sebelum ada yang perlu bertanya. Belum ada pengguna dan belum ada volume. Tukar masih pra-mainnet. Semua transaksi di identitas yang didaftarkan dikirim oleh tim atau penguji yang tim undang. Tidak ada yang sintetis, wash, atau sybil, dan tidak satu pun dari itu traksi. Belum diaudit secara profesional, tepi fiatnya berjalan terhadap anchor rujukan SDF, dan tidak ada yang di sini didukung atau diperiksa SDF maupun SCF.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Ketergantungan paling rapuh di koridor ini adalah tepi fiat berlisensi, jadi itu diteliti, bukan diasumsikan. Temuannya batasan nyata untuk rencana ini dan ditulis sebagai temuan, bukan permintaan maaf. Itu sebabnya deliverable anchor diberi harga dengan engineer integrasi terkontrak, dan sebabnya jalur pertamanya disebut namanya, bukan dibiarkan kosong.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Compliant shielded pool itu primitif bersama di Stellar, bukan milik kami. Akui itu duluan. Implementasi rujukan SDF sendiri punya satu, award terdekat yang sudah didanai memang didanai untuk membangun satu, dan pola verifier Tukar diadaptasi dari referensi Nethermind. Yang tersisa adalah koridor di atas pool itu, dan isinya empat hal yang semuanya bisa dicek di repositori.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diminta 120.100 dolar untuk enam bulan, sekitar delapan puluh persen dari plafon. Pembagian pembayarannya sudah dipatok SCF di sepuluh, dua puluh, tiga puluh, empat puluh. Basis biayanya tidak jatuh dengan rasio itu, dan grafiknya menunjukkan itu daripada menyembunyikannya, supaya reviewer bisa mendebat inputnya, bukan totalnya.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Sebelas deliverable, masing-masing punya biaya dan syarat selesainya. Pekerjaannya memproduksionalkan arsitektur yang sudah jalan, bukan membangun dari nol. Kalau SDF membatasi award ini ke testnet saja, tiap deliverable Tranche #3 punya bentuk testnet yang tetap memegang syarat selesainya, dan dua hal benar-benar hilang, tidak ditutup-tutupi.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Itu Tukar. Privat di tengah, akuntabel di tepinya, di atas Stellar. Masih testnet dan belum diaudit, belum ada pengguna dan belum ada volume, tapi semua yang di tengah itu nyata dan bisa Anda verifikasi on-chain sekarang juga. Proposal ini mendanai produksionalisasi arsitektur yang sudah jalan, bukan membangunnya dari nol.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 Id="rId5" Type="http://schemas.microsoft.com/office/2007/relationships/media" Target="../media/media1.mp4"/><Relationship Id="rId6" Type="http://schemas.openxmlformats.org/officeDocument/2006/relationships/video" Target="../media/media1.mp4"/><Relationship Id="rId7"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image" Target="../media/image3.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457200" y="457200"/>
            <a:ext cx="7635240" cy="562356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ectangle 3"/>
          <p:cNvSpPr/>
          <p:nvPr/>
        </p:nvSpPr>
        <p:spPr>
          <a:xfrm>
            <a:off x="457200" y="457200"/>
            <a:ext cx="763524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LABEL PENGIRIMAN</a:t>
            </a:r>
          </a:p>
        </p:txBody>
      </p:sp>
      <p:sp>
        <p:nvSpPr>
          <p:cNvPr id="5" name="TextBox 4"/>
          <p:cNvSpPr txBox="1"/>
          <p:nvPr/>
        </p:nvSpPr>
        <p:spPr>
          <a:xfrm>
            <a:off x="3008375" y="525780"/>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STELLAR TESTNET · PROTOCOL 28</a:t>
            </a:r>
          </a:p>
        </p:txBody>
      </p:sp>
      <p:sp>
        <p:nvSpPr>
          <p:cNvPr id="6" name="TextBox 5"/>
          <p:cNvSpPr txBox="1"/>
          <p:nvPr/>
        </p:nvSpPr>
        <p:spPr>
          <a:xfrm>
            <a:off x="777240" y="950976"/>
            <a:ext cx="6949440" cy="1371600"/>
          </a:xfrm>
          <a:prstGeom prst="rect">
            <a:avLst/>
          </a:prstGeom>
          <a:noFill/>
        </p:spPr>
        <p:txBody>
          <a:bodyPr wrap="square" lIns="0" rIns="0" tIns="0" bIns="0" anchor="t">
            <a:spAutoFit/>
          </a:bodyPr>
          <a:lstStyle/>
          <a:p>
            <a:pPr algn="l">
              <a:lnSpc>
                <a:spcPct val="95000"/>
              </a:lnSpc>
            </a:pPr>
            <a:r>
              <a:rPr sz="8600" b="0" i="0" spc="100">
                <a:solidFill>
                  <a:srgbClr val="161311"/>
                </a:solidFill>
                <a:latin typeface="Saira Stencil One"/>
                <a:ea typeface="Saira Stencil One"/>
                <a:cs typeface="Saira Stencil One"/>
              </a:rPr>
              <a:t>TUKAR</a:t>
            </a:r>
          </a:p>
        </p:txBody>
      </p:sp>
      <p:sp>
        <p:nvSpPr>
          <p:cNvPr id="7" name="TextBox 6"/>
          <p:cNvSpPr txBox="1"/>
          <p:nvPr/>
        </p:nvSpPr>
        <p:spPr>
          <a:xfrm>
            <a:off x="777240" y="2432304"/>
            <a:ext cx="6035040" cy="822960"/>
          </a:xfrm>
          <a:prstGeom prst="rect">
            <a:avLst/>
          </a:prstGeom>
          <a:noFill/>
        </p:spPr>
        <p:txBody>
          <a:bodyPr wrap="square" lIns="0" rIns="0" tIns="0" bIns="0" anchor="t">
            <a:spAutoFit/>
          </a:bodyPr>
          <a:lstStyle/>
          <a:p>
            <a:pPr algn="l">
              <a:lnSpc>
                <a:spcPct val="135000"/>
              </a:lnSpc>
            </a:pPr>
            <a:r>
              <a:rPr sz="1500" b="0" i="0">
                <a:solidFill>
                  <a:srgbClr val="3D3731"/>
                </a:solidFill>
                <a:latin typeface="Barlow"/>
                <a:ea typeface="Barlow"/>
                <a:cs typeface="Barlow"/>
              </a:rPr>
              <a:t>Koridor remitansi lintas negara yang privat di atas Stellar. Dolar masuk, uang lokal keluar, dan lintasan di tengahnya tetap tertutup.</a:t>
            </a:r>
          </a:p>
        </p:txBody>
      </p:sp>
      <p:sp>
        <p:nvSpPr>
          <p:cNvPr id="8" name="Rectangle 7"/>
          <p:cNvSpPr/>
          <p:nvPr/>
        </p:nvSpPr>
        <p:spPr>
          <a:xfrm>
            <a:off x="777240" y="3145536"/>
            <a:ext cx="6949440"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278124"/>
            <a:ext cx="11887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DARI</a:t>
            </a:r>
          </a:p>
        </p:txBody>
      </p:sp>
      <p:sp>
        <p:nvSpPr>
          <p:cNvPr id="10" name="TextBox 9"/>
          <p:cNvSpPr txBox="1"/>
          <p:nvPr/>
        </p:nvSpPr>
        <p:spPr>
          <a:xfrm>
            <a:off x="2057400" y="3262579"/>
            <a:ext cx="5669280" cy="429768"/>
          </a:xfrm>
          <a:prstGeom prst="rect">
            <a:avLst/>
          </a:prstGeom>
          <a:noFill/>
        </p:spPr>
        <p:txBody>
          <a:bodyPr wrap="square" lIns="0" rIns="0" tIns="0" bIns="0" anchor="t">
            <a:spAutoFit/>
          </a:bodyPr>
          <a:lstStyle/>
          <a:p>
            <a:pPr algn="l">
              <a:lnSpc>
                <a:spcPct val="115000"/>
              </a:lnSpc>
            </a:pPr>
            <a:r>
              <a:rPr sz="1150" b="0" i="0">
                <a:solidFill>
                  <a:srgbClr val="161311"/>
                </a:solidFill>
                <a:latin typeface="Barlow"/>
                <a:ea typeface="Barlow"/>
                <a:cs typeface="Barlow"/>
              </a:rPr>
              <a:t/>
            </a:r>
          </a:p>
        </p:txBody>
      </p:sp>
      <p:sp>
        <p:nvSpPr>
          <p:cNvPr id="11" name="Rectangle 10"/>
          <p:cNvSpPr/>
          <p:nvPr/>
        </p:nvSpPr>
        <p:spPr>
          <a:xfrm>
            <a:off x="777240" y="3666744"/>
            <a:ext cx="69494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707891"/>
            <a:ext cx="11887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KE</a:t>
            </a:r>
          </a:p>
        </p:txBody>
      </p:sp>
      <p:sp>
        <p:nvSpPr>
          <p:cNvPr id="13" name="TextBox 12"/>
          <p:cNvSpPr txBox="1"/>
          <p:nvPr/>
        </p:nvSpPr>
        <p:spPr>
          <a:xfrm>
            <a:off x="2057400" y="3692347"/>
            <a:ext cx="5669280" cy="429768"/>
          </a:xfrm>
          <a:prstGeom prst="rect">
            <a:avLst/>
          </a:prstGeom>
          <a:noFill/>
        </p:spPr>
        <p:txBody>
          <a:bodyPr wrap="square" lIns="0" rIns="0" tIns="0" bIns="0" anchor="t">
            <a:spAutoFit/>
          </a:bodyPr>
          <a:lstStyle/>
          <a:p>
            <a:pPr algn="l">
              <a:lnSpc>
                <a:spcPct val="115000"/>
              </a:lnSpc>
            </a:pPr>
            <a:r>
              <a:rPr sz="1150" b="0" i="0">
                <a:solidFill>
                  <a:srgbClr val="161311"/>
                </a:solidFill>
                <a:latin typeface="Barlow"/>
                <a:ea typeface="Barlow"/>
                <a:cs typeface="Barlow"/>
              </a:rPr>
              <a:t/>
            </a:r>
          </a:p>
        </p:txBody>
      </p:sp>
      <p:sp>
        <p:nvSpPr>
          <p:cNvPr id="14" name="Rectangle 13"/>
          <p:cNvSpPr/>
          <p:nvPr/>
        </p:nvSpPr>
        <p:spPr>
          <a:xfrm>
            <a:off x="777240" y="4096511"/>
            <a:ext cx="69494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137659"/>
            <a:ext cx="11887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ISI</a:t>
            </a:r>
          </a:p>
        </p:txBody>
      </p:sp>
      <p:sp>
        <p:nvSpPr>
          <p:cNvPr id="16" name="TextBox 15"/>
          <p:cNvSpPr txBox="1"/>
          <p:nvPr/>
        </p:nvSpPr>
        <p:spPr>
          <a:xfrm>
            <a:off x="2057400" y="4122115"/>
            <a:ext cx="5669280" cy="429768"/>
          </a:xfrm>
          <a:prstGeom prst="rect">
            <a:avLst/>
          </a:prstGeom>
          <a:noFill/>
        </p:spPr>
        <p:txBody>
          <a:bodyPr wrap="square" lIns="0" rIns="0" tIns="0" bIns="0" anchor="t">
            <a:spAutoFit/>
          </a:bodyPr>
          <a:lstStyle/>
          <a:p>
            <a:pPr algn="l">
              <a:lnSpc>
                <a:spcPct val="115000"/>
              </a:lnSpc>
            </a:pPr>
            <a:r>
              <a:rPr sz="1150" b="0" i="0">
                <a:solidFill>
                  <a:srgbClr val="161311"/>
                </a:solidFill>
                <a:latin typeface="Barlow"/>
                <a:ea typeface="Barlow"/>
                <a:cs typeface="Barlow"/>
              </a:rPr>
              <a:t>USDC · nominal disembunyikan on-chain di antara dua tepi yang publik</a:t>
            </a:r>
          </a:p>
        </p:txBody>
      </p:sp>
      <p:sp>
        <p:nvSpPr>
          <p:cNvPr id="17" name="Rectangle 16"/>
          <p:cNvSpPr/>
          <p:nvPr/>
        </p:nvSpPr>
        <p:spPr>
          <a:xfrm>
            <a:off x="777240" y="4526279"/>
            <a:ext cx="69494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567427"/>
            <a:ext cx="11887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DIBAYAR KE</a:t>
            </a:r>
          </a:p>
        </p:txBody>
      </p:sp>
      <p:sp>
        <p:nvSpPr>
          <p:cNvPr id="19" name="TextBox 18"/>
          <p:cNvSpPr txBox="1"/>
          <p:nvPr/>
        </p:nvSpPr>
        <p:spPr>
          <a:xfrm>
            <a:off x="2057400" y="4551883"/>
            <a:ext cx="5669280" cy="429768"/>
          </a:xfrm>
          <a:prstGeom prst="rect">
            <a:avLst/>
          </a:prstGeom>
          <a:noFill/>
        </p:spPr>
        <p:txBody>
          <a:bodyPr wrap="square" lIns="0" rIns="0" tIns="0" bIns="0" anchor="t">
            <a:spAutoFit/>
          </a:bodyPr>
          <a:lstStyle/>
          <a:p>
            <a:pPr algn="l">
              <a:lnSpc>
                <a:spcPct val="115000"/>
              </a:lnSpc>
            </a:pPr>
            <a:r>
              <a:rPr sz="1150" b="0" i="0">
                <a:solidFill>
                  <a:srgbClr val="161311"/>
                </a:solidFill>
                <a:latin typeface="Barlow"/>
                <a:ea typeface="Barlow"/>
                <a:cs typeface="Barlow"/>
              </a:rPr>
              <a:t>sepuluh negara di Amerika Latin, Asia, dan Afrika</a:t>
            </a:r>
          </a:p>
        </p:txBody>
      </p:sp>
      <p:sp>
        <p:nvSpPr>
          <p:cNvPr id="20" name="Rectangle 19"/>
          <p:cNvSpPr/>
          <p:nvPr/>
        </p:nvSpPr>
        <p:spPr>
          <a:xfrm>
            <a:off x="777240" y="4956047"/>
            <a:ext cx="69494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97195"/>
            <a:ext cx="11887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STATUS</a:t>
            </a:r>
          </a:p>
        </p:txBody>
      </p:sp>
      <p:sp>
        <p:nvSpPr>
          <p:cNvPr id="22" name="TextBox 21"/>
          <p:cNvSpPr txBox="1"/>
          <p:nvPr/>
        </p:nvSpPr>
        <p:spPr>
          <a:xfrm>
            <a:off x="2057400" y="4981651"/>
            <a:ext cx="5669280" cy="429768"/>
          </a:xfrm>
          <a:prstGeom prst="rect">
            <a:avLst/>
          </a:prstGeom>
          <a:noFill/>
        </p:spPr>
        <p:txBody>
          <a:bodyPr wrap="square" lIns="0" rIns="0" tIns="0" bIns="0" anchor="t">
            <a:spAutoFit/>
          </a:bodyPr>
          <a:lstStyle/>
          <a:p>
            <a:pPr algn="l">
              <a:lnSpc>
                <a:spcPct val="115000"/>
              </a:lnSpc>
            </a:pPr>
            <a:r>
              <a:rPr sz="1150" b="0" i="0">
                <a:solidFill>
                  <a:srgbClr val="161311"/>
                </a:solidFill>
                <a:latin typeface="Barlow"/>
                <a:ea typeface="Barlow"/>
                <a:cs typeface="Barlow"/>
              </a:rPr>
              <a:t>pra-mainnet · belum ada pengguna · belum ada volume · belum diaudit</a:t>
            </a:r>
          </a:p>
        </p:txBody>
      </p:sp>
      <p:sp>
        <p:nvSpPr>
          <p:cNvPr id="23" name="Rectangle 22"/>
          <p:cNvSpPr/>
          <p:nvPr/>
        </p:nvSpPr>
        <p:spPr>
          <a:xfrm>
            <a:off x="777240" y="5385815"/>
            <a:ext cx="6949440"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65960" y="3346704"/>
            <a:ext cx="1234440" cy="155448"/>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3310128" y="3323844"/>
            <a:ext cx="4206240" cy="219456"/>
          </a:xfrm>
          <a:prstGeom prst="rect">
            <a:avLst/>
          </a:prstGeom>
          <a:noFill/>
        </p:spPr>
        <p:txBody>
          <a:bodyPr wrap="square" lIns="0" rIns="0" tIns="0" bIns="0" anchor="t">
            <a:spAutoFit/>
          </a:bodyPr>
          <a:lstStyle/>
          <a:p>
            <a:pPr algn="l">
              <a:lnSpc>
                <a:spcPct val="100000"/>
              </a:lnSpc>
            </a:pPr>
            <a:r>
              <a:rPr sz="1150" b="0" i="0">
                <a:solidFill>
                  <a:srgbClr val="3D3731"/>
                </a:solidFill>
                <a:latin typeface="Barlow"/>
                <a:ea typeface="Barlow"/>
                <a:cs typeface="Barlow"/>
              </a:rPr>
              <a:t>ditutup selama menyeberang</a:t>
            </a:r>
          </a:p>
        </p:txBody>
      </p:sp>
      <p:sp>
        <p:nvSpPr>
          <p:cNvPr id="26" name="Rectangle 25"/>
          <p:cNvSpPr/>
          <p:nvPr/>
        </p:nvSpPr>
        <p:spPr>
          <a:xfrm>
            <a:off x="1965960" y="3776472"/>
            <a:ext cx="1234440" cy="155448"/>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3310128" y="3753611"/>
            <a:ext cx="4206240" cy="219456"/>
          </a:xfrm>
          <a:prstGeom prst="rect">
            <a:avLst/>
          </a:prstGeom>
          <a:noFill/>
        </p:spPr>
        <p:txBody>
          <a:bodyPr wrap="square" lIns="0" rIns="0" tIns="0" bIns="0" anchor="t">
            <a:spAutoFit/>
          </a:bodyPr>
          <a:lstStyle/>
          <a:p>
            <a:pPr algn="l">
              <a:lnSpc>
                <a:spcPct val="100000"/>
              </a:lnSpc>
            </a:pPr>
            <a:r>
              <a:rPr sz="1150" b="0" i="0">
                <a:solidFill>
                  <a:srgbClr val="3D3731"/>
                </a:solidFill>
                <a:latin typeface="Barlow"/>
                <a:ea typeface="Barlow"/>
                <a:cs typeface="Barlow"/>
              </a:rPr>
              <a:t>ditutup selama menyeberang</a:t>
            </a:r>
          </a:p>
        </p:txBody>
      </p:sp>
      <p:sp>
        <p:nvSpPr>
          <p:cNvPr id="28" name="TextBox 27"/>
          <p:cNvSpPr txBox="1"/>
          <p:nvPr/>
        </p:nvSpPr>
        <p:spPr>
          <a:xfrm>
            <a:off x="777240" y="5614416"/>
            <a:ext cx="6400800" cy="228600"/>
          </a:xfrm>
          <a:prstGeom prst="rect">
            <a:avLst/>
          </a:prstGeom>
          <a:noFill/>
        </p:spPr>
        <p:txBody>
          <a:bodyPr wrap="square" lIns="0" rIns="0" tIns="0" bIns="0" anchor="t">
            <a:spAutoFit/>
          </a:bodyPr>
          <a:lstStyle/>
          <a:p>
            <a:pPr algn="l">
              <a:lnSpc>
                <a:spcPct val="128000"/>
              </a:lnSpc>
            </a:pPr>
            <a:r>
              <a:rPr sz="900" b="1" i="0" spc="70">
                <a:solidFill>
                  <a:srgbClr val="5A5148"/>
                </a:solidFill>
                <a:latin typeface="Courier Prime"/>
                <a:ea typeface="Courier Prime"/>
                <a:cs typeface="Courier Prime"/>
              </a:rPr>
              <a:t>Pugar Huda · founder tunggal · pengajuan SCF Build Award, Open Track</a:t>
            </a:r>
          </a:p>
        </p:txBody>
      </p:sp>
      <p:sp>
        <p:nvSpPr>
          <p:cNvPr id="29" name="Rectangle 28"/>
          <p:cNvSpPr/>
          <p:nvPr/>
        </p:nvSpPr>
        <p:spPr>
          <a:xfrm>
            <a:off x="8339327" y="457200"/>
            <a:ext cx="3401568" cy="370332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ectangle 29"/>
          <p:cNvSpPr/>
          <p:nvPr/>
        </p:nvSpPr>
        <p:spPr>
          <a:xfrm>
            <a:off x="8339327" y="457200"/>
            <a:ext cx="340156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YANG DIMINTA</a:t>
            </a:r>
          </a:p>
        </p:txBody>
      </p:sp>
      <p:sp>
        <p:nvSpPr>
          <p:cNvPr id="31" name="TextBox 30"/>
          <p:cNvSpPr txBox="1"/>
          <p:nvPr/>
        </p:nvSpPr>
        <p:spPr>
          <a:xfrm>
            <a:off x="8577072" y="969264"/>
            <a:ext cx="2926080" cy="914400"/>
          </a:xfrm>
          <a:prstGeom prst="rect">
            <a:avLst/>
          </a:prstGeom>
          <a:noFill/>
        </p:spPr>
        <p:txBody>
          <a:bodyPr wrap="square" lIns="0" rIns="0" tIns="0" bIns="0" anchor="t">
            <a:spAutoFit/>
          </a:bodyPr>
          <a:lstStyle/>
          <a:p>
            <a:pPr algn="l">
              <a:lnSpc>
                <a:spcPct val="100000"/>
              </a:lnSpc>
            </a:pPr>
            <a:r>
              <a:rPr sz="3300" b="0" i="0">
                <a:solidFill>
                  <a:srgbClr val="161311"/>
                </a:solidFill>
                <a:latin typeface="Saira Stencil One"/>
                <a:ea typeface="Saira Stencil One"/>
                <a:cs typeface="Saira Stencil One"/>
              </a:rPr>
              <a:t>$120,100</a:t>
            </a:r>
          </a:p>
          <a:p>
            <a:pPr algn="l">
              <a:lnSpc>
                <a:spcPct val="128000"/>
              </a:lnSpc>
              <a:spcBef>
                <a:spcPts val="400"/>
              </a:spcBef>
            </a:pPr>
            <a:r>
              <a:rPr sz="950" b="1" i="0" spc="70">
                <a:solidFill>
                  <a:srgbClr val="5A5148"/>
                </a:solidFill>
                <a:latin typeface="Courier Prime"/>
                <a:ea typeface="Courier Prime"/>
                <a:cs typeface="Courier Prime"/>
              </a:rPr>
              <a:t>dalam XLM, untuk 6 bulan</a:t>
            </a:r>
          </a:p>
        </p:txBody>
      </p:sp>
      <p:sp>
        <p:nvSpPr>
          <p:cNvPr id="32" name="Rectangle 31"/>
          <p:cNvSpPr/>
          <p:nvPr/>
        </p:nvSpPr>
        <p:spPr>
          <a:xfrm>
            <a:off x="8577072" y="1956816"/>
            <a:ext cx="2926080"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77072" y="2089404"/>
            <a:ext cx="10058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TRACK</a:t>
            </a:r>
          </a:p>
        </p:txBody>
      </p:sp>
      <p:sp>
        <p:nvSpPr>
          <p:cNvPr id="34" name="TextBox 33"/>
          <p:cNvSpPr txBox="1"/>
          <p:nvPr/>
        </p:nvSpPr>
        <p:spPr>
          <a:xfrm>
            <a:off x="9656064" y="2073859"/>
            <a:ext cx="1847088" cy="329184"/>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Open</a:t>
            </a:r>
          </a:p>
        </p:txBody>
      </p:sp>
      <p:sp>
        <p:nvSpPr>
          <p:cNvPr id="35" name="Rectangle 34"/>
          <p:cNvSpPr/>
          <p:nvPr/>
        </p:nvSpPr>
        <p:spPr>
          <a:xfrm>
            <a:off x="8577072" y="2377440"/>
            <a:ext cx="29260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77072" y="2418588"/>
            <a:ext cx="10058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DR PLAFON</a:t>
            </a:r>
          </a:p>
        </p:txBody>
      </p:sp>
      <p:sp>
        <p:nvSpPr>
          <p:cNvPr id="37" name="TextBox 36"/>
          <p:cNvSpPr txBox="1"/>
          <p:nvPr/>
        </p:nvSpPr>
        <p:spPr>
          <a:xfrm>
            <a:off x="9656064" y="2403043"/>
            <a:ext cx="1847088" cy="329184"/>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~80% dari $150,000</a:t>
            </a:r>
          </a:p>
        </p:txBody>
      </p:sp>
      <p:sp>
        <p:nvSpPr>
          <p:cNvPr id="38" name="Rectangle 37"/>
          <p:cNvSpPr/>
          <p:nvPr/>
        </p:nvSpPr>
        <p:spPr>
          <a:xfrm>
            <a:off x="8577072" y="2706624"/>
            <a:ext cx="29260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77072" y="2747772"/>
            <a:ext cx="10058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PEMBAGIAN</a:t>
            </a:r>
          </a:p>
        </p:txBody>
      </p:sp>
      <p:sp>
        <p:nvSpPr>
          <p:cNvPr id="40" name="TextBox 39"/>
          <p:cNvSpPr txBox="1"/>
          <p:nvPr/>
        </p:nvSpPr>
        <p:spPr>
          <a:xfrm>
            <a:off x="9656064" y="2732227"/>
            <a:ext cx="1847088" cy="329184"/>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10 / 20 / 30 / 40</a:t>
            </a:r>
          </a:p>
        </p:txBody>
      </p:sp>
      <p:sp>
        <p:nvSpPr>
          <p:cNvPr id="41" name="Rectangle 40"/>
          <p:cNvSpPr/>
          <p:nvPr/>
        </p:nvSpPr>
        <p:spPr>
          <a:xfrm>
            <a:off x="8577072" y="3035808"/>
            <a:ext cx="29260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77072" y="3076956"/>
            <a:ext cx="10058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BERAKHIR</a:t>
            </a:r>
          </a:p>
        </p:txBody>
      </p:sp>
      <p:sp>
        <p:nvSpPr>
          <p:cNvPr id="43" name="TextBox 42"/>
          <p:cNvSpPr txBox="1"/>
          <p:nvPr/>
        </p:nvSpPr>
        <p:spPr>
          <a:xfrm>
            <a:off x="9656064" y="3061411"/>
            <a:ext cx="1847088" cy="329184"/>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peluncuran mainnet</a:t>
            </a:r>
          </a:p>
        </p:txBody>
      </p:sp>
      <p:sp>
        <p:nvSpPr>
          <p:cNvPr id="44" name="Rectangle 43"/>
          <p:cNvSpPr/>
          <p:nvPr/>
        </p:nvSpPr>
        <p:spPr>
          <a:xfrm>
            <a:off x="8577072" y="3364991"/>
            <a:ext cx="2926080"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39327" y="4361688"/>
            <a:ext cx="3401568" cy="171907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ectangle 45"/>
          <p:cNvSpPr/>
          <p:nvPr/>
        </p:nvSpPr>
        <p:spPr>
          <a:xfrm>
            <a:off x="8339327" y="4361688"/>
            <a:ext cx="340156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STATUS APA ADANYA</a:t>
            </a:r>
          </a:p>
        </p:txBody>
      </p:sp>
      <p:sp>
        <p:nvSpPr>
          <p:cNvPr id="47" name="Rectangle 46"/>
          <p:cNvSpPr/>
          <p:nvPr/>
        </p:nvSpPr>
        <p:spPr>
          <a:xfrm rot="21420000">
            <a:off x="8595360" y="4956048"/>
            <a:ext cx="2889504" cy="841248"/>
          </a:xfrm>
          <a:prstGeom prst="rect">
            <a:avLst/>
          </a:prstGeom>
          <a:noFill/>
          <a:ln w="25400">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0" i="0" spc="100">
                <a:solidFill>
                  <a:srgbClr val="161311"/>
                </a:solidFill>
                <a:latin typeface="Saira Stencil One"/>
                <a:ea typeface="Saira Stencil One"/>
                <a:cs typeface="Saira Stencil One"/>
              </a:rPr>
              <a:t>TESTNET SAJA</a:t>
            </a:r>
          </a:p>
          <a:p>
            <a:pPr algn="ctr">
              <a:lnSpc>
                <a:spcPct val="100000"/>
              </a:lnSpc>
              <a:spcBef>
                <a:spcPts val="200"/>
              </a:spcBef>
            </a:pPr>
            <a:r>
              <a:rPr sz="800" b="1" i="0" spc="70">
                <a:solidFill>
                  <a:srgbClr val="161311"/>
                </a:solidFill>
                <a:latin typeface="Courier Prime"/>
                <a:ea typeface="Courier Prime"/>
                <a:cs typeface="Courier Prime"/>
              </a:rPr>
              <a:t>BELUM DIAUDIT · TANPA PENGGUNA</a:t>
            </a:r>
          </a:p>
        </p:txBody>
      </p:sp>
      <p:pic>
        <p:nvPicPr>
          <p:cNvPr id="48" name="Picture 47" descr="tape.png"/>
          <p:cNvPicPr>
            <a:picLocks noChangeAspect="1"/>
          </p:cNvPicPr>
          <p:nvPr/>
        </p:nvPicPr>
        <p:blipFill>
          <a:blip r:embed="rId3"/>
          <a:stretch>
            <a:fillRect/>
          </a:stretch>
        </p:blipFill>
        <p:spPr>
          <a:xfrm rot="21060000">
            <a:off x="9802368" y="109728"/>
            <a:ext cx="2084831" cy="365760"/>
          </a:xfrm>
          <a:prstGeom prst="rect">
            <a:avLst/>
          </a:prstGeom>
        </p:spPr>
      </p:pic>
      <p:sp>
        <p:nvSpPr>
          <p:cNvPr id="49" name="Rounded Rectangle 48"/>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01/19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JUDUL</a:t>
            </a:r>
          </a:p>
        </p:txBody>
      </p:sp>
      <p:pic>
        <p:nvPicPr>
          <p:cNvPr id="50" name="Picture 49" descr="seal.png"/>
          <p:cNvPicPr>
            <a:picLocks noChangeAspect="1"/>
          </p:cNvPicPr>
          <p:nvPr/>
        </p:nvPicPr>
        <p:blipFill>
          <a:blip r:embed="rId4"/>
          <a:stretch>
            <a:fillRect/>
          </a:stretch>
        </p:blipFill>
        <p:spPr>
          <a:xfrm>
            <a:off x="11356848" y="6199632"/>
            <a:ext cx="548640" cy="274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571500"/>
          </a:xfrm>
          <a:prstGeom prst="rect">
            <a:avLst/>
          </a:prstGeom>
          <a:noFill/>
        </p:spPr>
        <p:txBody>
          <a:bodyPr wrap="square" lIns="0" rIns="0" tIns="0" bIns="0" anchor="t">
            <a:spAutoFit/>
          </a:bodyPr>
          <a:lstStyle/>
          <a:p>
            <a:pPr algn="l">
              <a:lnSpc>
                <a:spcPct val="104000"/>
              </a:lnSpc>
            </a:pPr>
            <a:r>
              <a:rPr sz="3600" b="0" i="0" spc="43">
                <a:solidFill>
                  <a:srgbClr val="161311"/>
                </a:solidFill>
                <a:latin typeface="Saira Stencil One"/>
                <a:ea typeface="Saira Stencil One"/>
                <a:cs typeface="Saira Stencil One"/>
              </a:rPr>
              <a:t>LIHAT LANGSUNG</a:t>
            </a:r>
          </a:p>
        </p:txBody>
      </p:sp>
      <p:sp>
        <p:nvSpPr>
          <p:cNvPr id="4" name="Rectangle 3"/>
          <p:cNvSpPr/>
          <p:nvPr/>
        </p:nvSpPr>
        <p:spPr>
          <a:xfrm>
            <a:off x="1676369" y="1143000"/>
            <a:ext cx="8839230" cy="4972050"/>
          </a:xfrm>
          <a:prstGeom prst="rect">
            <a:avLst/>
          </a:prstGeom>
          <a:solidFill>
            <a:srgbClr val="F6F1E7"/>
          </a:solidFill>
          <a:ln w="19050">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1676369" y="1143000"/>
            <a:ext cx="883923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0" tIns="0" bIns="0"/>
          <a:lstStyle/>
          <a:p>
            <a:pPr algn="l">
              <a:lnSpc>
                <a:spcPct val="100000"/>
              </a:lnSpc>
            </a:pPr>
            <a:r>
              <a:rPr sz="900" b="1" i="0" spc="72">
                <a:solidFill>
                  <a:srgbClr val="F6F1E7"/>
                </a:solidFill>
                <a:latin typeface="Courier Prime"/>
                <a:ea typeface="Courier Prime"/>
                <a:cs typeface="Courier Prime"/>
              </a:rPr>
              <a:t>DEMO LANGSUNG · ALUR ON-CHAIN SUNGGUHAN DI EMPAT APLIKASI</a:t>
            </a:r>
          </a:p>
        </p:txBody>
      </p:sp>
      <p:sp>
        <p:nvSpPr>
          <p:cNvPr id="7" name="Rectangle 6"/>
          <p:cNvSpPr/>
          <p:nvPr/>
        </p:nvSpPr>
        <p:spPr>
          <a:xfrm>
            <a:off x="2087849" y="1709928"/>
            <a:ext cx="8016270" cy="1"/>
          </a:xfrm>
          <a:prstGeom prst="rect">
            <a:avLst/>
          </a:prstGeom>
          <a:noFill/>
          <a:ln w="9525">
            <a:solidFill>
              <a:srgbClr val="161311">
                <a:alpha val="22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87849" y="5703570"/>
            <a:ext cx="8016270" cy="1"/>
          </a:xfrm>
          <a:prstGeom prst="rect">
            <a:avLst/>
          </a:prstGeom>
          <a:noFill/>
          <a:ln w="9525">
            <a:solidFill>
              <a:srgbClr val="161311">
                <a:alpha val="22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02/19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DEMO</a:t>
            </a:r>
          </a:p>
        </p:txBody>
      </p:sp>
      <p:pic>
        <p:nvPicPr>
          <p:cNvPr id="10" name="Picture 9" descr="seal.png"/>
          <p:cNvPicPr>
            <a:picLocks noChangeAspect="1"/>
          </p:cNvPicPr>
          <p:nvPr/>
        </p:nvPicPr>
        <p:blipFill>
          <a:blip r:embed="rId3"/>
          <a:stretch>
            <a:fillRect/>
          </a:stretch>
        </p:blipFill>
        <p:spPr>
          <a:xfrm>
            <a:off x="11356848" y="6199632"/>
            <a:ext cx="548640" cy="274320"/>
          </a:xfrm>
          <a:prstGeom prst="rect">
            <a:avLst/>
          </a:prstGeom>
        </p:spPr>
      </p:pic>
      <p:pic>
        <p:nvPicPr>
          <p:cNvPr id="11" name="demo-live.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1676369" y="1143000"/>
            <a:ext cx="8839230" cy="49720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457200" y="457200"/>
            <a:ext cx="6903720" cy="562356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ectangle 3"/>
          <p:cNvSpPr/>
          <p:nvPr/>
        </p:nvSpPr>
        <p:spPr>
          <a:xfrm>
            <a:off x="457200" y="457200"/>
            <a:ext cx="690372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LEDGER-NYA TERBUKA</a:t>
            </a:r>
          </a:p>
        </p:txBody>
      </p:sp>
      <p:sp>
        <p:nvSpPr>
          <p:cNvPr id="5" name="TextBox 4"/>
          <p:cNvSpPr txBox="1"/>
          <p:nvPr/>
        </p:nvSpPr>
        <p:spPr>
          <a:xfrm>
            <a:off x="777240" y="914400"/>
            <a:ext cx="6309360" cy="1371600"/>
          </a:xfrm>
          <a:prstGeom prst="rect">
            <a:avLst/>
          </a:prstGeom>
          <a:noFill/>
        </p:spPr>
        <p:txBody>
          <a:bodyPr wrap="square" lIns="0" rIns="0" tIns="0" bIns="0" anchor="t">
            <a:spAutoFit/>
          </a:bodyPr>
          <a:lstStyle/>
          <a:p>
            <a:pPr algn="l">
              <a:lnSpc>
                <a:spcPct val="110000"/>
              </a:lnSpc>
            </a:pPr>
            <a:r>
              <a:rPr sz="3100" b="0" i="0" spc="40">
                <a:solidFill>
                  <a:srgbClr val="161311"/>
                </a:solidFill>
                <a:latin typeface="Saira Stencil One"/>
                <a:ea typeface="Saira Stencil One"/>
                <a:cs typeface="Saira Stencil One"/>
              </a:rPr>
              <a:t>SEMUA PEMBAYARAN
TERLIHAT</a:t>
            </a:r>
          </a:p>
        </p:txBody>
      </p:sp>
      <p:sp>
        <p:nvSpPr>
          <p:cNvPr id="6" name="TextBox 5"/>
          <p:cNvSpPr txBox="1"/>
          <p:nvPr/>
        </p:nvSpPr>
        <p:spPr>
          <a:xfrm>
            <a:off x="777240" y="2670048"/>
            <a:ext cx="6309360" cy="1207008"/>
          </a:xfrm>
          <a:prstGeom prst="rect">
            <a:avLst/>
          </a:prstGeom>
          <a:noFill/>
        </p:spPr>
        <p:txBody>
          <a:bodyPr wrap="square" lIns="0" rIns="0" tIns="0" bIns="0" anchor="t">
            <a:spAutoFit/>
          </a:bodyPr>
          <a:lstStyle/>
          <a:p>
            <a:pPr algn="l">
              <a:lnSpc>
                <a:spcPct val="145000"/>
              </a:lnSpc>
            </a:pPr>
            <a:r>
              <a:rPr sz="1300" b="0" i="0">
                <a:solidFill>
                  <a:srgbClr val="3D3731"/>
                </a:solidFill>
                <a:latin typeface="Barlow"/>
                <a:ea typeface="Barlow"/>
                <a:cs typeface="Barlow"/>
              </a:rPr>
              <a:t>Stellar memindahkan uang sungguhan, tapi ledger-nya publik. Tiap pembayaran memperlihatkan nominal dan kedua pihaknya, permanen. Rel stablecoin publik memang murah dan membocorkan riwayat keuangan semua orang. Mixer menyembunyikan riwayat itu lalu tidak bisa menjawab regulator. Koridor berlisensi butuh keduanya sekaligus.</a:t>
            </a:r>
          </a:p>
        </p:txBody>
      </p:sp>
      <p:sp>
        <p:nvSpPr>
          <p:cNvPr id="7" name="Rectangle 6"/>
          <p:cNvSpPr/>
          <p:nvPr/>
        </p:nvSpPr>
        <p:spPr>
          <a:xfrm>
            <a:off x="777240" y="3913632"/>
            <a:ext cx="6309360"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41648"/>
            <a:ext cx="3017520" cy="603504"/>
          </a:xfrm>
          <a:prstGeom prst="rect">
            <a:avLst/>
          </a:prstGeom>
          <a:noFill/>
        </p:spPr>
        <p:txBody>
          <a:bodyPr wrap="square" lIns="0" rIns="0" tIns="0" bIns="0" anchor="t">
            <a:spAutoFit/>
          </a:bodyPr>
          <a:lstStyle/>
          <a:p>
            <a:pPr algn="l">
              <a:lnSpc>
                <a:spcPct val="100000"/>
              </a:lnSpc>
            </a:pPr>
            <a:r>
              <a:rPr sz="3600" b="0" i="0">
                <a:solidFill>
                  <a:srgbClr val="161311"/>
                </a:solidFill>
                <a:latin typeface="Saira Stencil One"/>
                <a:ea typeface="Saira Stencil One"/>
                <a:cs typeface="Saira Stencil One"/>
              </a:rPr>
              <a:t>$669B</a:t>
            </a:r>
          </a:p>
        </p:txBody>
      </p:sp>
      <p:sp>
        <p:nvSpPr>
          <p:cNvPr id="9" name="TextBox 8"/>
          <p:cNvSpPr txBox="1"/>
          <p:nvPr/>
        </p:nvSpPr>
        <p:spPr>
          <a:xfrm>
            <a:off x="777240" y="4663440"/>
            <a:ext cx="2743200" cy="548640"/>
          </a:xfrm>
          <a:prstGeom prst="rect">
            <a:avLst/>
          </a:prstGeom>
          <a:noFill/>
        </p:spPr>
        <p:txBody>
          <a:bodyPr wrap="square" lIns="0" rIns="0" tIns="0" bIns="0" anchor="t">
            <a:spAutoFit/>
          </a:bodyPr>
          <a:lstStyle/>
          <a:p>
            <a:pPr algn="l">
              <a:lnSpc>
                <a:spcPct val="130000"/>
              </a:lnSpc>
            </a:pPr>
            <a:r>
              <a:rPr sz="1100" b="0" i="0">
                <a:solidFill>
                  <a:srgbClr val="3D3731"/>
                </a:solidFill>
                <a:latin typeface="Barlow"/>
                <a:ea typeface="Barlow"/>
                <a:cs typeface="Barlow"/>
              </a:rPr>
              <a:t>remitansi ke negara berpendapatan rendah dan menengah, 2023</a:t>
            </a:r>
          </a:p>
        </p:txBody>
      </p:sp>
      <p:sp>
        <p:nvSpPr>
          <p:cNvPr id="10" name="TextBox 9"/>
          <p:cNvSpPr txBox="1"/>
          <p:nvPr/>
        </p:nvSpPr>
        <p:spPr>
          <a:xfrm>
            <a:off x="4069080" y="4041648"/>
            <a:ext cx="3017520" cy="603504"/>
          </a:xfrm>
          <a:prstGeom prst="rect">
            <a:avLst/>
          </a:prstGeom>
          <a:noFill/>
        </p:spPr>
        <p:txBody>
          <a:bodyPr wrap="square" lIns="0" rIns="0" tIns="0" bIns="0" anchor="t">
            <a:spAutoFit/>
          </a:bodyPr>
          <a:lstStyle/>
          <a:p>
            <a:pPr algn="l">
              <a:lnSpc>
                <a:spcPct val="100000"/>
              </a:lnSpc>
            </a:pPr>
            <a:r>
              <a:rPr sz="3600" b="0" i="0">
                <a:solidFill>
                  <a:srgbClr val="161311"/>
                </a:solidFill>
                <a:latin typeface="Saira Stencil One"/>
                <a:ea typeface="Saira Stencil One"/>
                <a:cs typeface="Saira Stencil One"/>
              </a:rPr>
              <a:t>6.2%</a:t>
            </a:r>
          </a:p>
        </p:txBody>
      </p:sp>
      <p:sp>
        <p:nvSpPr>
          <p:cNvPr id="11" name="TextBox 10"/>
          <p:cNvSpPr txBox="1"/>
          <p:nvPr/>
        </p:nvSpPr>
        <p:spPr>
          <a:xfrm>
            <a:off x="4069080" y="4663440"/>
            <a:ext cx="2926080" cy="548640"/>
          </a:xfrm>
          <a:prstGeom prst="rect">
            <a:avLst/>
          </a:prstGeom>
          <a:noFill/>
        </p:spPr>
        <p:txBody>
          <a:bodyPr wrap="square" lIns="0" rIns="0" tIns="0" bIns="0" anchor="t">
            <a:spAutoFit/>
          </a:bodyPr>
          <a:lstStyle/>
          <a:p>
            <a:pPr algn="l">
              <a:lnSpc>
                <a:spcPct val="130000"/>
              </a:lnSpc>
            </a:pPr>
            <a:r>
              <a:rPr sz="1100" b="0" i="0">
                <a:solidFill>
                  <a:srgbClr val="3D3731"/>
                </a:solidFill>
                <a:latin typeface="Barlow"/>
                <a:ea typeface="Barlow"/>
                <a:cs typeface="Barlow"/>
              </a:rPr>
              <a:t>biaya rata-rata mengirim $200, dua kali lipat target 3% dari PBB</a:t>
            </a:r>
          </a:p>
        </p:txBody>
      </p:sp>
      <p:sp>
        <p:nvSpPr>
          <p:cNvPr id="12" name="Rectangle 11"/>
          <p:cNvSpPr/>
          <p:nvPr/>
        </p:nvSpPr>
        <p:spPr>
          <a:xfrm>
            <a:off x="777240" y="5303520"/>
            <a:ext cx="6309360"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394960"/>
            <a:ext cx="6309360" cy="640080"/>
          </a:xfrm>
          <a:prstGeom prst="rect">
            <a:avLst/>
          </a:prstGeom>
          <a:noFill/>
        </p:spPr>
        <p:txBody>
          <a:bodyPr wrap="square" lIns="0" rIns="0" tIns="0" bIns="0" anchor="t">
            <a:spAutoFit/>
          </a:bodyPr>
          <a:lstStyle/>
          <a:p>
            <a:pPr algn="l">
              <a:lnSpc>
                <a:spcPct val="145000"/>
              </a:lnSpc>
            </a:pPr>
            <a:r>
              <a:rPr sz="860" b="0" i="0">
                <a:solidFill>
                  <a:srgbClr val="5A5148"/>
                </a:solidFill>
                <a:latin typeface="Courier Prime"/>
                <a:ea typeface="Courier Prime"/>
                <a:cs typeface="Courier Prime"/>
              </a:rPr>
              <a:t>SUMBER  World Bank, Migration and Development Brief 39 (Des 2023); World Bank Remittance Prices Worldwide. Selain dua angka itu, semua soal ukuran pasar di deck ini adalah peluang, bukan traksi, dan ditulis begitu.</a:t>
            </a:r>
          </a:p>
        </p:txBody>
      </p:sp>
      <p:sp>
        <p:nvSpPr>
          <p:cNvPr id="14" name="Rectangle 13"/>
          <p:cNvSpPr/>
          <p:nvPr/>
        </p:nvSpPr>
        <p:spPr>
          <a:xfrm>
            <a:off x="7607808" y="457200"/>
            <a:ext cx="4133087" cy="2871215"/>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sender-desktop.png"/>
          <p:cNvPicPr>
            <a:picLocks noChangeAspect="1"/>
          </p:cNvPicPr>
          <p:nvPr/>
        </p:nvPicPr>
        <p:blipFill>
          <a:blip r:embed="rId3"/>
          <a:stretch>
            <a:fillRect/>
          </a:stretch>
        </p:blipFill>
        <p:spPr>
          <a:xfrm>
            <a:off x="7658100" y="507492"/>
            <a:ext cx="4032503" cy="2551176"/>
          </a:xfrm>
          <a:prstGeom prst="rect">
            <a:avLst/>
          </a:prstGeom>
        </p:spPr>
      </p:pic>
      <p:sp>
        <p:nvSpPr>
          <p:cNvPr id="16" name="TextBox 15"/>
          <p:cNvSpPr txBox="1"/>
          <p:nvPr/>
        </p:nvSpPr>
        <p:spPr>
          <a:xfrm>
            <a:off x="7658100" y="3099816"/>
            <a:ext cx="4032503"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02-SENDER-DESKTOP.PNG · PEMILIH KORIDOR DAN BARIS BIAYA</a:t>
            </a:r>
          </a:p>
        </p:txBody>
      </p:sp>
      <p:sp>
        <p:nvSpPr>
          <p:cNvPr id="17" name="Rectangle 16"/>
          <p:cNvSpPr/>
          <p:nvPr/>
        </p:nvSpPr>
        <p:spPr>
          <a:xfrm>
            <a:off x="7607808" y="3511296"/>
            <a:ext cx="4133087" cy="25694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7607808" y="3511296"/>
            <a:ext cx="4133087"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YANG DILIHAT PENGIRIM</a:t>
            </a:r>
          </a:p>
        </p:txBody>
      </p:sp>
      <p:sp>
        <p:nvSpPr>
          <p:cNvPr id="19" name="TextBox 18"/>
          <p:cNvSpPr txBox="1"/>
          <p:nvPr/>
        </p:nvSpPr>
        <p:spPr>
          <a:xfrm>
            <a:off x="7845552" y="3973068"/>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DI LUAR</a:t>
            </a:r>
          </a:p>
        </p:txBody>
      </p:sp>
      <p:sp>
        <p:nvSpPr>
          <p:cNvPr id="20" name="TextBox 19"/>
          <p:cNvSpPr txBox="1"/>
          <p:nvPr/>
        </p:nvSpPr>
        <p:spPr>
          <a:xfrm>
            <a:off x="8988552" y="3957523"/>
            <a:ext cx="2514600" cy="640080"/>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6,2% dari $200 itu $12,40, rata-rata global World Bank</a:t>
            </a:r>
          </a:p>
        </p:txBody>
      </p:sp>
      <p:sp>
        <p:nvSpPr>
          <p:cNvPr id="21" name="Rectangle 20"/>
          <p:cNvSpPr/>
          <p:nvPr/>
        </p:nvSpPr>
        <p:spPr>
          <a:xfrm>
            <a:off x="7845552" y="4572000"/>
            <a:ext cx="365760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5552" y="4613148"/>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TUKAR</a:t>
            </a:r>
          </a:p>
        </p:txBody>
      </p:sp>
      <p:sp>
        <p:nvSpPr>
          <p:cNvPr id="23" name="TextBox 22"/>
          <p:cNvSpPr txBox="1"/>
          <p:nvPr/>
        </p:nvSpPr>
        <p:spPr>
          <a:xfrm>
            <a:off x="8988552" y="4597603"/>
            <a:ext cx="2514600" cy="640080"/>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beberapa base fee Stellar, plus kurs live</a:t>
            </a:r>
          </a:p>
        </p:txBody>
      </p:sp>
      <p:sp>
        <p:nvSpPr>
          <p:cNvPr id="24" name="Rectangle 23"/>
          <p:cNvSpPr/>
          <p:nvPr/>
        </p:nvSpPr>
        <p:spPr>
          <a:xfrm>
            <a:off x="7845552" y="5212080"/>
            <a:ext cx="365760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45552" y="5253228"/>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JUJUR</a:t>
            </a:r>
          </a:p>
        </p:txBody>
      </p:sp>
      <p:sp>
        <p:nvSpPr>
          <p:cNvPr id="26" name="TextBox 25"/>
          <p:cNvSpPr txBox="1"/>
          <p:nvPr/>
        </p:nvSpPr>
        <p:spPr>
          <a:xfrm>
            <a:off x="8988552" y="5237683"/>
            <a:ext cx="2514600" cy="640080"/>
          </a:xfrm>
          <a:prstGeom prst="rect">
            <a:avLst/>
          </a:prstGeom>
          <a:noFill/>
        </p:spPr>
        <p:txBody>
          <a:bodyPr wrap="square" lIns="0" rIns="0" tIns="0" bIns="0" anchor="t">
            <a:spAutoFit/>
          </a:bodyPr>
          <a:lstStyle/>
          <a:p>
            <a:pPr algn="l">
              <a:lnSpc>
                <a:spcPct val="115000"/>
              </a:lnSpc>
            </a:pPr>
            <a:r>
              <a:rPr sz="1050" b="0" i="0">
                <a:solidFill>
                  <a:srgbClr val="161311"/>
                </a:solidFill>
                <a:latin typeface="Barlow"/>
                <a:ea typeface="Barlow"/>
                <a:cs typeface="Barlow"/>
              </a:rPr>
              <a:t>aplikasinya menyebut sumbernya di baris yang sama</a:t>
            </a:r>
          </a:p>
        </p:txBody>
      </p:sp>
      <p:sp>
        <p:nvSpPr>
          <p:cNvPr id="27" name="Rectangle 26"/>
          <p:cNvSpPr/>
          <p:nvPr/>
        </p:nvSpPr>
        <p:spPr>
          <a:xfrm>
            <a:off x="7845552" y="5852160"/>
            <a:ext cx="3657600"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03/19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MASALAH</a:t>
            </a:r>
          </a:p>
        </p:txBody>
      </p:sp>
      <p:pic>
        <p:nvPicPr>
          <p:cNvPr id="29" name="Picture 28" descr="seal.png"/>
          <p:cNvPicPr>
            <a:picLocks noChangeAspect="1"/>
          </p:cNvPicPr>
          <p:nvPr/>
        </p:nvPicPr>
        <p:blipFill>
          <a:blip r:embed="rId4"/>
          <a:stretch>
            <a:fillRect/>
          </a:stretch>
        </p:blipFill>
        <p:spPr>
          <a:xfrm>
            <a:off x="11356848" y="6199632"/>
            <a:ext cx="548640" cy="274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92125"/>
          </a:xfrm>
          <a:prstGeom prst="rect">
            <a:avLst/>
          </a:prstGeom>
          <a:noFill/>
        </p:spPr>
        <p:txBody>
          <a:bodyPr wrap="square" lIns="0" rIns="0" tIns="0" bIns="0" anchor="t">
            <a:spAutoFit/>
          </a:bodyPr>
          <a:lstStyle/>
          <a:p>
            <a:pPr algn="l">
              <a:lnSpc>
                <a:spcPct val="104000"/>
              </a:lnSpc>
            </a:pPr>
            <a:r>
              <a:rPr sz="3100" b="0" i="0" spc="37">
                <a:solidFill>
                  <a:srgbClr val="161311"/>
                </a:solidFill>
                <a:latin typeface="Saira Stencil One"/>
                <a:ea typeface="Saira Stencil One"/>
                <a:cs typeface="Saira Stencil One"/>
              </a:rPr>
              <a:t>MASUK PUBLIK. LINTAS PRIVAT. KELUAR PUBLIK.</a:t>
            </a:r>
          </a:p>
        </p:txBody>
      </p:sp>
      <p:sp>
        <p:nvSpPr>
          <p:cNvPr id="4" name="Rectangle 3"/>
          <p:cNvSpPr/>
          <p:nvPr/>
        </p:nvSpPr>
        <p:spPr>
          <a:xfrm>
            <a:off x="457200" y="1115568"/>
            <a:ext cx="3602736" cy="162763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658368" y="1261872"/>
            <a:ext cx="548640" cy="182880"/>
          </a:xfrm>
          <a:prstGeom prst="rect">
            <a:avLst/>
          </a:prstGeom>
          <a:noFill/>
        </p:spPr>
        <p:txBody>
          <a:bodyPr wrap="square" lIns="0" rIns="0" tIns="0" bIns="0" anchor="t">
            <a:spAutoFit/>
          </a:bodyPr>
          <a:lstStyle/>
          <a:p>
            <a:pPr algn="l">
              <a:lnSpc>
                <a:spcPct val="128000"/>
              </a:lnSpc>
            </a:pPr>
            <a:r>
              <a:rPr sz="900" b="1" i="0" spc="80">
                <a:solidFill>
                  <a:srgbClr val="5A5148"/>
                </a:solidFill>
                <a:latin typeface="Courier Prime"/>
                <a:ea typeface="Courier Prime"/>
                <a:cs typeface="Courier Prime"/>
              </a:rPr>
              <a:t>01</a:t>
            </a:r>
          </a:p>
        </p:txBody>
      </p:sp>
      <p:sp>
        <p:nvSpPr>
          <p:cNvPr id="6" name="TextBox 5"/>
          <p:cNvSpPr txBox="1"/>
          <p:nvPr/>
        </p:nvSpPr>
        <p:spPr>
          <a:xfrm>
            <a:off x="658368" y="1481328"/>
            <a:ext cx="3200400" cy="274320"/>
          </a:xfrm>
          <a:prstGeom prst="rect">
            <a:avLst/>
          </a:prstGeom>
          <a:noFill/>
        </p:spPr>
        <p:txBody>
          <a:bodyPr wrap="square" lIns="0" rIns="0" tIns="0" bIns="0" anchor="t">
            <a:spAutoFit/>
          </a:bodyPr>
          <a:lstStyle/>
          <a:p>
            <a:pPr algn="l">
              <a:lnSpc>
                <a:spcPct val="100000"/>
              </a:lnSpc>
            </a:pPr>
            <a:r>
              <a:rPr sz="1500" b="0" i="0" spc="30">
                <a:solidFill>
                  <a:srgbClr val="161311"/>
                </a:solidFill>
                <a:latin typeface="Saira Stencil One"/>
                <a:ea typeface="Saira Stencil One"/>
                <a:cs typeface="Saira Stencil One"/>
              </a:rPr>
              <a:t>DEPOSIT PUBLIK</a:t>
            </a:r>
          </a:p>
        </p:txBody>
      </p:sp>
      <p:sp>
        <p:nvSpPr>
          <p:cNvPr id="7" name="TextBox 6"/>
          <p:cNvSpPr txBox="1"/>
          <p:nvPr/>
        </p:nvSpPr>
        <p:spPr>
          <a:xfrm>
            <a:off x="658368" y="1819656"/>
            <a:ext cx="3200400" cy="82296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USDC masuk dengan proof in-circuit bahwa pengirim ada di allow-list dan tidak kena sanksi. Kontraknya sendiri yang mengautentikasi depositor.</a:t>
            </a:r>
          </a:p>
        </p:txBody>
      </p:sp>
      <p:sp>
        <p:nvSpPr>
          <p:cNvPr id="8" name="TextBox 7"/>
          <p:cNvSpPr txBox="1"/>
          <p:nvPr/>
        </p:nvSpPr>
        <p:spPr>
          <a:xfrm>
            <a:off x="4078224" y="1773936"/>
            <a:ext cx="237744" cy="274320"/>
          </a:xfrm>
          <a:prstGeom prst="rect">
            <a:avLst/>
          </a:prstGeom>
          <a:noFill/>
        </p:spPr>
        <p:txBody>
          <a:bodyPr wrap="square" lIns="0" rIns="0" tIns="0" bIns="0" anchor="t">
            <a:spAutoFit/>
          </a:bodyPr>
          <a:lstStyle/>
          <a:p>
            <a:pPr algn="ctr">
              <a:lnSpc>
                <a:spcPct val="100000"/>
              </a:lnSpc>
            </a:pPr>
            <a:r>
              <a:rPr sz="1500" b="0" i="0">
                <a:solidFill>
                  <a:srgbClr val="161311"/>
                </a:solidFill>
                <a:latin typeface="Barlow"/>
                <a:ea typeface="Barlow"/>
                <a:cs typeface="Barlow"/>
              </a:rPr>
              <a:t>→</a:t>
            </a:r>
          </a:p>
        </p:txBody>
      </p:sp>
      <p:sp>
        <p:nvSpPr>
          <p:cNvPr id="9" name="Rectangle 8"/>
          <p:cNvSpPr/>
          <p:nvPr/>
        </p:nvSpPr>
        <p:spPr>
          <a:xfrm>
            <a:off x="4334256" y="1115568"/>
            <a:ext cx="3602736" cy="162763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4535424" y="1261872"/>
            <a:ext cx="548640" cy="182880"/>
          </a:xfrm>
          <a:prstGeom prst="rect">
            <a:avLst/>
          </a:prstGeom>
          <a:noFill/>
        </p:spPr>
        <p:txBody>
          <a:bodyPr wrap="square" lIns="0" rIns="0" tIns="0" bIns="0" anchor="t">
            <a:spAutoFit/>
          </a:bodyPr>
          <a:lstStyle/>
          <a:p>
            <a:pPr algn="l">
              <a:lnSpc>
                <a:spcPct val="128000"/>
              </a:lnSpc>
            </a:pPr>
            <a:r>
              <a:rPr sz="900" b="1" i="0" spc="80">
                <a:solidFill>
                  <a:srgbClr val="5A5148"/>
                </a:solidFill>
                <a:latin typeface="Courier Prime"/>
                <a:ea typeface="Courier Prime"/>
                <a:cs typeface="Courier Prime"/>
              </a:rPr>
              <a:t>02</a:t>
            </a:r>
          </a:p>
        </p:txBody>
      </p:sp>
      <p:sp>
        <p:nvSpPr>
          <p:cNvPr id="11" name="TextBox 10"/>
          <p:cNvSpPr txBox="1"/>
          <p:nvPr/>
        </p:nvSpPr>
        <p:spPr>
          <a:xfrm>
            <a:off x="4535424" y="1481328"/>
            <a:ext cx="3200400" cy="274320"/>
          </a:xfrm>
          <a:prstGeom prst="rect">
            <a:avLst/>
          </a:prstGeom>
          <a:noFill/>
        </p:spPr>
        <p:txBody>
          <a:bodyPr wrap="square" lIns="0" rIns="0" tIns="0" bIns="0" anchor="t">
            <a:spAutoFit/>
          </a:bodyPr>
          <a:lstStyle/>
          <a:p>
            <a:pPr algn="l">
              <a:lnSpc>
                <a:spcPct val="100000"/>
              </a:lnSpc>
            </a:pPr>
            <a:r>
              <a:rPr sz="1500" b="0" i="0" spc="30">
                <a:solidFill>
                  <a:srgbClr val="161311"/>
                </a:solidFill>
                <a:latin typeface="Saira Stencil One"/>
                <a:ea typeface="Saira Stencil One"/>
                <a:cs typeface="Saira Stencil One"/>
              </a:rPr>
              <a:t>LINTASAN PRIVAT</a:t>
            </a:r>
          </a:p>
        </p:txBody>
      </p:sp>
      <p:sp>
        <p:nvSpPr>
          <p:cNvPr id="12" name="TextBox 11"/>
          <p:cNvSpPr txBox="1"/>
          <p:nvPr/>
        </p:nvSpPr>
        <p:spPr>
          <a:xfrm>
            <a:off x="4535424" y="1819656"/>
            <a:ext cx="3200400" cy="82296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Di ledger hanya ada commitment. Nominal dan kedua pihak tersembunyi. Secret note tidak pernah keluar dari perangkat.</a:t>
            </a:r>
          </a:p>
        </p:txBody>
      </p:sp>
      <p:sp>
        <p:nvSpPr>
          <p:cNvPr id="13" name="TextBox 12"/>
          <p:cNvSpPr txBox="1"/>
          <p:nvPr/>
        </p:nvSpPr>
        <p:spPr>
          <a:xfrm>
            <a:off x="7955279" y="1773936"/>
            <a:ext cx="237744" cy="274320"/>
          </a:xfrm>
          <a:prstGeom prst="rect">
            <a:avLst/>
          </a:prstGeom>
          <a:noFill/>
        </p:spPr>
        <p:txBody>
          <a:bodyPr wrap="square" lIns="0" rIns="0" tIns="0" bIns="0" anchor="t">
            <a:spAutoFit/>
          </a:bodyPr>
          <a:lstStyle/>
          <a:p>
            <a:pPr algn="ctr">
              <a:lnSpc>
                <a:spcPct val="100000"/>
              </a:lnSpc>
            </a:pPr>
            <a:r>
              <a:rPr sz="1500" b="0" i="0">
                <a:solidFill>
                  <a:srgbClr val="161311"/>
                </a:solidFill>
                <a:latin typeface="Barlow"/>
                <a:ea typeface="Barlow"/>
                <a:cs typeface="Barlow"/>
              </a:rPr>
              <a:t>→</a:t>
            </a:r>
          </a:p>
        </p:txBody>
      </p:sp>
      <p:sp>
        <p:nvSpPr>
          <p:cNvPr id="14" name="Rectangle 13"/>
          <p:cNvSpPr/>
          <p:nvPr/>
        </p:nvSpPr>
        <p:spPr>
          <a:xfrm>
            <a:off x="8211312" y="1115568"/>
            <a:ext cx="3602736" cy="162763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8412480" y="1261872"/>
            <a:ext cx="548640" cy="182880"/>
          </a:xfrm>
          <a:prstGeom prst="rect">
            <a:avLst/>
          </a:prstGeom>
          <a:noFill/>
        </p:spPr>
        <p:txBody>
          <a:bodyPr wrap="square" lIns="0" rIns="0" tIns="0" bIns="0" anchor="t">
            <a:spAutoFit/>
          </a:bodyPr>
          <a:lstStyle/>
          <a:p>
            <a:pPr algn="l">
              <a:lnSpc>
                <a:spcPct val="128000"/>
              </a:lnSpc>
            </a:pPr>
            <a:r>
              <a:rPr sz="900" b="1" i="0" spc="80">
                <a:solidFill>
                  <a:srgbClr val="5A5148"/>
                </a:solidFill>
                <a:latin typeface="Courier Prime"/>
                <a:ea typeface="Courier Prime"/>
                <a:cs typeface="Courier Prime"/>
              </a:rPr>
              <a:t>03</a:t>
            </a:r>
          </a:p>
        </p:txBody>
      </p:sp>
      <p:sp>
        <p:nvSpPr>
          <p:cNvPr id="16" name="TextBox 15"/>
          <p:cNvSpPr txBox="1"/>
          <p:nvPr/>
        </p:nvSpPr>
        <p:spPr>
          <a:xfrm>
            <a:off x="8412480" y="1481328"/>
            <a:ext cx="3200400" cy="274320"/>
          </a:xfrm>
          <a:prstGeom prst="rect">
            <a:avLst/>
          </a:prstGeom>
          <a:noFill/>
        </p:spPr>
        <p:txBody>
          <a:bodyPr wrap="square" lIns="0" rIns="0" tIns="0" bIns="0" anchor="t">
            <a:spAutoFit/>
          </a:bodyPr>
          <a:lstStyle/>
          <a:p>
            <a:pPr algn="l">
              <a:lnSpc>
                <a:spcPct val="100000"/>
              </a:lnSpc>
            </a:pPr>
            <a:r>
              <a:rPr sz="1500" b="0" i="0" spc="30">
                <a:solidFill>
                  <a:srgbClr val="161311"/>
                </a:solidFill>
                <a:latin typeface="Saira Stencil One"/>
                <a:ea typeface="Saira Stencil One"/>
                <a:cs typeface="Saira Stencil One"/>
              </a:rPr>
              <a:t>OFF-RAMP PUBLIK</a:t>
            </a:r>
          </a:p>
        </p:txBody>
      </p:sp>
      <p:sp>
        <p:nvSpPr>
          <p:cNvPr id="17" name="TextBox 16"/>
          <p:cNvSpPr txBox="1"/>
          <p:nvPr/>
        </p:nvSpPr>
        <p:spPr>
          <a:xfrm>
            <a:off x="8412480" y="1819656"/>
            <a:ext cx="3200400" cy="82296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Mata uang lokal lewat anchor, dijaga pembacaan kurs Reflector on-chain yang menutup diri saat gagal.</a:t>
            </a:r>
          </a:p>
        </p:txBody>
      </p:sp>
      <p:sp>
        <p:nvSpPr>
          <p:cNvPr id="18" name="Rectangle 17"/>
          <p:cNvSpPr/>
          <p:nvPr/>
        </p:nvSpPr>
        <p:spPr>
          <a:xfrm>
            <a:off x="457200" y="2907792"/>
            <a:ext cx="8503920" cy="3127248"/>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9" name="Picture 18" descr="architecture.png"/>
          <p:cNvPicPr>
            <a:picLocks noChangeAspect="1"/>
          </p:cNvPicPr>
          <p:nvPr/>
        </p:nvPicPr>
        <p:blipFill>
          <a:blip r:embed="rId3"/>
          <a:stretch>
            <a:fillRect/>
          </a:stretch>
        </p:blipFill>
        <p:spPr>
          <a:xfrm>
            <a:off x="507492" y="2958084"/>
            <a:ext cx="8403336" cy="2807208"/>
          </a:xfrm>
          <a:prstGeom prst="rect">
            <a:avLst/>
          </a:prstGeom>
        </p:spPr>
      </p:pic>
      <p:sp>
        <p:nvSpPr>
          <p:cNvPr id="20" name="TextBox 19"/>
          <p:cNvSpPr txBox="1"/>
          <p:nvPr/>
        </p:nvSpPr>
        <p:spPr>
          <a:xfrm>
            <a:off x="507492" y="5806440"/>
            <a:ext cx="8403336"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DOCS/ARCHITECTURE.SVG · DIAGRAM YANG MEMANG DIPAKAI, BUKAN GAMBAR ULANG</a:t>
            </a:r>
          </a:p>
        </p:txBody>
      </p:sp>
      <p:sp>
        <p:nvSpPr>
          <p:cNvPr id="21" name="Rectangle 20"/>
          <p:cNvSpPr/>
          <p:nvPr/>
        </p:nvSpPr>
        <p:spPr>
          <a:xfrm>
            <a:off x="9198864" y="2907792"/>
            <a:ext cx="2542032" cy="290779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ectangle 21"/>
          <p:cNvSpPr/>
          <p:nvPr/>
        </p:nvSpPr>
        <p:spPr>
          <a:xfrm>
            <a:off x="9198864" y="2907792"/>
            <a:ext cx="2542032"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BENTUKNYA</a:t>
            </a:r>
          </a:p>
        </p:txBody>
      </p:sp>
      <p:sp>
        <p:nvSpPr>
          <p:cNvPr id="23" name="TextBox 22"/>
          <p:cNvSpPr txBox="1"/>
          <p:nvPr/>
        </p:nvSpPr>
        <p:spPr>
          <a:xfrm>
            <a:off x="9418320" y="3328416"/>
            <a:ext cx="2103120" cy="2194560"/>
          </a:xfrm>
          <a:prstGeom prst="rect">
            <a:avLst/>
          </a:prstGeom>
          <a:noFill/>
        </p:spPr>
        <p:txBody>
          <a:bodyPr wrap="square" lIns="0" rIns="0" tIns="0" bIns="0" anchor="t">
            <a:spAutoFit/>
          </a:bodyPr>
          <a:lstStyle/>
          <a:p>
            <a:pPr algn="l">
              <a:lnSpc>
                <a:spcPct val="140000"/>
              </a:lnSpc>
            </a:pPr>
            <a:r>
              <a:rPr sz="1050" b="0" i="0">
                <a:solidFill>
                  <a:srgbClr val="3D3731"/>
                </a:solidFill>
                <a:latin typeface="Barlow"/>
                <a:ea typeface="Barlow"/>
                <a:cs typeface="Barlow"/>
              </a:rPr>
              <a:t>Tukar mengikuti bentuk Privacy Pools: deposit dan withdraw terlihat, transfer di antaranya privat, plus allow-list dan selective disclosure.</a:t>
            </a:r>
          </a:p>
          <a:p>
            <a:pPr algn="l">
              <a:lnSpc>
                <a:spcPct val="140000"/>
              </a:lnSpc>
              <a:spcBef>
                <a:spcPts val="900"/>
              </a:spcBef>
            </a:pPr>
            <a:r>
              <a:rPr sz="1050" b="0" i="0">
                <a:solidFill>
                  <a:srgbClr val="3D3731"/>
                </a:solidFill>
                <a:latin typeface="Barlow"/>
                <a:ea typeface="Barlow"/>
                <a:cs typeface="Barlow"/>
              </a:rPr>
              <a:t>Satu beda yang disebut di depan: whitepaper-nya membuktikan asosiasi saat withdraw. Tukar membuktikannya saat deposit.</a:t>
            </a:r>
          </a:p>
        </p:txBody>
      </p:sp>
      <p:sp>
        <p:nvSpPr>
          <p:cNvPr id="24" name="Rounded Rectangle 23"/>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04/19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BENTUK</a:t>
            </a:r>
          </a:p>
        </p:txBody>
      </p:sp>
      <p:pic>
        <p:nvPicPr>
          <p:cNvPr id="25" name="Picture 24" descr="seal.png"/>
          <p:cNvPicPr>
            <a:picLocks noChangeAspect="1"/>
          </p:cNvPicPr>
          <p:nvPr/>
        </p:nvPicPr>
        <p:blipFill>
          <a:blip r:embed="rId4"/>
          <a:stretch>
            <a:fillRect/>
          </a:stretch>
        </p:blipFill>
        <p:spPr>
          <a:xfrm>
            <a:off x="11356848" y="6199632"/>
            <a:ext cx="548640" cy="2743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60375"/>
          </a:xfrm>
          <a:prstGeom prst="rect">
            <a:avLst/>
          </a:prstGeom>
          <a:noFill/>
        </p:spPr>
        <p:txBody>
          <a:bodyPr wrap="square" lIns="0" rIns="0" tIns="0" bIns="0" anchor="t">
            <a:spAutoFit/>
          </a:bodyPr>
          <a:lstStyle/>
          <a:p>
            <a:pPr algn="l">
              <a:lnSpc>
                <a:spcPct val="104000"/>
              </a:lnSpc>
            </a:pPr>
            <a:r>
              <a:rPr sz="2900" b="0" i="0" spc="34">
                <a:solidFill>
                  <a:srgbClr val="161311"/>
                </a:solidFill>
                <a:latin typeface="Saira Stencil One"/>
                <a:ea typeface="Saira Stencil One"/>
                <a:cs typeface="Saira Stencil One"/>
              </a:rPr>
              <a:t>PRODUKNYA, DI PERANGKAT YANG MEMANG DIPAKAI</a:t>
            </a:r>
          </a:p>
        </p:txBody>
      </p:sp>
      <p:sp>
        <p:nvSpPr>
          <p:cNvPr id="4" name="Rectangle 3"/>
          <p:cNvSpPr/>
          <p:nvPr/>
        </p:nvSpPr>
        <p:spPr>
          <a:xfrm>
            <a:off x="457200" y="1097280"/>
            <a:ext cx="2377440" cy="49743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sender-mobile.png"/>
          <p:cNvPicPr>
            <a:picLocks noChangeAspect="1"/>
          </p:cNvPicPr>
          <p:nvPr/>
        </p:nvPicPr>
        <p:blipFill>
          <a:blip r:embed="rId3"/>
          <a:stretch>
            <a:fillRect/>
          </a:stretch>
        </p:blipFill>
        <p:spPr>
          <a:xfrm>
            <a:off x="507492" y="1147572"/>
            <a:ext cx="2276856" cy="4654296"/>
          </a:xfrm>
          <a:prstGeom prst="rect">
            <a:avLst/>
          </a:prstGeom>
        </p:spPr>
      </p:pic>
      <p:sp>
        <p:nvSpPr>
          <p:cNvPr id="6" name="TextBox 5"/>
          <p:cNvSpPr txBox="1"/>
          <p:nvPr/>
        </p:nvSpPr>
        <p:spPr>
          <a:xfrm>
            <a:off x="507492" y="5843016"/>
            <a:ext cx="2276856"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PENGIRIM · 390PX</a:t>
            </a:r>
          </a:p>
        </p:txBody>
      </p:sp>
      <p:sp>
        <p:nvSpPr>
          <p:cNvPr id="7" name="Rectangle 6"/>
          <p:cNvSpPr/>
          <p:nvPr/>
        </p:nvSpPr>
        <p:spPr>
          <a:xfrm>
            <a:off x="3035808" y="1097280"/>
            <a:ext cx="2377440" cy="49743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8" name="Picture 7" descr="receiver-mobile.png"/>
          <p:cNvPicPr>
            <a:picLocks noChangeAspect="1"/>
          </p:cNvPicPr>
          <p:nvPr/>
        </p:nvPicPr>
        <p:blipFill>
          <a:blip r:embed="rId4"/>
          <a:stretch>
            <a:fillRect/>
          </a:stretch>
        </p:blipFill>
        <p:spPr>
          <a:xfrm>
            <a:off x="3086100" y="1147572"/>
            <a:ext cx="2276856" cy="4654296"/>
          </a:xfrm>
          <a:prstGeom prst="rect">
            <a:avLst/>
          </a:prstGeom>
        </p:spPr>
      </p:pic>
      <p:sp>
        <p:nvSpPr>
          <p:cNvPr id="9" name="TextBox 8"/>
          <p:cNvSpPr txBox="1"/>
          <p:nvPr/>
        </p:nvSpPr>
        <p:spPr>
          <a:xfrm>
            <a:off x="3086100" y="5843016"/>
            <a:ext cx="2276856"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PENERIMA · 390PX</a:t>
            </a:r>
          </a:p>
        </p:txBody>
      </p:sp>
      <p:sp>
        <p:nvSpPr>
          <p:cNvPr id="10" name="Rectangle 9"/>
          <p:cNvSpPr/>
          <p:nvPr/>
        </p:nvSpPr>
        <p:spPr>
          <a:xfrm>
            <a:off x="5614416" y="1097280"/>
            <a:ext cx="2377440" cy="49743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operator-mobile.png"/>
          <p:cNvPicPr>
            <a:picLocks noChangeAspect="1"/>
          </p:cNvPicPr>
          <p:nvPr/>
        </p:nvPicPr>
        <p:blipFill>
          <a:blip r:embed="rId5"/>
          <a:stretch>
            <a:fillRect/>
          </a:stretch>
        </p:blipFill>
        <p:spPr>
          <a:xfrm>
            <a:off x="5664707" y="1147572"/>
            <a:ext cx="2276856" cy="4654296"/>
          </a:xfrm>
          <a:prstGeom prst="rect">
            <a:avLst/>
          </a:prstGeom>
        </p:spPr>
      </p:pic>
      <p:sp>
        <p:nvSpPr>
          <p:cNvPr id="12" name="TextBox 11"/>
          <p:cNvSpPr txBox="1"/>
          <p:nvPr/>
        </p:nvSpPr>
        <p:spPr>
          <a:xfrm>
            <a:off x="5664707" y="5843016"/>
            <a:ext cx="2276856"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KONSOL OPERATOR · 390PX</a:t>
            </a:r>
          </a:p>
        </p:txBody>
      </p:sp>
      <p:sp>
        <p:nvSpPr>
          <p:cNvPr id="13" name="Rectangle 12"/>
          <p:cNvSpPr/>
          <p:nvPr/>
        </p:nvSpPr>
        <p:spPr>
          <a:xfrm>
            <a:off x="8321040" y="1097280"/>
            <a:ext cx="3419856" cy="49743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8321040" y="1097280"/>
            <a:ext cx="341985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YANG HARUS DITANGGUNG PONSEL</a:t>
            </a:r>
          </a:p>
        </p:txBody>
      </p:sp>
      <p:sp>
        <p:nvSpPr>
          <p:cNvPr id="15" name="TextBox 14"/>
          <p:cNvSpPr txBox="1"/>
          <p:nvPr/>
        </p:nvSpPr>
        <p:spPr>
          <a:xfrm>
            <a:off x="8540496" y="1517904"/>
            <a:ext cx="2980944" cy="4206240"/>
          </a:xfrm>
          <a:prstGeom prst="rect">
            <a:avLst/>
          </a:prstGeom>
          <a:noFill/>
        </p:spPr>
        <p:txBody>
          <a:bodyPr wrap="square" lIns="0" rIns="0" tIns="0" bIns="0" anchor="t">
            <a:spAutoFit/>
          </a:bodyPr>
          <a:lstStyle/>
          <a:p>
            <a:pPr algn="l">
              <a:lnSpc>
                <a:spcPct val="140000"/>
              </a:lnSpc>
            </a:pPr>
            <a:r>
              <a:rPr sz="1050" b="0" i="0">
                <a:solidFill>
                  <a:srgbClr val="3D3731"/>
                </a:solidFill>
                <a:latin typeface="Barlow"/>
                <a:ea typeface="Barlow"/>
                <a:cs typeface="Barlow"/>
              </a:rPr>
              <a:t>Proving jalan di browser, di perangkat itu sendiri, sekitar 20 sampai 60 detik. Tidak boleh terputus, jadi antarmukanya dibangun mengelilingi waktu tunggu itu, bukan menyembunyikannya.</a:t>
            </a:r>
          </a:p>
          <a:p>
            <a:pPr algn="l">
              <a:lnSpc>
                <a:spcPct val="140000"/>
              </a:lnSpc>
              <a:spcBef>
                <a:spcPts val="900"/>
              </a:spcBef>
            </a:pPr>
            <a:r>
              <a:rPr sz="1050" b="0" i="0">
                <a:solidFill>
                  <a:srgbClr val="3D3731"/>
                </a:solidFill>
                <a:latin typeface="Barlow"/>
                <a:ea typeface="Barlow"/>
                <a:cs typeface="Barlow"/>
              </a:rPr>
              <a:t>Claim note itu bearer secret. Siapa pun yang memegangnya bisa membelanjakannya, dan produknya mengatakan itu, bukan berpura-pura ini password.</a:t>
            </a:r>
          </a:p>
          <a:p>
            <a:pPr algn="l">
              <a:lnSpc>
                <a:spcPct val="140000"/>
              </a:lnSpc>
              <a:spcBef>
                <a:spcPts val="900"/>
              </a:spcBef>
            </a:pPr>
            <a:r>
              <a:rPr sz="1050" b="0" i="0">
                <a:solidFill>
                  <a:srgbClr val="3D3731"/>
                </a:solidFill>
                <a:latin typeface="Barlow"/>
                <a:ea typeface="Barlow"/>
                <a:cs typeface="Barlow"/>
              </a:rPr>
              <a:t>Keluarga penerima bisa saja sama sekali tidak punya XLM. Fee-bump native yang membayarkan fee-nya.</a:t>
            </a:r>
          </a:p>
          <a:p>
            <a:pPr algn="l">
              <a:lnSpc>
                <a:spcPct val="140000"/>
              </a:lnSpc>
              <a:spcBef>
                <a:spcPts val="900"/>
              </a:spcBef>
            </a:pPr>
            <a:r>
              <a:rPr sz="1050" b="0" i="0">
                <a:solidFill>
                  <a:srgbClr val="3D3731"/>
                </a:solidFill>
                <a:latin typeface="Barlow"/>
                <a:ea typeface="Barlow"/>
                <a:cs typeface="Barlow"/>
              </a:rPr>
              <a:t>Kondisi gagal ditampilkan apa adanya: oracle basi, jaringan mati, integrasi yang belum dikonfigurasi, semuanya terbaca sebagai dirinya sendiri.</a:t>
            </a:r>
          </a:p>
          <a:p>
            <a:pPr algn="l">
              <a:lnSpc>
                <a:spcPct val="140000"/>
              </a:lnSpc>
              <a:spcBef>
                <a:spcPts val="900"/>
              </a:spcBef>
            </a:pPr>
            <a:r>
              <a:rPr sz="1050" b="0" i="0">
                <a:solidFill>
                  <a:srgbClr val="3D3731"/>
                </a:solidFill>
                <a:latin typeface="Barlow"/>
                <a:ea typeface="Barlow"/>
                <a:cs typeface="Barlow"/>
              </a:rPr>
              <a:t>Alur keyboard-only dan label screen-reader diuji dengan axe dan Playwright pada kontras WCAG AA, tanpa overflow horizontal di 390px.</a:t>
            </a:r>
          </a:p>
        </p:txBody>
      </p:sp>
      <p:sp>
        <p:nvSpPr>
          <p:cNvPr id="16" name="Rounded Rectangle 15"/>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05/19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DI PONSEL</a:t>
            </a:r>
          </a:p>
        </p:txBody>
      </p:sp>
      <p:pic>
        <p:nvPicPr>
          <p:cNvPr id="17" name="Picture 16" descr="seal.png"/>
          <p:cNvPicPr>
            <a:picLocks noChangeAspect="1"/>
          </p:cNvPicPr>
          <p:nvPr/>
        </p:nvPicPr>
        <p:blipFill>
          <a:blip r:embed="rId6"/>
          <a:stretch>
            <a:fillRect/>
          </a:stretch>
        </p:blipFill>
        <p:spPr>
          <a:xfrm>
            <a:off x="11356848" y="6199632"/>
            <a:ext cx="548640" cy="274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539750"/>
          </a:xfrm>
          <a:prstGeom prst="rect">
            <a:avLst/>
          </a:prstGeom>
          <a:noFill/>
        </p:spPr>
        <p:txBody>
          <a:bodyPr wrap="square" lIns="0" rIns="0" tIns="0" bIns="0" anchor="t">
            <a:spAutoFit/>
          </a:bodyPr>
          <a:lstStyle/>
          <a:p>
            <a:pPr algn="l">
              <a:lnSpc>
                <a:spcPct val="104000"/>
              </a:lnSpc>
            </a:pPr>
            <a:r>
              <a:rPr sz="3400" b="0" i="0" spc="40">
                <a:solidFill>
                  <a:srgbClr val="161311"/>
                </a:solidFill>
                <a:latin typeface="Saira Stencil One"/>
                <a:ea typeface="Saira Stencil One"/>
                <a:cs typeface="Saira Stencil One"/>
              </a:rPr>
              <a:t>SEPULUH NEGARA TUJUAN</a:t>
            </a:r>
          </a:p>
        </p:txBody>
      </p:sp>
      <p:sp>
        <p:nvSpPr>
          <p:cNvPr id="4" name="Rectangle 3"/>
          <p:cNvSpPr/>
          <p:nvPr/>
        </p:nvSpPr>
        <p:spPr>
          <a:xfrm>
            <a:off x="457200" y="1005840"/>
            <a:ext cx="11283696" cy="749808"/>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694944" y="1207008"/>
            <a:ext cx="10789920" cy="475488"/>
          </a:xfrm>
          <a:prstGeom prst="rect">
            <a:avLst/>
          </a:prstGeom>
          <a:noFill/>
        </p:spPr>
        <p:txBody>
          <a:bodyPr wrap="square" lIns="0" rIns="0" tIns="0" bIns="0" anchor="t">
            <a:spAutoFit/>
          </a:bodyPr>
          <a:lstStyle/>
          <a:p>
            <a:pPr algn="l">
              <a:lnSpc>
                <a:spcPct val="130000"/>
              </a:lnSpc>
            </a:pPr>
            <a:r>
              <a:rPr sz="1250" b="0" i="0">
                <a:solidFill>
                  <a:srgbClr val="3D3731"/>
                </a:solidFill>
                <a:latin typeface="Barlow"/>
                <a:ea typeface="Barlow"/>
                <a:cs typeface="Barlow"/>
              </a:rPr>
              <a:t>Fiat masuk, lintasan ter-shield, fiat keluar jadi mata uang lokal. Founder-nya di Indonesia dan koridor Indonesia dan Filipina yang paling dekat secara emosional, tapi koridornya sendiri global.</a:t>
            </a:r>
          </a:p>
        </p:txBody>
      </p:sp>
      <p:sp>
        <p:nvSpPr>
          <p:cNvPr id="6" name="Rectangle 5"/>
          <p:cNvSpPr/>
          <p:nvPr/>
        </p:nvSpPr>
        <p:spPr>
          <a:xfrm>
            <a:off x="457200" y="1883664"/>
            <a:ext cx="3602736" cy="27980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457200" y="1883664"/>
            <a:ext cx="360273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AMERIKA LATIN</a:t>
            </a:r>
          </a:p>
        </p:txBody>
      </p:sp>
      <p:sp>
        <p:nvSpPr>
          <p:cNvPr id="8" name="TextBox 7"/>
          <p:cNvSpPr txBox="1"/>
          <p:nvPr/>
        </p:nvSpPr>
        <p:spPr>
          <a:xfrm>
            <a:off x="603503" y="1952244"/>
            <a:ext cx="3310128"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4 DARI 10</a:t>
            </a:r>
          </a:p>
        </p:txBody>
      </p:sp>
      <p:sp>
        <p:nvSpPr>
          <p:cNvPr id="9" name="TextBox 8"/>
          <p:cNvSpPr txBox="1"/>
          <p:nvPr/>
        </p:nvSpPr>
        <p:spPr>
          <a:xfrm>
            <a:off x="676656" y="235915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Meksiko · MXN</a:t>
            </a:r>
          </a:p>
        </p:txBody>
      </p:sp>
      <p:sp>
        <p:nvSpPr>
          <p:cNvPr id="10" name="Rectangle 9"/>
          <p:cNvSpPr/>
          <p:nvPr/>
        </p:nvSpPr>
        <p:spPr>
          <a:xfrm>
            <a:off x="676656" y="263347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272491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Brasil · BRL</a:t>
            </a:r>
          </a:p>
        </p:txBody>
      </p:sp>
      <p:sp>
        <p:nvSpPr>
          <p:cNvPr id="12" name="Rectangle 11"/>
          <p:cNvSpPr/>
          <p:nvPr/>
        </p:nvSpPr>
        <p:spPr>
          <a:xfrm>
            <a:off x="676656" y="299923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09067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Argentina · ARS</a:t>
            </a:r>
          </a:p>
        </p:txBody>
      </p:sp>
      <p:sp>
        <p:nvSpPr>
          <p:cNvPr id="14" name="Rectangle 13"/>
          <p:cNvSpPr/>
          <p:nvPr/>
        </p:nvSpPr>
        <p:spPr>
          <a:xfrm>
            <a:off x="676656" y="3364991"/>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345643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Kolombia · COP</a:t>
            </a:r>
          </a:p>
        </p:txBody>
      </p:sp>
      <p:sp>
        <p:nvSpPr>
          <p:cNvPr id="16" name="Rectangle 15"/>
          <p:cNvSpPr/>
          <p:nvPr/>
        </p:nvSpPr>
        <p:spPr>
          <a:xfrm>
            <a:off x="676656" y="373075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6" y="1883664"/>
            <a:ext cx="3602736" cy="27980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4334256" y="1883664"/>
            <a:ext cx="360273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ASIA</a:t>
            </a:r>
          </a:p>
        </p:txBody>
      </p:sp>
      <p:sp>
        <p:nvSpPr>
          <p:cNvPr id="19" name="TextBox 18"/>
          <p:cNvSpPr txBox="1"/>
          <p:nvPr/>
        </p:nvSpPr>
        <p:spPr>
          <a:xfrm>
            <a:off x="4480559" y="1952244"/>
            <a:ext cx="3310128"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5 DARI 10</a:t>
            </a:r>
          </a:p>
        </p:txBody>
      </p:sp>
      <p:sp>
        <p:nvSpPr>
          <p:cNvPr id="20" name="TextBox 19"/>
          <p:cNvSpPr txBox="1"/>
          <p:nvPr/>
        </p:nvSpPr>
        <p:spPr>
          <a:xfrm>
            <a:off x="4553712" y="235915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Indonesia · IDR</a:t>
            </a:r>
          </a:p>
        </p:txBody>
      </p:sp>
      <p:sp>
        <p:nvSpPr>
          <p:cNvPr id="21" name="Rectangle 20"/>
          <p:cNvSpPr/>
          <p:nvPr/>
        </p:nvSpPr>
        <p:spPr>
          <a:xfrm>
            <a:off x="4553712" y="263347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53712" y="272491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Filipina · PHP</a:t>
            </a:r>
          </a:p>
        </p:txBody>
      </p:sp>
      <p:sp>
        <p:nvSpPr>
          <p:cNvPr id="23" name="Rectangle 22"/>
          <p:cNvSpPr/>
          <p:nvPr/>
        </p:nvSpPr>
        <p:spPr>
          <a:xfrm>
            <a:off x="4553712" y="299923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309067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Vietnam · VND</a:t>
            </a:r>
          </a:p>
        </p:txBody>
      </p:sp>
      <p:sp>
        <p:nvSpPr>
          <p:cNvPr id="25" name="Rectangle 24"/>
          <p:cNvSpPr/>
          <p:nvPr/>
        </p:nvSpPr>
        <p:spPr>
          <a:xfrm>
            <a:off x="4553712" y="3364991"/>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345643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Thailand · THB</a:t>
            </a:r>
          </a:p>
        </p:txBody>
      </p:sp>
      <p:sp>
        <p:nvSpPr>
          <p:cNvPr id="27" name="Rectangle 26"/>
          <p:cNvSpPr/>
          <p:nvPr/>
        </p:nvSpPr>
        <p:spPr>
          <a:xfrm>
            <a:off x="4553712" y="373075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3822191"/>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India · INR</a:t>
            </a:r>
          </a:p>
        </p:txBody>
      </p:sp>
      <p:sp>
        <p:nvSpPr>
          <p:cNvPr id="29" name="Rectangle 28"/>
          <p:cNvSpPr/>
          <p:nvPr/>
        </p:nvSpPr>
        <p:spPr>
          <a:xfrm>
            <a:off x="4553712" y="409651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11312" y="1883664"/>
            <a:ext cx="3602736" cy="27980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ectangle 30"/>
          <p:cNvSpPr/>
          <p:nvPr/>
        </p:nvSpPr>
        <p:spPr>
          <a:xfrm>
            <a:off x="8211312" y="1883664"/>
            <a:ext cx="360273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AFRIKA</a:t>
            </a:r>
          </a:p>
        </p:txBody>
      </p:sp>
      <p:sp>
        <p:nvSpPr>
          <p:cNvPr id="32" name="TextBox 31"/>
          <p:cNvSpPr txBox="1"/>
          <p:nvPr/>
        </p:nvSpPr>
        <p:spPr>
          <a:xfrm>
            <a:off x="8357616" y="1952244"/>
            <a:ext cx="3310128"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1 DARI 10</a:t>
            </a:r>
          </a:p>
        </p:txBody>
      </p:sp>
      <p:sp>
        <p:nvSpPr>
          <p:cNvPr id="33" name="TextBox 32"/>
          <p:cNvSpPr txBox="1"/>
          <p:nvPr/>
        </p:nvSpPr>
        <p:spPr>
          <a:xfrm>
            <a:off x="8430768" y="2359152"/>
            <a:ext cx="3108960" cy="237744"/>
          </a:xfrm>
          <a:prstGeom prst="rect">
            <a:avLst/>
          </a:prstGeom>
          <a:noFill/>
        </p:spPr>
        <p:txBody>
          <a:bodyPr wrap="square" lIns="0" rIns="0" tIns="0" bIns="0" anchor="t">
            <a:spAutoFit/>
          </a:bodyPr>
          <a:lstStyle/>
          <a:p>
            <a:pPr algn="l">
              <a:lnSpc>
                <a:spcPct val="100000"/>
              </a:lnSpc>
            </a:pPr>
            <a:r>
              <a:rPr sz="1300" b="0" i="0">
                <a:solidFill>
                  <a:srgbClr val="161311"/>
                </a:solidFill>
                <a:latin typeface="Barlow"/>
                <a:ea typeface="Barlow"/>
                <a:cs typeface="Barlow"/>
              </a:rPr>
              <a:t>Nigeria · NGN</a:t>
            </a:r>
          </a:p>
        </p:txBody>
      </p:sp>
      <p:sp>
        <p:nvSpPr>
          <p:cNvPr id="34" name="Rectangle 33"/>
          <p:cNvSpPr/>
          <p:nvPr/>
        </p:nvSpPr>
        <p:spPr>
          <a:xfrm>
            <a:off x="8430768" y="2633472"/>
            <a:ext cx="31638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846320"/>
            <a:ext cx="11283696" cy="123444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ectangle 35"/>
          <p:cNvSpPr/>
          <p:nvPr/>
        </p:nvSpPr>
        <p:spPr>
          <a:xfrm>
            <a:off x="457200" y="4846320"/>
            <a:ext cx="1128369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KE MANA DUA JALUR PERTAMA, DAN KENAPA</a:t>
            </a:r>
          </a:p>
        </p:txBody>
      </p:sp>
      <p:sp>
        <p:nvSpPr>
          <p:cNvPr id="37" name="TextBox 36"/>
          <p:cNvSpPr txBox="1"/>
          <p:nvPr/>
        </p:nvSpPr>
        <p:spPr>
          <a:xfrm>
            <a:off x="694944" y="5266944"/>
            <a:ext cx="10789920" cy="731520"/>
          </a:xfrm>
          <a:prstGeom prst="rect">
            <a:avLst/>
          </a:prstGeom>
          <a:noFill/>
        </p:spPr>
        <p:txBody>
          <a:bodyPr wrap="square" lIns="0" rIns="0" tIns="0" bIns="0" anchor="t">
            <a:spAutoFit/>
          </a:bodyPr>
          <a:lstStyle/>
          <a:p>
            <a:pPr algn="l">
              <a:lnSpc>
                <a:spcPct val="140000"/>
              </a:lnSpc>
            </a:pPr>
            <a:r>
              <a:rPr sz="900" b="1" i="0" spc="70">
                <a:solidFill>
                  <a:srgbClr val="161311"/>
                </a:solidFill>
                <a:latin typeface="Courier Prime"/>
                <a:ea typeface="Courier Prime"/>
                <a:cs typeface="Courier Prime"/>
              </a:rPr>
              <a:t>JALUR PERTAMA  </a:t>
            </a:r>
            <a:r>
              <a:rPr sz="1100" b="0" i="0">
                <a:solidFill>
                  <a:srgbClr val="3D3731"/>
                </a:solidFill>
                <a:latin typeface="Barlow"/>
                <a:ea typeface="Barlow"/>
                <a:cs typeface="Barlow"/>
              </a:rPr>
              <a:t>Amerika Serikat ke Filipina. Kedua kakinya terverifikasi di daftar negara yang dipublikasikan MoneyGram: AS mendukung cash-in (kecuali AK, HI, LA) dan Filipina mendukung cash-out.   </a:t>
            </a:r>
            <a:r>
              <a:rPr sz="900" b="1" i="0" spc="70">
                <a:solidFill>
                  <a:srgbClr val="161311"/>
                </a:solidFill>
                <a:latin typeface="Courier Prime"/>
                <a:ea typeface="Courier Prime"/>
                <a:cs typeface="Courier Prime"/>
              </a:rPr>
              <a:t>JALUR KEDUA  </a:t>
            </a:r>
            <a:r>
              <a:rPr sz="1100" b="0" i="0">
                <a:solidFill>
                  <a:srgbClr val="3D3731"/>
                </a:solidFill>
                <a:latin typeface="Barlow"/>
                <a:ea typeface="Barlow"/>
                <a:cs typeface="Barlow"/>
              </a:rPr>
              <a:t>Arab Saudi ke Indonesia, kedua karena Indonesia sama sekali belum punya anchor berlisensi yang native di Stellar.</a:t>
            </a:r>
          </a:p>
          <a:p>
            <a:pPr algn="l">
              <a:lnSpc>
                <a:spcPct val="135000"/>
              </a:lnSpc>
              <a:spcBef>
                <a:spcPts val="600"/>
              </a:spcBef>
            </a:pPr>
            <a:r>
              <a:rPr sz="860" b="0" i="0">
                <a:solidFill>
                  <a:srgbClr val="5A5148"/>
                </a:solidFill>
                <a:latin typeface="Courier Prime"/>
                <a:ea typeface="Courier Prime"/>
                <a:cs typeface="Courier Prime"/>
              </a:rPr>
              <a:t>Kurs Reflector on-chain baru mencakup Meksiko, Brasil, Argentina, dan Thailand; koridor lain jatuh ke kurs HTTP. Belum ada anchor yang dihubungi.</a:t>
            </a:r>
          </a:p>
        </p:txBody>
      </p:sp>
      <p:sp>
        <p:nvSpPr>
          <p:cNvPr id="38" name="Rounded Rectangle 37"/>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06/19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KORIDOR</a:t>
            </a:r>
          </a:p>
        </p:txBody>
      </p:sp>
      <p:pic>
        <p:nvPicPr>
          <p:cNvPr id="39" name="Picture 38"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92125"/>
          </a:xfrm>
          <a:prstGeom prst="rect">
            <a:avLst/>
          </a:prstGeom>
          <a:noFill/>
        </p:spPr>
        <p:txBody>
          <a:bodyPr wrap="square" lIns="0" rIns="0" tIns="0" bIns="0" anchor="t">
            <a:spAutoFit/>
          </a:bodyPr>
          <a:lstStyle/>
          <a:p>
            <a:pPr algn="l">
              <a:lnSpc>
                <a:spcPct val="104000"/>
              </a:lnSpc>
            </a:pPr>
            <a:r>
              <a:rPr sz="3100" b="0" i="0" spc="37">
                <a:solidFill>
                  <a:srgbClr val="161311"/>
                </a:solidFill>
                <a:latin typeface="Saira Stencil One"/>
                <a:ea typeface="Saira Stencil One"/>
                <a:cs typeface="Saira Stencil One"/>
              </a:rPr>
              <a:t>JAWABAN YANG TERIKAT KE PERMINTAANNYA</a:t>
            </a:r>
          </a:p>
        </p:txBody>
      </p:sp>
      <p:sp>
        <p:nvSpPr>
          <p:cNvPr id="4" name="Rectangle 3"/>
          <p:cNvSpPr/>
          <p:nvPr/>
        </p:nvSpPr>
        <p:spPr>
          <a:xfrm>
            <a:off x="457200" y="1060704"/>
            <a:ext cx="5596128" cy="502005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60704"/>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KLAIMNYA</a:t>
            </a:r>
          </a:p>
        </p:txBody>
      </p:sp>
      <p:sp>
        <p:nvSpPr>
          <p:cNvPr id="6" name="TextBox 5"/>
          <p:cNvSpPr txBox="1"/>
          <p:nvPr/>
        </p:nvSpPr>
        <p:spPr>
          <a:xfrm>
            <a:off x="969263" y="1129284"/>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LIVE DI POOL TESTNET</a:t>
            </a:r>
          </a:p>
        </p:txBody>
      </p:sp>
      <p:sp>
        <p:nvSpPr>
          <p:cNvPr id="7" name="TextBox 6"/>
          <p:cNvSpPr txBox="1"/>
          <p:nvPr/>
        </p:nvSpPr>
        <p:spPr>
          <a:xfrm>
            <a:off x="694944" y="1499616"/>
            <a:ext cx="5120640" cy="4114800"/>
          </a:xfrm>
          <a:prstGeom prst="rect">
            <a:avLst/>
          </a:prstGeom>
          <a:noFill/>
        </p:spPr>
        <p:txBody>
          <a:bodyPr wrap="square" lIns="0" rIns="0" tIns="0" bIns="0" anchor="t">
            <a:spAutoFit/>
          </a:bodyPr>
          <a:lstStyle/>
          <a:p>
            <a:pPr algn="l">
              <a:lnSpc>
                <a:spcPct val="142000"/>
              </a:lnSpc>
            </a:pPr>
            <a:r>
              <a:rPr sz="1200" b="0" i="0">
                <a:solidFill>
                  <a:srgbClr val="3D3731"/>
                </a:solidFill>
                <a:latin typeface="Barlow"/>
                <a:ea typeface="Barlow"/>
                <a:cs typeface="Barlow"/>
              </a:rPr>
              <a:t>Selective disclosure sendirian membiarkan pemegang note memilih apa yang dibuka, jadi regulator yang minta total bisa dijawab dengan potongan yang enak dilihat.</a:t>
            </a:r>
          </a:p>
          <a:p>
            <a:pPr algn="l">
              <a:lnSpc>
                <a:spcPct val="142000"/>
              </a:lnSpc>
              <a:spcBef>
                <a:spcPts val="1100"/>
              </a:spcBef>
            </a:pPr>
            <a:r>
              <a:rPr sz="1200" b="0" i="0">
                <a:solidFill>
                  <a:srgbClr val="161311"/>
                </a:solidFill>
                <a:latin typeface="Barlow"/>
                <a:ea typeface="Barlow"/>
                <a:cs typeface="Barlow"/>
              </a:rPr>
              <a:t>Auditor mendaftarkan permintaannya on-chain lewat </a:t>
            </a:r>
            <a:r>
              <a:rPr sz="1050" b="0" i="0">
                <a:solidFill>
                  <a:srgbClr val="161311"/>
                </a:solidFill>
                <a:latin typeface="Courier Prime"/>
                <a:ea typeface="Courier Prime"/>
                <a:cs typeface="Courier Prime"/>
              </a:rPr>
              <a:t>register_audit_request</a:t>
            </a:r>
            <a:r>
              <a:rPr sz="1200" b="0" i="0">
                <a:solidFill>
                  <a:srgbClr val="161311"/>
                </a:solidFill>
                <a:latin typeface="Barlow"/>
                <a:ea typeface="Barlow"/>
                <a:cs typeface="Barlow"/>
              </a:rPr>
              <a:t>, yang mengunci himpunan commitment yang wajib dicakup jawabannya ke dalam satu context hash.</a:t>
            </a:r>
          </a:p>
          <a:p>
            <a:pPr algn="l">
              <a:lnSpc>
                <a:spcPct val="142000"/>
              </a:lnSpc>
              <a:spcBef>
                <a:spcPts val="1100"/>
              </a:spcBef>
            </a:pPr>
            <a:r>
              <a:rPr sz="1200" b="0" i="0">
                <a:solidFill>
                  <a:srgbClr val="161311"/>
                </a:solidFill>
                <a:latin typeface="Barlow"/>
                <a:ea typeface="Barlow"/>
                <a:cs typeface="Barlow"/>
              </a:rPr>
              <a:t>Entrypoint </a:t>
            </a:r>
            <a:r>
              <a:rPr sz="1050" b="0" i="0">
                <a:solidFill>
                  <a:srgbClr val="161311"/>
                </a:solidFill>
                <a:latin typeface="Courier Prime"/>
                <a:ea typeface="Courier Prime"/>
                <a:cs typeface="Courier Prime"/>
              </a:rPr>
              <a:t>disclose_aggregate</a:t>
            </a:r>
            <a:r>
              <a:rPr sz="1200" b="0" i="0">
                <a:solidFill>
                  <a:srgbClr val="161311"/>
                </a:solidFill>
                <a:latin typeface="Barlow"/>
                <a:ea typeface="Barlow"/>
                <a:cs typeface="Barlow"/>
              </a:rPr>
              <a:t> di pool menghitung ulang hash itu dari public input proof-nya dan panic dengan </a:t>
            </a:r>
            <a:r>
              <a:rPr sz="1050" b="0" i="0">
                <a:solidFill>
                  <a:srgbClr val="B5281F"/>
                </a:solidFill>
                <a:latin typeface="Courier Prime"/>
                <a:ea typeface="Courier Prime"/>
                <a:cs typeface="Courier Prime"/>
              </a:rPr>
              <a:t>UnknownAuditRequest</a:t>
            </a:r>
            <a:r>
              <a:rPr sz="1200" b="0" i="0">
                <a:solidFill>
                  <a:srgbClr val="161311"/>
                </a:solidFill>
                <a:latin typeface="Barlow"/>
                <a:ea typeface="Barlow"/>
                <a:cs typeface="Barlow"/>
              </a:rPr>
              <a:t> (error 15) untuk apa pun yang tidak didaftarkan auditor.</a:t>
            </a:r>
          </a:p>
          <a:p>
            <a:pPr algn="l">
              <a:lnSpc>
                <a:spcPct val="118000"/>
              </a:lnSpc>
              <a:spcBef>
                <a:spcPts val="1300"/>
              </a:spcBef>
            </a:pPr>
            <a:r>
              <a:rPr sz="1600" b="0" i="0" spc="20">
                <a:solidFill>
                  <a:srgbClr val="161311"/>
                </a:solidFill>
                <a:latin typeface="Saira Stencil One"/>
                <a:ea typeface="Saira Stencil One"/>
                <a:cs typeface="Saira Stencil One"/>
              </a:rPr>
              <a:t>Jadi pemegang note tidak bisa membuang pembayaran yang sudah disebut auditor.</a:t>
            </a:r>
          </a:p>
          <a:p>
            <a:pPr algn="l">
              <a:lnSpc>
                <a:spcPct val="142000"/>
              </a:lnSpc>
              <a:spcBef>
                <a:spcPts val="1300"/>
              </a:spcBef>
            </a:pPr>
            <a:r>
              <a:rPr sz="1100" b="0" i="0">
                <a:solidFill>
                  <a:srgbClr val="3D3731"/>
                </a:solidFill>
                <a:latin typeface="Barlow"/>
                <a:ea typeface="Barlow"/>
                <a:cs typeface="Barlow"/>
              </a:rPr>
              <a:t>Test should-panic di </a:t>
            </a:r>
            <a:r>
              <a:rPr sz="1000" b="0" i="0">
                <a:solidFill>
                  <a:srgbClr val="3D3731"/>
                </a:solidFill>
                <a:latin typeface="Courier Prime"/>
                <a:ea typeface="Courier Prime"/>
                <a:cs typeface="Courier Prime"/>
              </a:rPr>
              <a:t>contracts/pool/src/test.rs</a:t>
            </a:r>
            <a:r>
              <a:rPr sz="1100" b="0" i="0">
                <a:solidFill>
                  <a:srgbClr val="3D3731"/>
                </a:solidFill>
                <a:latin typeface="Barlow"/>
                <a:ea typeface="Barlow"/>
                <a:cs typeface="Barlow"/>
              </a:rPr>
              <a:t> menutup jalur penolakan itu, dan perilakunya dijalankan di pool testnet yang live.</a:t>
            </a:r>
          </a:p>
        </p:txBody>
      </p:sp>
      <p:sp>
        <p:nvSpPr>
          <p:cNvPr id="8" name="Rectangle 7"/>
          <p:cNvSpPr/>
          <p:nvPr/>
        </p:nvSpPr>
        <p:spPr>
          <a:xfrm>
            <a:off x="6272784" y="1060704"/>
            <a:ext cx="5468112" cy="502005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6272784" y="1060704"/>
            <a:ext cx="5468112"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BATASNYA, DI SLIDE YANG SAMA</a:t>
            </a:r>
          </a:p>
        </p:txBody>
      </p:sp>
      <p:sp>
        <p:nvSpPr>
          <p:cNvPr id="10" name="TextBox 9"/>
          <p:cNvSpPr txBox="1"/>
          <p:nvPr/>
        </p:nvSpPr>
        <p:spPr>
          <a:xfrm>
            <a:off x="6656831" y="1129284"/>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DISEBUT BARENG KLAIMNYA</a:t>
            </a:r>
          </a:p>
        </p:txBody>
      </p:sp>
      <p:sp>
        <p:nvSpPr>
          <p:cNvPr id="11" name="TextBox 10"/>
          <p:cNvSpPr txBox="1"/>
          <p:nvPr/>
        </p:nvSpPr>
        <p:spPr>
          <a:xfrm>
            <a:off x="6510528" y="1499616"/>
            <a:ext cx="4992624" cy="1737360"/>
          </a:xfrm>
          <a:prstGeom prst="rect">
            <a:avLst/>
          </a:prstGeom>
          <a:noFill/>
        </p:spPr>
        <p:txBody>
          <a:bodyPr wrap="square" lIns="0" rIns="0" tIns="0" bIns="0" anchor="t">
            <a:spAutoFit/>
          </a:bodyPr>
          <a:lstStyle/>
          <a:p>
            <a:pPr algn="l">
              <a:lnSpc>
                <a:spcPct val="142000"/>
              </a:lnSpc>
            </a:pPr>
            <a:r>
              <a:rPr sz="1200" b="0" i="0">
                <a:solidFill>
                  <a:srgbClr val="161311"/>
                </a:solidFill>
                <a:latin typeface="Barlow"/>
                <a:ea typeface="Barlow"/>
                <a:cs typeface="Barlow"/>
              </a:rPr>
              <a:t>Himpunan yang didaftarkan itu dibangun dari deposit, dan deposit di Stellar sifatnya publik.</a:t>
            </a:r>
          </a:p>
          <a:p>
            <a:pPr algn="l">
              <a:lnSpc>
                <a:spcPct val="142000"/>
              </a:lnSpc>
              <a:spcBef>
                <a:spcPts val="1000"/>
              </a:spcBef>
            </a:pPr>
            <a:r>
              <a:rPr sz="1200" b="0" i="0">
                <a:solidFill>
                  <a:srgbClr val="3D3731"/>
                </a:solidFill>
                <a:latin typeface="Barlow"/>
                <a:ea typeface="Barlow"/>
                <a:cs typeface="Barlow"/>
              </a:rPr>
              <a:t>Jadi jawabannya lengkap atas pembayaran yang sebenarnya sudah bisa didaftar auditor dari chain. Ini belum lengkap atas seluruh cash-out satu orang di semua alamat yang dia pakai, dan justru di situlah privasi menyembunyikan kaitannya. Itu pekerjaan terbuka, bukan klaim deck ini.</a:t>
            </a:r>
          </a:p>
        </p:txBody>
      </p:sp>
      <p:sp>
        <p:nvSpPr>
          <p:cNvPr id="12" name="Rectangle 11"/>
          <p:cNvSpPr/>
          <p:nvPr/>
        </p:nvSpPr>
        <p:spPr>
          <a:xfrm>
            <a:off x="6510528" y="3401568"/>
            <a:ext cx="49926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3529584"/>
            <a:ext cx="4992624" cy="182880"/>
          </a:xfrm>
          <a:prstGeom prst="rect">
            <a:avLst/>
          </a:prstGeom>
          <a:noFill/>
        </p:spPr>
        <p:txBody>
          <a:bodyPr wrap="square" lIns="0" rIns="0" tIns="0" bIns="0" anchor="t">
            <a:spAutoFit/>
          </a:bodyPr>
          <a:lstStyle/>
          <a:p>
            <a:pPr algn="l">
              <a:lnSpc>
                <a:spcPct val="100000"/>
              </a:lnSpc>
            </a:pPr>
            <a:r>
              <a:rPr sz="900" b="1" i="0" spc="72">
                <a:solidFill>
                  <a:srgbClr val="3D3731"/>
                </a:solidFill>
                <a:latin typeface="Courier Prime"/>
                <a:ea typeface="Courier Prime"/>
                <a:cs typeface="Courier Prime"/>
              </a:rPr>
              <a:t>DUA BATAS LAIN DI POOL LIVE</a:t>
            </a:r>
          </a:p>
        </p:txBody>
      </p:sp>
      <p:sp>
        <p:nvSpPr>
          <p:cNvPr id="14" name="TextBox 13"/>
          <p:cNvSpPr txBox="1"/>
          <p:nvPr/>
        </p:nvSpPr>
        <p:spPr>
          <a:xfrm>
            <a:off x="6510528" y="3790187"/>
            <a:ext cx="1261872"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PERAN AUDITOR</a:t>
            </a:r>
          </a:p>
        </p:txBody>
      </p:sp>
      <p:sp>
        <p:nvSpPr>
          <p:cNvPr id="15" name="TextBox 14"/>
          <p:cNvSpPr txBox="1"/>
          <p:nvPr/>
        </p:nvSpPr>
        <p:spPr>
          <a:xfrm>
            <a:off x="7882127" y="3774643"/>
            <a:ext cx="3621024" cy="960120"/>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masih memakai demo key yang dipublikasikan, secret-nya ikut di bundle client, jadi siapa pun bisa mendaftarkan context hash hari ini. Mengalihkannya cuma satu panggilan admin, dan itu syarat sebelum mainnet.</a:t>
            </a:r>
          </a:p>
        </p:txBody>
      </p:sp>
      <p:sp>
        <p:nvSpPr>
          <p:cNvPr id="16" name="Rectangle 15"/>
          <p:cNvSpPr/>
          <p:nvPr/>
        </p:nvSpPr>
        <p:spPr>
          <a:xfrm>
            <a:off x="6510528" y="4709159"/>
            <a:ext cx="4992624"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4750307"/>
            <a:ext cx="1261872"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CAP-NYA</a:t>
            </a:r>
          </a:p>
        </p:txBody>
      </p:sp>
      <p:sp>
        <p:nvSpPr>
          <p:cNvPr id="18" name="TextBox 17"/>
          <p:cNvSpPr txBox="1"/>
          <p:nvPr/>
        </p:nvSpPr>
        <p:spPr>
          <a:xfrm>
            <a:off x="7882127" y="4734763"/>
            <a:ext cx="3621024" cy="960120"/>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hash-nya mengikat himpunannya, bukan batas nilainya, jadi pemegang note bisa menjawab dengan limit yang tidak berguna. Sudah diperbaiki di pool-accumulator lewat AuditCapMismatch; menerapkannya ke pool live itu Tranche #1.</a:t>
            </a:r>
          </a:p>
        </p:txBody>
      </p:sp>
      <p:sp>
        <p:nvSpPr>
          <p:cNvPr id="19" name="Rectangle 18"/>
          <p:cNvSpPr/>
          <p:nvPr/>
        </p:nvSpPr>
        <p:spPr>
          <a:xfrm>
            <a:off x="6510528" y="5669279"/>
            <a:ext cx="4992624"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rot="21420000">
            <a:off x="6583680" y="5705856"/>
            <a:ext cx="1737360" cy="274320"/>
          </a:xfrm>
          <a:prstGeom prst="rect">
            <a:avLst/>
          </a:prstGeom>
          <a:noFill/>
          <a:ln w="25400">
            <a:solidFill>
              <a:srgbClr val="D834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000" b="0" i="0" spc="100">
                <a:solidFill>
                  <a:srgbClr val="D8342B"/>
                </a:solidFill>
                <a:latin typeface="Saira Stencil One"/>
                <a:ea typeface="Saira Stencil One"/>
                <a:cs typeface="Saira Stencil One"/>
              </a:rPr>
              <a:t>SEBAGIAN</a:t>
            </a:r>
          </a:p>
        </p:txBody>
      </p:sp>
      <p:sp>
        <p:nvSpPr>
          <p:cNvPr id="21" name="Rounded Rectangle 20"/>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07/19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AUDIT REQUEST</a:t>
            </a:r>
          </a:p>
        </p:txBody>
      </p:sp>
      <p:pic>
        <p:nvPicPr>
          <p:cNvPr id="22" name="Picture 21"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396875"/>
          </a:xfrm>
          <a:prstGeom prst="rect">
            <a:avLst/>
          </a:prstGeom>
          <a:noFill/>
        </p:spPr>
        <p:txBody>
          <a:bodyPr wrap="square" lIns="0" rIns="0" tIns="0" bIns="0" anchor="t">
            <a:spAutoFit/>
          </a:bodyPr>
          <a:lstStyle/>
          <a:p>
            <a:pPr algn="l">
              <a:lnSpc>
                <a:spcPct val="104000"/>
              </a:lnSpc>
            </a:pPr>
            <a:r>
              <a:rPr sz="2500" b="0" i="0" spc="30">
                <a:solidFill>
                  <a:srgbClr val="161311"/>
                </a:solidFill>
                <a:latin typeface="Saira Stencil One"/>
                <a:ea typeface="Saira Stencil One"/>
                <a:cs typeface="Saira Stencil One"/>
              </a:rPr>
              <a:t>EMPAT DISCLOSURE, TIAP JENIS PUNYA KONTRAKNYA</a:t>
            </a:r>
          </a:p>
        </p:txBody>
      </p:sp>
      <p:sp>
        <p:nvSpPr>
          <p:cNvPr id="4" name="Rectangle 3"/>
          <p:cNvSpPr/>
          <p:nvPr/>
        </p:nvSpPr>
        <p:spPr>
          <a:xfrm>
            <a:off x="457200" y="1042415"/>
            <a:ext cx="4937760"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493776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YANG BISA DIBUKTIKAN PEMEGANG NOTE</a:t>
            </a:r>
          </a:p>
        </p:txBody>
      </p:sp>
      <p:sp>
        <p:nvSpPr>
          <p:cNvPr id="6" name="TextBox 5"/>
          <p:cNvSpPr txBox="1"/>
          <p:nvPr/>
        </p:nvSpPr>
        <p:spPr>
          <a:xfrm>
            <a:off x="694944" y="1463040"/>
            <a:ext cx="4480560" cy="237744"/>
          </a:xfrm>
          <a:prstGeom prst="rect">
            <a:avLst/>
          </a:prstGeom>
          <a:noFill/>
        </p:spPr>
        <p:txBody>
          <a:bodyPr wrap="square" lIns="0" rIns="0" tIns="0" bIns="0" anchor="t">
            <a:spAutoFit/>
          </a:bodyPr>
          <a:lstStyle/>
          <a:p>
            <a:pPr algn="l">
              <a:lnSpc>
                <a:spcPct val="100000"/>
              </a:lnSpc>
            </a:pPr>
            <a:r>
              <a:rPr sz="1400" b="0" i="0" spc="30">
                <a:solidFill>
                  <a:srgbClr val="161311"/>
                </a:solidFill>
                <a:latin typeface="Saira Stencil One"/>
                <a:ea typeface="Saira Stencil One"/>
                <a:cs typeface="Saira Stencil One"/>
              </a:rPr>
              <a:t>EXACT</a:t>
            </a:r>
          </a:p>
        </p:txBody>
      </p:sp>
      <p:sp>
        <p:nvSpPr>
          <p:cNvPr id="7" name="TextBox 6"/>
          <p:cNvSpPr txBox="1"/>
          <p:nvPr/>
        </p:nvSpPr>
        <p:spPr>
          <a:xfrm>
            <a:off x="694944" y="1719072"/>
            <a:ext cx="4462272" cy="457200"/>
          </a:xfrm>
          <a:prstGeom prst="rect">
            <a:avLst/>
          </a:prstGeom>
          <a:noFill/>
        </p:spPr>
        <p:txBody>
          <a:bodyPr wrap="square" lIns="0" rIns="0" tIns="0" bIns="0" anchor="t">
            <a:spAutoFit/>
          </a:bodyPr>
          <a:lstStyle/>
          <a:p>
            <a:pPr algn="l">
              <a:lnSpc>
                <a:spcPct val="130000"/>
              </a:lnSpc>
            </a:pPr>
            <a:r>
              <a:rPr sz="1050" b="0" i="0">
                <a:solidFill>
                  <a:srgbClr val="3D3731"/>
                </a:solidFill>
                <a:latin typeface="Barlow"/>
                <a:ea typeface="Barlow"/>
                <a:cs typeface="Barlow"/>
              </a:rPr>
              <a:t>nominal persis satu pembayaran</a:t>
            </a:r>
          </a:p>
        </p:txBody>
      </p:sp>
      <p:sp>
        <p:nvSpPr>
          <p:cNvPr id="8" name="Rectangle 7"/>
          <p:cNvSpPr/>
          <p:nvPr/>
        </p:nvSpPr>
        <p:spPr>
          <a:xfrm>
            <a:off x="694944" y="2084832"/>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194560"/>
            <a:ext cx="4480560" cy="237744"/>
          </a:xfrm>
          <a:prstGeom prst="rect">
            <a:avLst/>
          </a:prstGeom>
          <a:noFill/>
        </p:spPr>
        <p:txBody>
          <a:bodyPr wrap="square" lIns="0" rIns="0" tIns="0" bIns="0" anchor="t">
            <a:spAutoFit/>
          </a:bodyPr>
          <a:lstStyle/>
          <a:p>
            <a:pPr algn="l">
              <a:lnSpc>
                <a:spcPct val="100000"/>
              </a:lnSpc>
            </a:pPr>
            <a:r>
              <a:rPr sz="1400" b="0" i="0" spc="30">
                <a:solidFill>
                  <a:srgbClr val="161311"/>
                </a:solidFill>
                <a:latin typeface="Saira Stencil One"/>
                <a:ea typeface="Saira Stencil One"/>
                <a:cs typeface="Saira Stencil One"/>
              </a:rPr>
              <a:t>THRESHOLD</a:t>
            </a:r>
          </a:p>
        </p:txBody>
      </p:sp>
      <p:sp>
        <p:nvSpPr>
          <p:cNvPr id="10" name="TextBox 9"/>
          <p:cNvSpPr txBox="1"/>
          <p:nvPr/>
        </p:nvSpPr>
        <p:spPr>
          <a:xfrm>
            <a:off x="694944" y="2450592"/>
            <a:ext cx="4462272" cy="457200"/>
          </a:xfrm>
          <a:prstGeom prst="rect">
            <a:avLst/>
          </a:prstGeom>
          <a:noFill/>
        </p:spPr>
        <p:txBody>
          <a:bodyPr wrap="square" lIns="0" rIns="0" tIns="0" bIns="0" anchor="t">
            <a:spAutoFit/>
          </a:bodyPr>
          <a:lstStyle/>
          <a:p>
            <a:pPr algn="l">
              <a:lnSpc>
                <a:spcPct val="130000"/>
              </a:lnSpc>
            </a:pPr>
            <a:r>
              <a:rPr sz="1050" b="0" i="0">
                <a:solidFill>
                  <a:srgbClr val="3D3731"/>
                </a:solidFill>
                <a:latin typeface="Barlow"/>
                <a:ea typeface="Barlow"/>
                <a:cs typeface="Barlow"/>
              </a:rPr>
              <a:t>bahwa satu pembayaran ada di atau di bawah angka pelaporan, nominal tetap tertutup</a:t>
            </a:r>
          </a:p>
        </p:txBody>
      </p:sp>
      <p:sp>
        <p:nvSpPr>
          <p:cNvPr id="11" name="Rectangle 10"/>
          <p:cNvSpPr/>
          <p:nvPr/>
        </p:nvSpPr>
        <p:spPr>
          <a:xfrm>
            <a:off x="694944" y="2816352"/>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926080"/>
            <a:ext cx="4480560" cy="237744"/>
          </a:xfrm>
          <a:prstGeom prst="rect">
            <a:avLst/>
          </a:prstGeom>
          <a:noFill/>
        </p:spPr>
        <p:txBody>
          <a:bodyPr wrap="square" lIns="0" rIns="0" tIns="0" bIns="0" anchor="t">
            <a:spAutoFit/>
          </a:bodyPr>
          <a:lstStyle/>
          <a:p>
            <a:pPr algn="l">
              <a:lnSpc>
                <a:spcPct val="100000"/>
              </a:lnSpc>
            </a:pPr>
            <a:r>
              <a:rPr sz="1400" b="0" i="0" spc="30">
                <a:solidFill>
                  <a:srgbClr val="161311"/>
                </a:solidFill>
                <a:latin typeface="Saira Stencil One"/>
                <a:ea typeface="Saira Stencil One"/>
                <a:cs typeface="Saira Stencil One"/>
              </a:rPr>
              <a:t>TWO-SIDED RANGE</a:t>
            </a:r>
          </a:p>
        </p:txBody>
      </p:sp>
      <p:sp>
        <p:nvSpPr>
          <p:cNvPr id="13" name="TextBox 12"/>
          <p:cNvSpPr txBox="1"/>
          <p:nvPr/>
        </p:nvSpPr>
        <p:spPr>
          <a:xfrm>
            <a:off x="694944" y="3182112"/>
            <a:ext cx="4462272" cy="457200"/>
          </a:xfrm>
          <a:prstGeom prst="rect">
            <a:avLst/>
          </a:prstGeom>
          <a:noFill/>
        </p:spPr>
        <p:txBody>
          <a:bodyPr wrap="square" lIns="0" rIns="0" tIns="0" bIns="0" anchor="t">
            <a:spAutoFit/>
          </a:bodyPr>
          <a:lstStyle/>
          <a:p>
            <a:pPr algn="l">
              <a:lnSpc>
                <a:spcPct val="130000"/>
              </a:lnSpc>
            </a:pPr>
            <a:r>
              <a:rPr sz="1050" b="0" i="0">
                <a:solidFill>
                  <a:srgbClr val="3D3731"/>
                </a:solidFill>
                <a:latin typeface="Barlow"/>
                <a:ea typeface="Barlow"/>
                <a:cs typeface="Barlow"/>
              </a:rPr>
              <a:t>bahwa nominalnya ada di dalam satu rentang, tetap tertutup</a:t>
            </a:r>
          </a:p>
        </p:txBody>
      </p:sp>
      <p:sp>
        <p:nvSpPr>
          <p:cNvPr id="14" name="Rectangle 13"/>
          <p:cNvSpPr/>
          <p:nvPr/>
        </p:nvSpPr>
        <p:spPr>
          <a:xfrm>
            <a:off x="694944" y="3547872"/>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3657600"/>
            <a:ext cx="4480560" cy="237744"/>
          </a:xfrm>
          <a:prstGeom prst="rect">
            <a:avLst/>
          </a:prstGeom>
          <a:noFill/>
        </p:spPr>
        <p:txBody>
          <a:bodyPr wrap="square" lIns="0" rIns="0" tIns="0" bIns="0" anchor="t">
            <a:spAutoFit/>
          </a:bodyPr>
          <a:lstStyle/>
          <a:p>
            <a:pPr algn="l">
              <a:lnSpc>
                <a:spcPct val="100000"/>
              </a:lnSpc>
            </a:pPr>
            <a:r>
              <a:rPr sz="1400" b="0" i="0" spc="30">
                <a:solidFill>
                  <a:srgbClr val="161311"/>
                </a:solidFill>
                <a:latin typeface="Saira Stencil One"/>
                <a:ea typeface="Saira Stencil One"/>
                <a:cs typeface="Saira Stencil One"/>
              </a:rPr>
              <a:t>PORTFOLIO AGGREGATE</a:t>
            </a:r>
          </a:p>
        </p:txBody>
      </p:sp>
      <p:sp>
        <p:nvSpPr>
          <p:cNvPr id="16" name="TextBox 15"/>
          <p:cNvSpPr txBox="1"/>
          <p:nvPr/>
        </p:nvSpPr>
        <p:spPr>
          <a:xfrm>
            <a:off x="694944" y="3913632"/>
            <a:ext cx="4462272" cy="457200"/>
          </a:xfrm>
          <a:prstGeom prst="rect">
            <a:avLst/>
          </a:prstGeom>
          <a:noFill/>
        </p:spPr>
        <p:txBody>
          <a:bodyPr wrap="square" lIns="0" rIns="0" tIns="0" bIns="0" anchor="t">
            <a:spAutoFit/>
          </a:bodyPr>
          <a:lstStyle/>
          <a:p>
            <a:pPr algn="l">
              <a:lnSpc>
                <a:spcPct val="130000"/>
              </a:lnSpc>
            </a:pPr>
            <a:r>
              <a:rPr sz="1050" b="0" i="0">
                <a:solidFill>
                  <a:srgbClr val="3D3731"/>
                </a:solidFill>
                <a:latin typeface="Barlow"/>
                <a:ea typeface="Barlow"/>
                <a:cs typeface="Barlow"/>
              </a:rPr>
              <a:t>bahwa jumlah satu sampai lima pembayaran ada di atau di bawah satu cap</a:t>
            </a:r>
          </a:p>
        </p:txBody>
      </p:sp>
      <p:sp>
        <p:nvSpPr>
          <p:cNvPr id="17" name="Rectangle 16"/>
          <p:cNvSpPr/>
          <p:nvPr/>
        </p:nvSpPr>
        <p:spPr>
          <a:xfrm>
            <a:off x="694944" y="4279392"/>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4498848"/>
            <a:ext cx="4462272" cy="1097280"/>
          </a:xfrm>
          <a:prstGeom prst="rect">
            <a:avLst/>
          </a:prstGeom>
          <a:noFill/>
        </p:spPr>
        <p:txBody>
          <a:bodyPr wrap="square" lIns="0" rIns="0" tIns="0" bIns="0" anchor="t">
            <a:spAutoFit/>
          </a:bodyPr>
          <a:lstStyle/>
          <a:p>
            <a:pPr algn="l">
              <a:lnSpc>
                <a:spcPct val="140000"/>
              </a:lnSpc>
            </a:pPr>
            <a:r>
              <a:rPr sz="1050" b="0" i="0">
                <a:solidFill>
                  <a:srgbClr val="3D3731"/>
                </a:solidFill>
                <a:latin typeface="Barlow"/>
                <a:ea typeface="Barlow"/>
                <a:cs typeface="Barlow"/>
              </a:rPr>
              <a:t>Masing-masing diverifikasi kontrak Soroban-nya sendiri yang live dan diikat lewat pool ke deposit yang nyata. Konsol regulator juga menjalankan pertukaran Travel Rule lewat OpenVASP TRP 3.2.1 dan mengekspor laporan sesuai yurisdiksi: PPATK LTKL untuk Indonesia, BSP Circular 1108 untuk Filipina, dan EU TFR.</a:t>
            </a:r>
          </a:p>
        </p:txBody>
      </p:sp>
      <p:sp>
        <p:nvSpPr>
          <p:cNvPr id="19" name="TextBox 18"/>
          <p:cNvSpPr txBox="1"/>
          <p:nvPr/>
        </p:nvSpPr>
        <p:spPr>
          <a:xfrm>
            <a:off x="694944" y="5541264"/>
            <a:ext cx="4462272" cy="457200"/>
          </a:xfrm>
          <a:prstGeom prst="rect">
            <a:avLst/>
          </a:prstGeom>
          <a:noFill/>
        </p:spPr>
        <p:txBody>
          <a:bodyPr wrap="square" lIns="0" rIns="0" tIns="0" bIns="0" anchor="t">
            <a:spAutoFit/>
          </a:bodyPr>
          <a:lstStyle/>
          <a:p>
            <a:pPr algn="l">
              <a:lnSpc>
                <a:spcPct val="140000"/>
              </a:lnSpc>
            </a:pPr>
            <a:r>
              <a:rPr sz="860" b="0" i="0">
                <a:solidFill>
                  <a:srgbClr val="5A5148"/>
                </a:solidFill>
                <a:latin typeface="Courier Prime"/>
                <a:ea typeface="Courier Prime"/>
                <a:cs typeface="Courier Prime"/>
              </a:rPr>
              <a:t>Tukar tidak menyimpan data pribadi, jadi semua field identitas diekspor sebagai teks "anchor-held" dan header-nya menyatakan itu.</a:t>
            </a:r>
          </a:p>
        </p:txBody>
      </p:sp>
      <p:sp>
        <p:nvSpPr>
          <p:cNvPr id="20" name="Rectangle 19"/>
          <p:cNvSpPr/>
          <p:nvPr/>
        </p:nvSpPr>
        <p:spPr>
          <a:xfrm>
            <a:off x="5596128" y="1042415"/>
            <a:ext cx="6144768" cy="384048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1" name="Picture 20" descr="regulator.png"/>
          <p:cNvPicPr>
            <a:picLocks noChangeAspect="1"/>
          </p:cNvPicPr>
          <p:nvPr/>
        </p:nvPicPr>
        <p:blipFill>
          <a:blip r:embed="rId3"/>
          <a:stretch>
            <a:fillRect/>
          </a:stretch>
        </p:blipFill>
        <p:spPr>
          <a:xfrm>
            <a:off x="5646420" y="1092707"/>
            <a:ext cx="6044183" cy="3520440"/>
          </a:xfrm>
          <a:prstGeom prst="rect">
            <a:avLst/>
          </a:prstGeom>
        </p:spPr>
      </p:pic>
      <p:sp>
        <p:nvSpPr>
          <p:cNvPr id="22" name="TextBox 21"/>
          <p:cNvSpPr txBox="1"/>
          <p:nvPr/>
        </p:nvSpPr>
        <p:spPr>
          <a:xfrm>
            <a:off x="5646420" y="4654296"/>
            <a:ext cx="6044183"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04-REGULATOR-DESKTOP.PNG · STATE POOL DAN POLICY, DIBACA DARI LEDGER</a:t>
            </a:r>
          </a:p>
        </p:txBody>
      </p:sp>
      <p:sp>
        <p:nvSpPr>
          <p:cNvPr id="23" name="Rectangle 22"/>
          <p:cNvSpPr/>
          <p:nvPr/>
        </p:nvSpPr>
        <p:spPr>
          <a:xfrm>
            <a:off x="5596128" y="4992624"/>
            <a:ext cx="2651760" cy="10881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4" name="Picture 23" descr="verify.png"/>
          <p:cNvPicPr>
            <a:picLocks noChangeAspect="1"/>
          </p:cNvPicPr>
          <p:nvPr/>
        </p:nvPicPr>
        <p:blipFill>
          <a:blip r:embed="rId4"/>
          <a:stretch>
            <a:fillRect/>
          </a:stretch>
        </p:blipFill>
        <p:spPr>
          <a:xfrm>
            <a:off x="5646420" y="5042916"/>
            <a:ext cx="2551176" cy="987551"/>
          </a:xfrm>
          <a:prstGeom prst="rect">
            <a:avLst/>
          </a:prstGeom>
        </p:spPr>
      </p:pic>
      <p:sp>
        <p:nvSpPr>
          <p:cNvPr id="25" name="Rectangle 24"/>
          <p:cNvSpPr/>
          <p:nvPr/>
        </p:nvSpPr>
        <p:spPr>
          <a:xfrm>
            <a:off x="8357616" y="4992624"/>
            <a:ext cx="3383280" cy="10881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8357616" y="4992624"/>
            <a:ext cx="338328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SIAPA PUN BISA MENGECEK ULANG</a:t>
            </a:r>
          </a:p>
        </p:txBody>
      </p:sp>
      <p:sp>
        <p:nvSpPr>
          <p:cNvPr id="27" name="TextBox 26"/>
          <p:cNvSpPr txBox="1"/>
          <p:nvPr/>
        </p:nvSpPr>
        <p:spPr>
          <a:xfrm>
            <a:off x="8577072" y="5376672"/>
            <a:ext cx="2944368" cy="640080"/>
          </a:xfrm>
          <a:prstGeom prst="rect">
            <a:avLst/>
          </a:prstGeom>
          <a:noFill/>
        </p:spPr>
        <p:txBody>
          <a:bodyPr wrap="square" lIns="0" rIns="0" tIns="0" bIns="0" anchor="t">
            <a:spAutoFit/>
          </a:bodyPr>
          <a:lstStyle/>
          <a:p>
            <a:pPr algn="l">
              <a:lnSpc>
                <a:spcPct val="130000"/>
              </a:lnSpc>
            </a:pPr>
            <a:r>
              <a:rPr sz="919" b="0" i="0">
                <a:solidFill>
                  <a:srgbClr val="3D3731"/>
                </a:solidFill>
                <a:latin typeface="Barlow"/>
                <a:ea typeface="Barlow"/>
                <a:cs typeface="Barlow"/>
              </a:rPr>
              <a:t>Proof asli lolos. Ubah satu karakter, verifier live menolaknya on-chain. Halaman /verify menjalankan ulang pengecekannya lewat Soroban RPC publik.</a:t>
            </a:r>
          </a:p>
        </p:txBody>
      </p:sp>
      <p:sp>
        <p:nvSpPr>
          <p:cNvPr id="28" name="Rounded Rectangle 27"/>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08/19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DISCLOSURE</a:t>
            </a:r>
          </a:p>
        </p:txBody>
      </p:sp>
      <p:pic>
        <p:nvPicPr>
          <p:cNvPr id="29" name="Picture 28" descr="seal.png"/>
          <p:cNvPicPr>
            <a:picLocks noChangeAspect="1"/>
          </p:cNvPicPr>
          <p:nvPr/>
        </p:nvPicPr>
        <p:blipFill>
          <a:blip r:embed="rId5"/>
          <a:stretch>
            <a:fillRect/>
          </a:stretch>
        </p:blipFill>
        <p:spPr>
          <a:xfrm>
            <a:off x="11356848" y="6199632"/>
            <a:ext cx="548640" cy="274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44500"/>
          </a:xfrm>
          <a:prstGeom prst="rect">
            <a:avLst/>
          </a:prstGeom>
          <a:noFill/>
        </p:spPr>
        <p:txBody>
          <a:bodyPr wrap="square" lIns="0" rIns="0" tIns="0" bIns="0" anchor="t">
            <a:spAutoFit/>
          </a:bodyPr>
          <a:lstStyle/>
          <a:p>
            <a:pPr algn="l">
              <a:lnSpc>
                <a:spcPct val="104000"/>
              </a:lnSpc>
            </a:pPr>
            <a:r>
              <a:rPr sz="2800" b="0" i="0" spc="33">
                <a:solidFill>
                  <a:srgbClr val="161311"/>
                </a:solidFill>
                <a:latin typeface="Saira Stencil One"/>
                <a:ea typeface="Saira Stencil One"/>
                <a:cs typeface="Saira Stencil One"/>
              </a:rPr>
              <a:t>SEMUA YANG SUDAH JALAN · 1 DARI 3</a:t>
            </a:r>
          </a:p>
        </p:txBody>
      </p:sp>
      <p:sp>
        <p:nvSpPr>
          <p:cNvPr id="4" name="Rectangle 3"/>
          <p:cNvSpPr/>
          <p:nvPr/>
        </p:nvSpPr>
        <p:spPr>
          <a:xfrm>
            <a:off x="457200"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KORIDOR TER-SHIELD</a:t>
            </a:r>
          </a:p>
        </p:txBody>
      </p:sp>
      <p:sp>
        <p:nvSpPr>
          <p:cNvPr id="6" name="TextBox 5"/>
          <p:cNvSpPr txBox="1"/>
          <p:nvPr/>
        </p:nvSpPr>
        <p:spPr>
          <a:xfrm>
            <a:off x="969263"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6 ITEM</a:t>
            </a:r>
          </a:p>
        </p:txBody>
      </p:sp>
      <p:sp>
        <p:nvSpPr>
          <p:cNvPr id="7" name="TextBox 6"/>
          <p:cNvSpPr txBox="1"/>
          <p:nvPr/>
        </p:nvSpPr>
        <p:spPr>
          <a:xfrm>
            <a:off x="676656" y="149504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8" name="TextBox 7"/>
          <p:cNvSpPr txBox="1"/>
          <p:nvPr/>
        </p:nvSpPr>
        <p:spPr>
          <a:xfrm>
            <a:off x="1920240" y="1463039"/>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Shielded pool.  </a:t>
            </a:r>
            <a:r>
              <a:rPr sz="980" b="0" i="0">
                <a:solidFill>
                  <a:srgbClr val="3D3731"/>
                </a:solidFill>
                <a:latin typeface="Barlow"/>
                <a:ea typeface="Barlow"/>
                <a:cs typeface="Barlow"/>
              </a:rPr>
              <a:t>Kontrak Soroban yang menyimpan USDC testnet asli dan memegang himpunan commitment, nullifier, dan root.</a:t>
            </a:r>
          </a:p>
        </p:txBody>
      </p:sp>
      <p:sp>
        <p:nvSpPr>
          <p:cNvPr id="9" name="Rectangle 8"/>
          <p:cNvSpPr/>
          <p:nvPr/>
        </p:nvSpPr>
        <p:spPr>
          <a:xfrm>
            <a:off x="676656" y="2153412"/>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267712"/>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1" name="TextBox 10"/>
          <p:cNvSpPr txBox="1"/>
          <p:nvPr/>
        </p:nvSpPr>
        <p:spPr>
          <a:xfrm>
            <a:off x="1920240" y="2235708"/>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8 circuit, 8 verifier.  </a:t>
            </a:r>
            <a:r>
              <a:rPr sz="980" b="0" i="0">
                <a:solidFill>
                  <a:srgbClr val="3D3731"/>
                </a:solidFill>
                <a:latin typeface="Barlow"/>
                <a:ea typeface="Barlow"/>
                <a:cs typeface="Barlow"/>
              </a:rPr>
              <a:t>Circom/Groth16 di atas BN254, di-prove di browser lewat WASM, diverifikasi on-chain oleh host function BN254 milik Stellar.</a:t>
            </a:r>
          </a:p>
        </p:txBody>
      </p:sp>
      <p:sp>
        <p:nvSpPr>
          <p:cNvPr id="12" name="Rectangle 11"/>
          <p:cNvSpPr/>
          <p:nvPr/>
        </p:nvSpPr>
        <p:spPr>
          <a:xfrm>
            <a:off x="676656" y="2926080"/>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040380"/>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4" name="TextBox 13"/>
          <p:cNvSpPr txBox="1"/>
          <p:nvPr/>
        </p:nvSpPr>
        <p:spPr>
          <a:xfrm>
            <a:off x="1920240" y="3008376"/>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Compliance in-circuit.  </a:t>
            </a:r>
            <a:r>
              <a:rPr sz="980" b="0" i="0">
                <a:solidFill>
                  <a:srgbClr val="3D3731"/>
                </a:solidFill>
                <a:latin typeface="Barlow"/>
                <a:ea typeface="Barlow"/>
                <a:cs typeface="Barlow"/>
              </a:rPr>
              <a:t>Tiap deposit membuktikan keanggotaan allow-list dan non-keanggotaan deny-list, terikat ke depositor yang sudah diautentikasi kontrak.</a:t>
            </a:r>
          </a:p>
        </p:txBody>
      </p:sp>
      <p:sp>
        <p:nvSpPr>
          <p:cNvPr id="15" name="Rectangle 14"/>
          <p:cNvSpPr/>
          <p:nvPr/>
        </p:nvSpPr>
        <p:spPr>
          <a:xfrm>
            <a:off x="676656" y="3698748"/>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813048"/>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7" name="TextBox 16"/>
          <p:cNvSpPr txBox="1"/>
          <p:nvPr/>
        </p:nvSpPr>
        <p:spPr>
          <a:xfrm>
            <a:off x="1920240" y="3781044"/>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Tree advance tanpa admin.  </a:t>
            </a:r>
            <a:r>
              <a:rPr sz="980" b="0" i="0">
                <a:solidFill>
                  <a:srgbClr val="3D3731"/>
                </a:solidFill>
                <a:latin typeface="Barlow"/>
                <a:ea typeface="Barlow"/>
                <a:cs typeface="Barlow"/>
              </a:rPr>
              <a:t>SNARK merkleUpdate yang memajukan root; override root oleh admin sudah dihapus, jadi tidak ada pintu belakang untuk mencetak root atau leaf.</a:t>
            </a:r>
          </a:p>
        </p:txBody>
      </p:sp>
      <p:sp>
        <p:nvSpPr>
          <p:cNvPr id="18" name="Rectangle 17"/>
          <p:cNvSpPr/>
          <p:nvPr/>
        </p:nvSpPr>
        <p:spPr>
          <a:xfrm>
            <a:off x="676656" y="4471416"/>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585716"/>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0" name="TextBox 19"/>
          <p:cNvSpPr txBox="1"/>
          <p:nvPr/>
        </p:nvSpPr>
        <p:spPr>
          <a:xfrm>
            <a:off x="1920240" y="4553712"/>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Bearer note.  </a:t>
            </a:r>
            <a:r>
              <a:rPr sz="980" b="0" i="0">
                <a:solidFill>
                  <a:srgbClr val="3D3731"/>
                </a:solidFill>
                <a:latin typeface="Barlow"/>
                <a:ea typeface="Barlow"/>
                <a:cs typeface="Barlow"/>
              </a:rPr>
              <a:t>Note-nya sendiri yang bisa dibelanjakan: ekspor jadi string atau QR, impor di perangkat lain, withdraw di sana.</a:t>
            </a:r>
          </a:p>
        </p:txBody>
      </p:sp>
      <p:sp>
        <p:nvSpPr>
          <p:cNvPr id="21" name="Rectangle 20"/>
          <p:cNvSpPr/>
          <p:nvPr/>
        </p:nvSpPr>
        <p:spPr>
          <a:xfrm>
            <a:off x="676656" y="524408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535838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3" name="TextBox 22"/>
          <p:cNvSpPr txBox="1"/>
          <p:nvPr/>
        </p:nvSpPr>
        <p:spPr>
          <a:xfrm>
            <a:off x="1920240" y="5326379"/>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Penjaga double-spend.  </a:t>
            </a:r>
            <a:r>
              <a:rPr sz="980" b="0" i="0">
                <a:solidFill>
                  <a:srgbClr val="3D3731"/>
                </a:solidFill>
                <a:latin typeface="Barlow"/>
                <a:ea typeface="Barlow"/>
                <a:cs typeface="Barlow"/>
              </a:rPr>
              <a:t>Himpunan nullifier permanen menolak replay dengan NullifierUsed (#2), dibuktikan lintas wallet di suite end-to-end.</a:t>
            </a:r>
          </a:p>
        </p:txBody>
      </p:sp>
      <p:sp>
        <p:nvSpPr>
          <p:cNvPr id="24" name="Rectangle 23"/>
          <p:cNvSpPr/>
          <p:nvPr/>
        </p:nvSpPr>
        <p:spPr>
          <a:xfrm>
            <a:off x="676656" y="6016751"/>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6144768"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PERMUKAAN KEPATUHAN</a:t>
            </a:r>
          </a:p>
        </p:txBody>
      </p:sp>
      <p:sp>
        <p:nvSpPr>
          <p:cNvPr id="27" name="TextBox 26"/>
          <p:cNvSpPr txBox="1"/>
          <p:nvPr/>
        </p:nvSpPr>
        <p:spPr>
          <a:xfrm>
            <a:off x="6656831"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7 ITEM</a:t>
            </a:r>
          </a:p>
        </p:txBody>
      </p:sp>
      <p:sp>
        <p:nvSpPr>
          <p:cNvPr id="28" name="TextBox 27"/>
          <p:cNvSpPr txBox="1"/>
          <p:nvPr/>
        </p:nvSpPr>
        <p:spPr>
          <a:xfrm>
            <a:off x="6364224" y="149504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9" name="TextBox 28"/>
          <p:cNvSpPr txBox="1"/>
          <p:nvPr/>
        </p:nvSpPr>
        <p:spPr>
          <a:xfrm>
            <a:off x="7607808" y="1463039"/>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Registry policy per koridor.  </a:t>
            </a:r>
            <a:r>
              <a:rPr sz="980" b="0" i="0">
                <a:solidFill>
                  <a:srgbClr val="3D3731"/>
                </a:solidFill>
                <a:latin typeface="Barlow"/>
                <a:ea typeface="Barlow"/>
                <a:cs typeface="Barlow"/>
              </a:rPr>
              <a:t>Cap dan aturan disclosure tiap koridor disimpan on-chain.</a:t>
            </a:r>
          </a:p>
        </p:txBody>
      </p:sp>
      <p:sp>
        <p:nvSpPr>
          <p:cNvPr id="30" name="Rectangle 29"/>
          <p:cNvSpPr/>
          <p:nvPr/>
        </p:nvSpPr>
        <p:spPr>
          <a:xfrm>
            <a:off x="6364224" y="204368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2157984"/>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PREVIEW TRACK</a:t>
            </a:r>
          </a:p>
        </p:txBody>
      </p:sp>
      <p:sp>
        <p:nvSpPr>
          <p:cNvPr id="32" name="TextBox 31"/>
          <p:cNvSpPr txBox="1"/>
          <p:nvPr/>
        </p:nvSpPr>
        <p:spPr>
          <a:xfrm>
            <a:off x="7607808" y="2125979"/>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Pool enforcement.  </a:t>
            </a:r>
            <a:r>
              <a:rPr sz="980" b="0" i="0">
                <a:solidFill>
                  <a:srgbClr val="3D3731"/>
                </a:solidFill>
                <a:latin typeface="Barlow"/>
                <a:ea typeface="Barlow"/>
                <a:cs typeface="Barlow"/>
              </a:rPr>
              <a:t>Menolak withdraw di atas cap secara on-chain. Belum diterapkan ke pool live; pool live tidak punya upgrade hook.</a:t>
            </a:r>
          </a:p>
        </p:txBody>
      </p:sp>
      <p:sp>
        <p:nvSpPr>
          <p:cNvPr id="33" name="Rectangle 32"/>
          <p:cNvSpPr/>
          <p:nvPr/>
        </p:nvSpPr>
        <p:spPr>
          <a:xfrm>
            <a:off x="6364224" y="270662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4224" y="2820924"/>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PREVIEW TRACK</a:t>
            </a:r>
          </a:p>
        </p:txBody>
      </p:sp>
      <p:sp>
        <p:nvSpPr>
          <p:cNvPr id="35" name="TextBox 34"/>
          <p:cNvSpPr txBox="1"/>
          <p:nvPr/>
        </p:nvSpPr>
        <p:spPr>
          <a:xfrm>
            <a:off x="7607808" y="278892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Akumulator liabilitas eksak.  </a:t>
            </a:r>
            <a:r>
              <a:rPr sz="980" b="0" i="0">
                <a:solidFill>
                  <a:srgbClr val="3D3731"/>
                </a:solidFill>
                <a:latin typeface="Barlow"/>
                <a:ea typeface="Barlow"/>
                <a:cs typeface="Barlow"/>
              </a:rPr>
              <a:t>Menambah +amount saat deposit dan -released saat withdraw untuk proof of reserves. Belum pernah di-attest ke pool live: latest_attestation() null dan covered_count() 0.</a:t>
            </a:r>
          </a:p>
        </p:txBody>
      </p:sp>
      <p:sp>
        <p:nvSpPr>
          <p:cNvPr id="36" name="Rectangle 35"/>
          <p:cNvSpPr/>
          <p:nvPr/>
        </p:nvSpPr>
        <p:spPr>
          <a:xfrm>
            <a:off x="6364224" y="336956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4224" y="3483864"/>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PREVIEW TRACK</a:t>
            </a:r>
          </a:p>
        </p:txBody>
      </p:sp>
      <p:sp>
        <p:nvSpPr>
          <p:cNvPr id="38" name="TextBox 37"/>
          <p:cNvSpPr txBox="1"/>
          <p:nvPr/>
        </p:nvSpPr>
        <p:spPr>
          <a:xfrm>
            <a:off x="7607808" y="345186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Timelock admin.  </a:t>
            </a:r>
            <a:r>
              <a:rPr sz="980" b="0" i="0">
                <a:solidFill>
                  <a:srgbClr val="3D3731"/>
                </a:solidFill>
                <a:latin typeface="Barlow"/>
                <a:ea typeface="Barlow"/>
                <a:cs typeface="Barlow"/>
              </a:rPr>
              <a:t>Propose, delay, execute untuk lima setter penting. Di pool live setter itu masih langsung jalan.</a:t>
            </a:r>
          </a:p>
        </p:txBody>
      </p:sp>
      <p:sp>
        <p:nvSpPr>
          <p:cNvPr id="39" name="Rectangle 38"/>
          <p:cNvSpPr/>
          <p:nvPr/>
        </p:nvSpPr>
        <p:spPr>
          <a:xfrm>
            <a:off x="6364224" y="403250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4224" y="414680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41" name="TextBox 40"/>
          <p:cNvSpPr txBox="1"/>
          <p:nvPr/>
        </p:nvSpPr>
        <p:spPr>
          <a:xfrm>
            <a:off x="7607808" y="411480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Travel Rule lewat TRP 3.2.1.  </a:t>
            </a:r>
            <a:r>
              <a:rPr sz="980" b="0" i="0">
                <a:solidFill>
                  <a:srgbClr val="3D3731"/>
                </a:solidFill>
                <a:latin typeface="Barlow"/>
                <a:ea typeface="Barlow"/>
                <a:cs typeface="Barlow"/>
              </a:rPr>
              <a:t>Payload IVMS101 dengan tanda tangan Ed25519 yang diverifikasi saat diterima. Belum ada mTLS dan direktori live, jadi kedua ujungnya masih bisa operator yang sama.</a:t>
            </a:r>
          </a:p>
        </p:txBody>
      </p:sp>
      <p:sp>
        <p:nvSpPr>
          <p:cNvPr id="42" name="Rectangle 41"/>
          <p:cNvSpPr/>
          <p:nvPr/>
        </p:nvSpPr>
        <p:spPr>
          <a:xfrm>
            <a:off x="6364224" y="469544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809744"/>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BELUM DI-DEPLOY</a:t>
            </a:r>
          </a:p>
        </p:txBody>
      </p:sp>
      <p:sp>
        <p:nvSpPr>
          <p:cNvPr id="44" name="TextBox 43"/>
          <p:cNvSpPr txBox="1"/>
          <p:nvPr/>
        </p:nvSpPr>
        <p:spPr>
          <a:xfrm>
            <a:off x="7607808" y="477774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Node companion TRISA.  </a:t>
            </a:r>
            <a:r>
              <a:rPr sz="980" b="0" i="0">
                <a:solidFill>
                  <a:srgbClr val="3D3731"/>
                </a:solidFill>
                <a:latin typeface="Barlow"/>
                <a:ea typeface="Barlow"/>
                <a:cs typeface="Barlow"/>
              </a:rPr>
              <a:t>Sudah ditulis dan ada di repo. Aktivasinya butuh VASP uji terdaftar, sertifikat, dan endpoint yang di-host.</a:t>
            </a:r>
          </a:p>
        </p:txBody>
      </p:sp>
      <p:sp>
        <p:nvSpPr>
          <p:cNvPr id="45" name="Rectangle 44"/>
          <p:cNvSpPr/>
          <p:nvPr/>
        </p:nvSpPr>
        <p:spPr>
          <a:xfrm>
            <a:off x="6364224" y="535838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64224" y="547268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47" name="TextBox 46"/>
          <p:cNvSpPr txBox="1"/>
          <p:nvPr/>
        </p:nvSpPr>
        <p:spPr>
          <a:xfrm>
            <a:off x="7607808" y="5440679"/>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Ekspor sesuai yurisdiksi.  </a:t>
            </a:r>
            <a:r>
              <a:rPr sz="980" b="0" i="0">
                <a:solidFill>
                  <a:srgbClr val="3D3731"/>
                </a:solidFill>
                <a:latin typeface="Barlow"/>
                <a:ea typeface="Barlow"/>
                <a:cs typeface="Barlow"/>
              </a:rPr>
              <a:t>PPATK LTKL untuk Indonesia, BSP Circular 1108 untuk Filipina, EU TFR. Ambang yang tidak bisa diuji dinyatakan begitu, bukan ditebak.</a:t>
            </a:r>
          </a:p>
        </p:txBody>
      </p:sp>
      <p:sp>
        <p:nvSpPr>
          <p:cNvPr id="48" name="Rectangle 47"/>
          <p:cNvSpPr/>
          <p:nvPr/>
        </p:nvSpPr>
        <p:spPr>
          <a:xfrm>
            <a:off x="6364224" y="602132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09/19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SUDAH JALAN 1/3</a:t>
            </a:r>
          </a:p>
        </p:txBody>
      </p:sp>
      <p:pic>
        <p:nvPicPr>
          <p:cNvPr id="50" name="Picture 49"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44500"/>
          </a:xfrm>
          <a:prstGeom prst="rect">
            <a:avLst/>
          </a:prstGeom>
          <a:noFill/>
        </p:spPr>
        <p:txBody>
          <a:bodyPr wrap="square" lIns="0" rIns="0" tIns="0" bIns="0" anchor="t">
            <a:spAutoFit/>
          </a:bodyPr>
          <a:lstStyle/>
          <a:p>
            <a:pPr algn="l">
              <a:lnSpc>
                <a:spcPct val="104000"/>
              </a:lnSpc>
            </a:pPr>
            <a:r>
              <a:rPr sz="2800" b="0" i="0" spc="33">
                <a:solidFill>
                  <a:srgbClr val="161311"/>
                </a:solidFill>
                <a:latin typeface="Saira Stencil One"/>
                <a:ea typeface="Saira Stencil One"/>
                <a:cs typeface="Saira Stencil One"/>
              </a:rPr>
              <a:t>SEMUA YANG SUDAH JALAN · 2 DARI 3</a:t>
            </a:r>
          </a:p>
        </p:txBody>
      </p:sp>
      <p:sp>
        <p:nvSpPr>
          <p:cNvPr id="4" name="Rectangle 3"/>
          <p:cNvSpPr/>
          <p:nvPr/>
        </p:nvSpPr>
        <p:spPr>
          <a:xfrm>
            <a:off x="457200"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TEPI UANG</a:t>
            </a:r>
          </a:p>
        </p:txBody>
      </p:sp>
      <p:sp>
        <p:nvSpPr>
          <p:cNvPr id="6" name="TextBox 5"/>
          <p:cNvSpPr txBox="1"/>
          <p:nvPr/>
        </p:nvSpPr>
        <p:spPr>
          <a:xfrm>
            <a:off x="969263"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7 ITEM</a:t>
            </a:r>
          </a:p>
        </p:txBody>
      </p:sp>
      <p:sp>
        <p:nvSpPr>
          <p:cNvPr id="7" name="TextBox 6"/>
          <p:cNvSpPr txBox="1"/>
          <p:nvPr/>
        </p:nvSpPr>
        <p:spPr>
          <a:xfrm>
            <a:off x="676656" y="149504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8" name="TextBox 7"/>
          <p:cNvSpPr txBox="1"/>
          <p:nvPr/>
        </p:nvSpPr>
        <p:spPr>
          <a:xfrm>
            <a:off x="1920240" y="1463039"/>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SEP stack anchor.  </a:t>
            </a:r>
            <a:r>
              <a:rPr sz="980" b="0" i="0">
                <a:solidFill>
                  <a:srgbClr val="3D3731"/>
                </a:solidFill>
                <a:latin typeface="Barlow"/>
                <a:ea typeface="Barlow"/>
                <a:cs typeface="Barlow"/>
              </a:rPr>
              <a:t>SEP-1 discovery, SEP-10 web-auth dengan challenge bertanda tangan, SEP-24 deposit dan withdraw, SEP-38 firm quote. Terhadap anchor rujukan SDF: tanpa KYC, tanpa fiat nyata.</a:t>
            </a:r>
          </a:p>
        </p:txBody>
      </p:sp>
      <p:sp>
        <p:nvSpPr>
          <p:cNvPr id="9" name="Rectangle 8"/>
          <p:cNvSpPr/>
          <p:nvPr/>
        </p:nvSpPr>
        <p:spPr>
          <a:xfrm>
            <a:off x="676656" y="204368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15798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1" name="TextBox 10"/>
          <p:cNvSpPr txBox="1"/>
          <p:nvPr/>
        </p:nvSpPr>
        <p:spPr>
          <a:xfrm>
            <a:off x="1920240" y="2125979"/>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Settlement dijaga oracle.  </a:t>
            </a:r>
            <a:r>
              <a:rPr sz="980" b="0" i="0">
                <a:solidFill>
                  <a:srgbClr val="3D3731"/>
                </a:solidFill>
                <a:latin typeface="Barlow"/>
                <a:ea typeface="Barlow"/>
                <a:cs typeface="Barlow"/>
              </a:rPr>
              <a:t>Reflector SEP-40 dibaca on-chain di dalam withdraw, pelepasan dana dijaga lantai min-receive dari median lima record. Menutup diri dengan FxUnavailable atau SlippageExceeded.</a:t>
            </a:r>
          </a:p>
        </p:txBody>
      </p:sp>
      <p:sp>
        <p:nvSpPr>
          <p:cNvPr id="12" name="Rectangle 11"/>
          <p:cNvSpPr/>
          <p:nvPr/>
        </p:nvSpPr>
        <p:spPr>
          <a:xfrm>
            <a:off x="676656" y="270662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82092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4" name="TextBox 13"/>
          <p:cNvSpPr txBox="1"/>
          <p:nvPr/>
        </p:nvSpPr>
        <p:spPr>
          <a:xfrm>
            <a:off x="1920240" y="278892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Jalur jual Onramper.  </a:t>
            </a:r>
            <a:r>
              <a:rPr sz="980" b="0" i="0">
                <a:solidFill>
                  <a:srgbClr val="3D3731"/>
                </a:solidFill>
                <a:latin typeface="Barlow"/>
                <a:ea typeface="Barlow"/>
                <a:cs typeface="Barlow"/>
              </a:rPr>
              <a:t>Off-ramp kedua lewat agregator, bukan anchor. Satu panggilan live mengembalikan quote untuk USD, MXN, BRL, dan IDR, dan tidak ada penyedia untuk PHP.</a:t>
            </a:r>
          </a:p>
        </p:txBody>
      </p:sp>
      <p:sp>
        <p:nvSpPr>
          <p:cNvPr id="15" name="Rectangle 14"/>
          <p:cNvSpPr/>
          <p:nvPr/>
        </p:nvSpPr>
        <p:spPr>
          <a:xfrm>
            <a:off x="676656" y="336956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48386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7" name="TextBox 16"/>
          <p:cNvSpPr txBox="1"/>
          <p:nvPr/>
        </p:nvSpPr>
        <p:spPr>
          <a:xfrm>
            <a:off x="1920240" y="345186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Circle CCTP V2.  </a:t>
            </a:r>
            <a:r>
              <a:rPr sz="980" b="0" i="0">
                <a:solidFill>
                  <a:srgbClr val="3D3731"/>
                </a:solidFill>
                <a:latin typeface="Barlow"/>
                <a:ea typeface="Barlow"/>
                <a:cs typeface="Barlow"/>
              </a:rPr>
              <a:t>Jembatan USDC dua arah antara testnet EVM dan Stellar, domain 27. Kaki burn-nya butuh wallet EVM pengguna untuk menandatangani.</a:t>
            </a:r>
          </a:p>
        </p:txBody>
      </p:sp>
      <p:sp>
        <p:nvSpPr>
          <p:cNvPr id="18" name="Rectangle 17"/>
          <p:cNvSpPr/>
          <p:nvPr/>
        </p:nvSpPr>
        <p:spPr>
          <a:xfrm>
            <a:off x="676656" y="403250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14680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0" name="TextBox 19"/>
          <p:cNvSpPr txBox="1"/>
          <p:nvPr/>
        </p:nvSpPr>
        <p:spPr>
          <a:xfrm>
            <a:off x="1920240" y="411480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Fee-bump native (CAP-15).  </a:t>
            </a:r>
            <a:r>
              <a:rPr sz="980" b="0" i="0">
                <a:solidFill>
                  <a:srgbClr val="3D3731"/>
                </a:solidFill>
                <a:latin typeface="Barlow"/>
                <a:ea typeface="Barlow"/>
                <a:cs typeface="Barlow"/>
              </a:rPr>
              <a:t>Relayer yang membayar fee, jadi keluarga penerima tidak perlu memegang XLM.</a:t>
            </a:r>
          </a:p>
        </p:txBody>
      </p:sp>
      <p:sp>
        <p:nvSpPr>
          <p:cNvPr id="21" name="Rectangle 20"/>
          <p:cNvSpPr/>
          <p:nvPr/>
        </p:nvSpPr>
        <p:spPr>
          <a:xfrm>
            <a:off x="676656" y="469544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480974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3" name="TextBox 22"/>
          <p:cNvSpPr txBox="1"/>
          <p:nvPr/>
        </p:nvSpPr>
        <p:spPr>
          <a:xfrm>
            <a:off x="1920240" y="4777740"/>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Blend v2.  </a:t>
            </a:r>
            <a:r>
              <a:rPr sz="980" b="0" i="0">
                <a:solidFill>
                  <a:srgbClr val="3D3731"/>
                </a:solidFill>
                <a:latin typeface="Barlow"/>
                <a:ea typeface="Barlow"/>
                <a:cs typeface="Barlow"/>
              </a:rPr>
              <a:t>USDC yang menganggur bisa menghasilkan yield testnet dari sisi penerima.</a:t>
            </a:r>
          </a:p>
        </p:txBody>
      </p:sp>
      <p:sp>
        <p:nvSpPr>
          <p:cNvPr id="24" name="Rectangle 23"/>
          <p:cNvSpPr/>
          <p:nvPr/>
        </p:nvSpPr>
        <p:spPr>
          <a:xfrm>
            <a:off x="676656" y="535838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547268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6" name="TextBox 25"/>
          <p:cNvSpPr txBox="1"/>
          <p:nvPr/>
        </p:nvSpPr>
        <p:spPr>
          <a:xfrm>
            <a:off x="1920240" y="5440679"/>
            <a:ext cx="3895344" cy="589788"/>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URI pembayaran SEP-7.  </a:t>
            </a:r>
            <a:r>
              <a:rPr sz="980" b="0" i="0">
                <a:solidFill>
                  <a:srgbClr val="3D3731"/>
                </a:solidFill>
                <a:latin typeface="Barlow"/>
                <a:ea typeface="Barlow"/>
                <a:cs typeface="Barlow"/>
              </a:rPr>
              <a:t>Ditandatangani domain key hanya setelah pemanggilnya membuktikan dia memegang akun payee.</a:t>
            </a:r>
          </a:p>
        </p:txBody>
      </p:sp>
      <p:sp>
        <p:nvSpPr>
          <p:cNvPr id="27" name="Rectangle 26"/>
          <p:cNvSpPr/>
          <p:nvPr/>
        </p:nvSpPr>
        <p:spPr>
          <a:xfrm>
            <a:off x="676656" y="602132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44768"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ectangle 28"/>
          <p:cNvSpPr/>
          <p:nvPr/>
        </p:nvSpPr>
        <p:spPr>
          <a:xfrm>
            <a:off x="6144768"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PERMUKAAN OPERATOR</a:t>
            </a:r>
          </a:p>
        </p:txBody>
      </p:sp>
      <p:sp>
        <p:nvSpPr>
          <p:cNvPr id="30" name="TextBox 29"/>
          <p:cNvSpPr txBox="1"/>
          <p:nvPr/>
        </p:nvSpPr>
        <p:spPr>
          <a:xfrm>
            <a:off x="6656831"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6 ITEM</a:t>
            </a:r>
          </a:p>
        </p:txBody>
      </p:sp>
      <p:sp>
        <p:nvSpPr>
          <p:cNvPr id="31" name="TextBox 30"/>
          <p:cNvSpPr txBox="1"/>
          <p:nvPr/>
        </p:nvSpPr>
        <p:spPr>
          <a:xfrm>
            <a:off x="6364224" y="149504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32" name="TextBox 31"/>
          <p:cNvSpPr txBox="1"/>
          <p:nvPr/>
        </p:nvSpPr>
        <p:spPr>
          <a:xfrm>
            <a:off x="7607808" y="1463039"/>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Kesehatan pool, dibaca live.  </a:t>
            </a:r>
            <a:r>
              <a:rPr sz="980" b="0" i="0">
                <a:solidFill>
                  <a:srgbClr val="3D3731"/>
                </a:solidFill>
                <a:latin typeface="Barlow"/>
                <a:ea typeface="Barlow"/>
                <a:cs typeface="Barlow"/>
              </a:rPr>
              <a:t>Commitment, isi tree, saldo kustodi, dan root terkini langsung dari Soroban RPC, tanpa indexer dan tanpa relay tepercaya.</a:t>
            </a:r>
          </a:p>
        </p:txBody>
      </p:sp>
      <p:sp>
        <p:nvSpPr>
          <p:cNvPr id="33" name="Rectangle 32"/>
          <p:cNvSpPr/>
          <p:nvPr/>
        </p:nvSpPr>
        <p:spPr>
          <a:xfrm>
            <a:off x="6364224" y="2153412"/>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4224" y="2267712"/>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35" name="TextBox 34"/>
          <p:cNvSpPr txBox="1"/>
          <p:nvPr/>
        </p:nvSpPr>
        <p:spPr>
          <a:xfrm>
            <a:off x="7607808" y="2235708"/>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Inventaris kontrak.  </a:t>
            </a:r>
            <a:r>
              <a:rPr sz="980" b="0" i="0">
                <a:solidFill>
                  <a:srgbClr val="3D3731"/>
                </a:solidFill>
                <a:latin typeface="Barlow"/>
                <a:ea typeface="Barlow"/>
                <a:cs typeface="Barlow"/>
              </a:rPr>
              <a:t>Tiap kontrak yang ter-deploy dengan tautan explorer-nya, plus pengecekan bahwa aset settlement-nya memang USDC SAC yang benar.</a:t>
            </a:r>
          </a:p>
        </p:txBody>
      </p:sp>
      <p:sp>
        <p:nvSpPr>
          <p:cNvPr id="36" name="Rectangle 35"/>
          <p:cNvSpPr/>
          <p:nvPr/>
        </p:nvSpPr>
        <p:spPr>
          <a:xfrm>
            <a:off x="6364224" y="2926080"/>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4224" y="3040380"/>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38" name="TextBox 37"/>
          <p:cNvSpPr txBox="1"/>
          <p:nvPr/>
        </p:nvSpPr>
        <p:spPr>
          <a:xfrm>
            <a:off x="7607808" y="3008376"/>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Heuristik pemantauan.  </a:t>
            </a:r>
            <a:r>
              <a:rPr sz="980" b="0" i="0">
                <a:solidFill>
                  <a:srgbClr val="3D3731"/>
                </a:solidFill>
                <a:latin typeface="Barlow"/>
                <a:ea typeface="Barlow"/>
                <a:cs typeface="Barlow"/>
              </a:rPr>
              <a:t>Kecepatan deposit per jam dan per hari, sinyal structuring mendekati cap, sinyal aktor berulang, dan tampilan event admin atas registry dan timelock.</a:t>
            </a:r>
          </a:p>
        </p:txBody>
      </p:sp>
      <p:sp>
        <p:nvSpPr>
          <p:cNvPr id="39" name="Rectangle 38"/>
          <p:cNvSpPr/>
          <p:nvPr/>
        </p:nvSpPr>
        <p:spPr>
          <a:xfrm>
            <a:off x="6364224" y="3698748"/>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4224" y="3813048"/>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41" name="TextBox 40"/>
          <p:cNvSpPr txBox="1"/>
          <p:nvPr/>
        </p:nvSpPr>
        <p:spPr>
          <a:xfrm>
            <a:off x="7607808" y="3781044"/>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Pembacaan error per transaksi.  </a:t>
            </a:r>
            <a:r>
              <a:rPr sz="980" b="0" i="0">
                <a:solidFill>
                  <a:srgbClr val="3D3731"/>
                </a:solidFill>
                <a:latin typeface="Barlow"/>
                <a:ea typeface="Barlow"/>
                <a:cs typeface="Barlow"/>
              </a:rPr>
              <a:t>Kode error kontrak persis dari diagnostik RPC. Lewat sekitar 7 hari, kegagalan ditandai "aged out of RPC retention", bukan "tidak ada error".</a:t>
            </a:r>
          </a:p>
        </p:txBody>
      </p:sp>
      <p:sp>
        <p:nvSpPr>
          <p:cNvPr id="42" name="Rectangle 41"/>
          <p:cNvSpPr/>
          <p:nvPr/>
        </p:nvSpPr>
        <p:spPr>
          <a:xfrm>
            <a:off x="6364224" y="4471416"/>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585716"/>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44" name="TextBox 43"/>
          <p:cNvSpPr txBox="1"/>
          <p:nvPr/>
        </p:nvSpPr>
        <p:spPr>
          <a:xfrm>
            <a:off x="7607808" y="4553712"/>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Alerting.  </a:t>
            </a:r>
            <a:r>
              <a:rPr sz="980" b="0" i="0">
                <a:solidFill>
                  <a:srgbClr val="3D3731"/>
                </a:solidFill>
                <a:latin typeface="Barlow"/>
                <a:ea typeface="Barlow"/>
                <a:cs typeface="Barlow"/>
              </a:rPr>
              <a:t>Web Push terbukti end to end, Sentry terpasang termasuk cron monitor dan diam sampai DSN diisi. Semua ambang sengaja dikosongkan, karena belum ada trafik untuk jadi baseline.</a:t>
            </a:r>
          </a:p>
        </p:txBody>
      </p:sp>
      <p:sp>
        <p:nvSpPr>
          <p:cNvPr id="45" name="Rectangle 44"/>
          <p:cNvSpPr/>
          <p:nvPr/>
        </p:nvSpPr>
        <p:spPr>
          <a:xfrm>
            <a:off x="6364224" y="524408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64224" y="535838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47" name="TextBox 46"/>
          <p:cNvSpPr txBox="1"/>
          <p:nvPr/>
        </p:nvSpPr>
        <p:spPr>
          <a:xfrm>
            <a:off x="7607808" y="5326379"/>
            <a:ext cx="3895344" cy="69951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Pembangun perintah admin.  </a:t>
            </a:r>
            <a:r>
              <a:rPr sz="980" b="0" i="0">
                <a:solidFill>
                  <a:srgbClr val="3D3731"/>
                </a:solidFill>
                <a:latin typeface="Barlow"/>
                <a:ea typeface="Barlow"/>
                <a:cs typeface="Barlow"/>
              </a:rPr>
              <a:t>Aksi admin menghasilkan perintah bertanda tangan untuk dijalankan offline. Admin key tidak pernah masuk browser.</a:t>
            </a:r>
          </a:p>
        </p:txBody>
      </p:sp>
      <p:sp>
        <p:nvSpPr>
          <p:cNvPr id="48" name="Rectangle 47"/>
          <p:cNvSpPr/>
          <p:nvPr/>
        </p:nvSpPr>
        <p:spPr>
          <a:xfrm>
            <a:off x="6364224" y="6016751"/>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10/19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SUDAH JALAN 2/3</a:t>
            </a:r>
          </a:p>
        </p:txBody>
      </p:sp>
      <p:pic>
        <p:nvPicPr>
          <p:cNvPr id="50" name="Picture 49"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44500"/>
          </a:xfrm>
          <a:prstGeom prst="rect">
            <a:avLst/>
          </a:prstGeom>
          <a:noFill/>
        </p:spPr>
        <p:txBody>
          <a:bodyPr wrap="square" lIns="0" rIns="0" tIns="0" bIns="0" anchor="t">
            <a:spAutoFit/>
          </a:bodyPr>
          <a:lstStyle/>
          <a:p>
            <a:pPr algn="l">
              <a:lnSpc>
                <a:spcPct val="104000"/>
              </a:lnSpc>
            </a:pPr>
            <a:r>
              <a:rPr sz="2800" b="0" i="0" spc="33">
                <a:solidFill>
                  <a:srgbClr val="161311"/>
                </a:solidFill>
                <a:latin typeface="Saira Stencil One"/>
                <a:ea typeface="Saira Stencil One"/>
                <a:cs typeface="Saira Stencil One"/>
              </a:rPr>
              <a:t>SEMUA YANG SUDAH JALAN · 3 DARI 3</a:t>
            </a:r>
          </a:p>
        </p:txBody>
      </p:sp>
      <p:sp>
        <p:nvSpPr>
          <p:cNvPr id="4" name="Rectangle 3"/>
          <p:cNvSpPr/>
          <p:nvPr/>
        </p:nvSpPr>
        <p:spPr>
          <a:xfrm>
            <a:off x="457200"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KELUARGA DISCLOSURE</a:t>
            </a:r>
          </a:p>
        </p:txBody>
      </p:sp>
      <p:sp>
        <p:nvSpPr>
          <p:cNvPr id="6" name="TextBox 5"/>
          <p:cNvSpPr txBox="1"/>
          <p:nvPr/>
        </p:nvSpPr>
        <p:spPr>
          <a:xfrm>
            <a:off x="969263"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5 ITEM</a:t>
            </a:r>
          </a:p>
        </p:txBody>
      </p:sp>
      <p:sp>
        <p:nvSpPr>
          <p:cNvPr id="7" name="TextBox 6"/>
          <p:cNvSpPr txBox="1"/>
          <p:nvPr/>
        </p:nvSpPr>
        <p:spPr>
          <a:xfrm>
            <a:off x="676656" y="149504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8" name="TextBox 7"/>
          <p:cNvSpPr txBox="1"/>
          <p:nvPr/>
        </p:nvSpPr>
        <p:spPr>
          <a:xfrm>
            <a:off x="1920240" y="1463039"/>
            <a:ext cx="3895344" cy="85953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Empat jenis disclosure.  </a:t>
            </a:r>
            <a:r>
              <a:rPr sz="980" b="0" i="0">
                <a:solidFill>
                  <a:srgbClr val="3D3731"/>
                </a:solidFill>
                <a:latin typeface="Barlow"/>
                <a:ea typeface="Barlow"/>
                <a:cs typeface="Barlow"/>
              </a:rPr>
              <a:t>Exact, threshold, two-sided range, dan portfolio aggregate, masing-masing punya circuit dan kontrak verifier Soroban-nya sendiri.</a:t>
            </a:r>
          </a:p>
        </p:txBody>
      </p:sp>
      <p:sp>
        <p:nvSpPr>
          <p:cNvPr id="9" name="Rectangle 8"/>
          <p:cNvSpPr/>
          <p:nvPr/>
        </p:nvSpPr>
        <p:spPr>
          <a:xfrm>
            <a:off x="676656" y="2313432"/>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427732"/>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1" name="TextBox 10"/>
          <p:cNvSpPr txBox="1"/>
          <p:nvPr/>
        </p:nvSpPr>
        <p:spPr>
          <a:xfrm>
            <a:off x="1920240" y="2395728"/>
            <a:ext cx="3895344" cy="85953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Registry audit request on-chain.  </a:t>
            </a:r>
            <a:r>
              <a:rPr sz="980" b="0" i="0">
                <a:solidFill>
                  <a:srgbClr val="3D3731"/>
                </a:solidFill>
                <a:latin typeface="Barlow"/>
                <a:ea typeface="Barlow"/>
                <a:cs typeface="Barlow"/>
              </a:rPr>
              <a:t>register_audit_request mengunci himpunan yang wajib; disclose_aggregate menolak context hash yang tidak pernah didaftarkan auditor (UnknownAuditRequest, #15).</a:t>
            </a:r>
          </a:p>
        </p:txBody>
      </p:sp>
      <p:sp>
        <p:nvSpPr>
          <p:cNvPr id="12" name="Rectangle 11"/>
          <p:cNvSpPr/>
          <p:nvPr/>
        </p:nvSpPr>
        <p:spPr>
          <a:xfrm>
            <a:off x="676656" y="3246120"/>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360420"/>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PREVIEW TRACK</a:t>
            </a:r>
          </a:p>
        </p:txBody>
      </p:sp>
      <p:sp>
        <p:nvSpPr>
          <p:cNvPr id="14" name="TextBox 13"/>
          <p:cNvSpPr txBox="1"/>
          <p:nvPr/>
        </p:nvSpPr>
        <p:spPr>
          <a:xfrm>
            <a:off x="1920240" y="3328416"/>
            <a:ext cx="3895344" cy="85953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Cap terikat ke permintaannya.  </a:t>
            </a:r>
            <a:r>
              <a:rPr sz="980" b="0" i="0">
                <a:solidFill>
                  <a:srgbClr val="3D3731"/>
                </a:solidFill>
                <a:latin typeface="Barlow"/>
                <a:ea typeface="Barlow"/>
                <a:cs typeface="Barlow"/>
              </a:rPr>
              <a:t>AuditCapMismatch menolak cap selain yang didaftarkan. Baru di preview pool; pool live masih menerima cap bebas.</a:t>
            </a:r>
          </a:p>
        </p:txBody>
      </p:sp>
      <p:sp>
        <p:nvSpPr>
          <p:cNvPr id="15" name="Rectangle 14"/>
          <p:cNvSpPr/>
          <p:nvPr/>
        </p:nvSpPr>
        <p:spPr>
          <a:xfrm>
            <a:off x="676656" y="4178808"/>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4293108"/>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17" name="TextBox 16"/>
          <p:cNvSpPr txBox="1"/>
          <p:nvPr/>
        </p:nvSpPr>
        <p:spPr>
          <a:xfrm>
            <a:off x="1920240" y="4261104"/>
            <a:ext cx="3895344" cy="85953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Verifier resi publik.  </a:t>
            </a:r>
            <a:r>
              <a:rPr sz="980" b="0" i="0">
                <a:solidFill>
                  <a:srgbClr val="3D3731"/>
                </a:solidFill>
                <a:latin typeface="Barlow"/>
                <a:ea typeface="Barlow"/>
                <a:cs typeface="Barlow"/>
              </a:rPr>
              <a:t>Halaman /verify plus API status note membuat siapa pun bisa mengecek ulang resi atau status terpakainya note lewat Soroban RPC publik, tanpa percaya operator.</a:t>
            </a:r>
          </a:p>
        </p:txBody>
      </p:sp>
      <p:sp>
        <p:nvSpPr>
          <p:cNvPr id="18" name="Rectangle 17"/>
          <p:cNvSpPr/>
          <p:nvPr/>
        </p:nvSpPr>
        <p:spPr>
          <a:xfrm>
            <a:off x="676656" y="5111496"/>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5225796"/>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0" name="TextBox 19"/>
          <p:cNvSpPr txBox="1"/>
          <p:nvPr/>
        </p:nvSpPr>
        <p:spPr>
          <a:xfrm>
            <a:off x="1920240" y="5193792"/>
            <a:ext cx="3895344" cy="859536"/>
          </a:xfrm>
          <a:prstGeom prst="rect">
            <a:avLst/>
          </a:prstGeom>
          <a:noFill/>
        </p:spPr>
        <p:txBody>
          <a:bodyPr wrap="square" lIns="0" rIns="0" tIns="0" bIns="0" anchor="t">
            <a:spAutoFit/>
          </a:bodyPr>
          <a:lstStyle/>
          <a:p>
            <a:pPr algn="l">
              <a:lnSpc>
                <a:spcPct val="134000"/>
              </a:lnSpc>
            </a:pPr>
            <a:r>
              <a:rPr sz="980" b="1" i="0">
                <a:solidFill>
                  <a:srgbClr val="161311"/>
                </a:solidFill>
                <a:latin typeface="Barlow"/>
                <a:ea typeface="Barlow"/>
                <a:cs typeface="Barlow"/>
              </a:rPr>
              <a:t>Resi yang bisa dipegang regulator.  </a:t>
            </a:r>
            <a:r>
              <a:rPr sz="980" b="0" i="0">
                <a:solidFill>
                  <a:srgbClr val="3D3731"/>
                </a:solidFill>
                <a:latin typeface="Barlow"/>
                <a:ea typeface="Barlow"/>
                <a:cs typeface="Barlow"/>
              </a:rPr>
              <a:t>Note view-only, tautan bukti pembayaran, dan atestasi kurs bertanda tangan oracle di quote off-ramp.</a:t>
            </a:r>
          </a:p>
        </p:txBody>
      </p:sp>
      <p:sp>
        <p:nvSpPr>
          <p:cNvPr id="21" name="Rectangle 20"/>
          <p:cNvSpPr/>
          <p:nvPr/>
        </p:nvSpPr>
        <p:spPr>
          <a:xfrm>
            <a:off x="676656" y="604418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ectangle 22"/>
          <p:cNvSpPr/>
          <p:nvPr/>
        </p:nvSpPr>
        <p:spPr>
          <a:xfrm>
            <a:off x="6144768"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KENYAMANAN PENGGUNA</a:t>
            </a:r>
          </a:p>
        </p:txBody>
      </p:sp>
      <p:sp>
        <p:nvSpPr>
          <p:cNvPr id="24" name="TextBox 23"/>
          <p:cNvSpPr txBox="1"/>
          <p:nvPr/>
        </p:nvSpPr>
        <p:spPr>
          <a:xfrm>
            <a:off x="6656831"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8 ITEM</a:t>
            </a:r>
          </a:p>
        </p:txBody>
      </p:sp>
      <p:sp>
        <p:nvSpPr>
          <p:cNvPr id="25" name="TextBox 24"/>
          <p:cNvSpPr txBox="1"/>
          <p:nvPr/>
        </p:nvSpPr>
        <p:spPr>
          <a:xfrm>
            <a:off x="6364224" y="1495043"/>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6" name="TextBox 25"/>
          <p:cNvSpPr txBox="1"/>
          <p:nvPr/>
        </p:nvSpPr>
        <p:spPr>
          <a:xfrm>
            <a:off x="7607808" y="1463039"/>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Wallet tanpa instal.  </a:t>
            </a:r>
            <a:r>
              <a:rPr sz="930" b="0" i="0">
                <a:solidFill>
                  <a:srgbClr val="3D3731"/>
                </a:solidFill>
                <a:latin typeface="Barlow"/>
                <a:ea typeface="Barlow"/>
                <a:cs typeface="Barlow"/>
              </a:rPr>
              <a:t>Satu ketuk pakai testnet key bawaan, atau Freighter untuk key sendiri.</a:t>
            </a:r>
          </a:p>
        </p:txBody>
      </p:sp>
      <p:sp>
        <p:nvSpPr>
          <p:cNvPr id="27" name="Rectangle 26"/>
          <p:cNvSpPr/>
          <p:nvPr/>
        </p:nvSpPr>
        <p:spPr>
          <a:xfrm>
            <a:off x="6364224" y="192938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204368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29" name="TextBox 28"/>
          <p:cNvSpPr txBox="1"/>
          <p:nvPr/>
        </p:nvSpPr>
        <p:spPr>
          <a:xfrm>
            <a:off x="7607808" y="2011679"/>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Claim link dan QR.  </a:t>
            </a:r>
            <a:r>
              <a:rPr sz="930" b="0" i="0">
                <a:solidFill>
                  <a:srgbClr val="3D3731"/>
                </a:solidFill>
                <a:latin typeface="Barlow"/>
                <a:ea typeface="Barlow"/>
                <a:cs typeface="Barlow"/>
              </a:rPr>
              <a:t>Bisa dibungkus PIN, dengan QR untuk klaim dan untuk tautan verifikasi.</a:t>
            </a:r>
          </a:p>
        </p:txBody>
      </p:sp>
      <p:sp>
        <p:nvSpPr>
          <p:cNvPr id="30" name="Rectangle 29"/>
          <p:cNvSpPr/>
          <p:nvPr/>
        </p:nvSpPr>
        <p:spPr>
          <a:xfrm>
            <a:off x="6364224" y="247802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259232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32" name="TextBox 31"/>
          <p:cNvSpPr txBox="1"/>
          <p:nvPr/>
        </p:nvSpPr>
        <p:spPr>
          <a:xfrm>
            <a:off x="7607808" y="2560320"/>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Payment request.  </a:t>
            </a:r>
            <a:r>
              <a:rPr sz="930" b="0" i="0">
                <a:solidFill>
                  <a:srgbClr val="3D3731"/>
                </a:solidFill>
                <a:latin typeface="Barlow"/>
                <a:ea typeface="Barlow"/>
                <a:cs typeface="Barlow"/>
              </a:rPr>
              <a:t>Penerima meminta nominal; pengirim memuat request itu untuk mengisi form kirim.</a:t>
            </a:r>
          </a:p>
        </p:txBody>
      </p:sp>
      <p:sp>
        <p:nvSpPr>
          <p:cNvPr id="33" name="Rectangle 32"/>
          <p:cNvSpPr/>
          <p:nvPr/>
        </p:nvSpPr>
        <p:spPr>
          <a:xfrm>
            <a:off x="6364224" y="302666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4224" y="314096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35" name="TextBox 34"/>
          <p:cNvSpPr txBox="1"/>
          <p:nvPr/>
        </p:nvSpPr>
        <p:spPr>
          <a:xfrm>
            <a:off x="7607808" y="3108960"/>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Batal dan refund.  </a:t>
            </a:r>
            <a:r>
              <a:rPr sz="930" b="0" i="0">
                <a:solidFill>
                  <a:srgbClr val="3D3731"/>
                </a:solidFill>
                <a:latin typeface="Barlow"/>
                <a:ea typeface="Barlow"/>
                <a:cs typeface="Barlow"/>
              </a:rPr>
              <a:t>Note yang sudah dikirim bisa dibatalkan dan direfund selama belum diklaim.</a:t>
            </a:r>
          </a:p>
        </p:txBody>
      </p:sp>
      <p:sp>
        <p:nvSpPr>
          <p:cNvPr id="36" name="Rectangle 35"/>
          <p:cNvSpPr/>
          <p:nvPr/>
        </p:nvSpPr>
        <p:spPr>
          <a:xfrm>
            <a:off x="6364224" y="357530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4224" y="368960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38" name="TextBox 37"/>
          <p:cNvSpPr txBox="1"/>
          <p:nvPr/>
        </p:nvSpPr>
        <p:spPr>
          <a:xfrm>
            <a:off x="7607808" y="3657600"/>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Kiriman berulang.  </a:t>
            </a:r>
            <a:r>
              <a:rPr sz="930" b="0" i="0">
                <a:solidFill>
                  <a:srgbClr val="3D3731"/>
                </a:solidFill>
                <a:latin typeface="Barlow"/>
                <a:ea typeface="Barlow"/>
                <a:cs typeface="Barlow"/>
              </a:rPr>
              <a:t>Kiriman privat bulanan, diotorisasi tanda tangan wallet, dengan penyimpanan per-owner.</a:t>
            </a:r>
          </a:p>
        </p:txBody>
      </p:sp>
      <p:sp>
        <p:nvSpPr>
          <p:cNvPr id="39" name="Rectangle 38"/>
          <p:cNvSpPr/>
          <p:nvPr/>
        </p:nvSpPr>
        <p:spPr>
          <a:xfrm>
            <a:off x="6364224" y="4123944"/>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4224" y="4238244"/>
            <a:ext cx="1188720" cy="274320"/>
          </a:xfrm>
          <a:prstGeom prst="rect">
            <a:avLst/>
          </a:prstGeom>
          <a:noFill/>
        </p:spPr>
        <p:txBody>
          <a:bodyPr wrap="square" lIns="0" rIns="0" tIns="0" bIns="0" anchor="t">
            <a:spAutoFit/>
          </a:bodyPr>
          <a:lstStyle/>
          <a:p>
            <a:pPr algn="l">
              <a:lnSpc>
                <a:spcPct val="110000"/>
              </a:lnSpc>
            </a:pPr>
            <a:r>
              <a:rPr sz="840" b="1" i="0" spc="60">
                <a:solidFill>
                  <a:srgbClr val="161311"/>
                </a:solidFill>
                <a:latin typeface="Courier Prime"/>
                <a:ea typeface="Courier Prime"/>
                <a:cs typeface="Courier Prime"/>
              </a:rPr>
              <a:t>LIVE</a:t>
            </a:r>
          </a:p>
        </p:txBody>
      </p:sp>
      <p:sp>
        <p:nvSpPr>
          <p:cNvPr id="41" name="TextBox 40"/>
          <p:cNvSpPr txBox="1"/>
          <p:nvPr/>
        </p:nvSpPr>
        <p:spPr>
          <a:xfrm>
            <a:off x="7607808" y="4206240"/>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Note tahan reload.  </a:t>
            </a:r>
            <a:r>
              <a:rPr sz="930" b="0" i="0">
                <a:solidFill>
                  <a:srgbClr val="3D3731"/>
                </a:solidFill>
                <a:latin typeface="Barlow"/>
                <a:ea typeface="Barlow"/>
                <a:cs typeface="Barlow"/>
              </a:rPr>
              <a:t>Tree dibangun ulang dari state on-chain, jadi note tetap bisa di-withdraw setelah tab ditutup.</a:t>
            </a:r>
          </a:p>
        </p:txBody>
      </p:sp>
      <p:sp>
        <p:nvSpPr>
          <p:cNvPr id="42" name="Rectangle 41"/>
          <p:cNvSpPr/>
          <p:nvPr/>
        </p:nvSpPr>
        <p:spPr>
          <a:xfrm>
            <a:off x="6364224" y="467258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786883"/>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SEBAGIAN</a:t>
            </a:r>
          </a:p>
        </p:txBody>
      </p:sp>
      <p:sp>
        <p:nvSpPr>
          <p:cNvPr id="44" name="TextBox 43"/>
          <p:cNvSpPr txBox="1"/>
          <p:nvPr/>
        </p:nvSpPr>
        <p:spPr>
          <a:xfrm>
            <a:off x="7607808" y="4754879"/>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KYC yang bisa dipakai ulang.  </a:t>
            </a:r>
            <a:r>
              <a:rPr sz="930" b="0" i="0">
                <a:solidFill>
                  <a:srgbClr val="3D3731"/>
                </a:solidFill>
                <a:latin typeface="Barlow"/>
                <a:ea typeface="Barlow"/>
                <a:cs typeface="Barlow"/>
              </a:rPr>
              <a:t>Reclaim zkTLS mengisi allow-list on-chain. idOS memverifikasi kredensial tapi tidak bisa mengikatnya ke alamat Stellar.</a:t>
            </a:r>
          </a:p>
        </p:txBody>
      </p:sp>
      <p:sp>
        <p:nvSpPr>
          <p:cNvPr id="45" name="Rectangle 44"/>
          <p:cNvSpPr/>
          <p:nvPr/>
        </p:nvSpPr>
        <p:spPr>
          <a:xfrm>
            <a:off x="6364224" y="522122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64224" y="5335523"/>
            <a:ext cx="1188720" cy="274320"/>
          </a:xfrm>
          <a:prstGeom prst="rect">
            <a:avLst/>
          </a:prstGeom>
          <a:noFill/>
        </p:spPr>
        <p:txBody>
          <a:bodyPr wrap="square" lIns="0" rIns="0" tIns="0" bIns="0" anchor="t">
            <a:spAutoFit/>
          </a:bodyPr>
          <a:lstStyle/>
          <a:p>
            <a:pPr algn="l">
              <a:lnSpc>
                <a:spcPct val="110000"/>
              </a:lnSpc>
            </a:pPr>
            <a:r>
              <a:rPr sz="840" b="1" i="0" spc="60">
                <a:solidFill>
                  <a:srgbClr val="B5281F"/>
                </a:solidFill>
                <a:latin typeface="Courier Prime"/>
                <a:ea typeface="Courier Prime"/>
                <a:cs typeface="Courier Prime"/>
              </a:rPr>
              <a:t>DIMATIKAN</a:t>
            </a:r>
          </a:p>
        </p:txBody>
      </p:sp>
      <p:sp>
        <p:nvSpPr>
          <p:cNvPr id="47" name="TextBox 46"/>
          <p:cNvSpPr txBox="1"/>
          <p:nvPr/>
        </p:nvSpPr>
        <p:spPr>
          <a:xfrm>
            <a:off x="7607808" y="5303519"/>
            <a:ext cx="3895344" cy="475488"/>
          </a:xfrm>
          <a:prstGeom prst="rect">
            <a:avLst/>
          </a:prstGeom>
          <a:noFill/>
        </p:spPr>
        <p:txBody>
          <a:bodyPr wrap="square" lIns="0" rIns="0" tIns="0" bIns="0" anchor="t">
            <a:spAutoFit/>
          </a:bodyPr>
          <a:lstStyle/>
          <a:p>
            <a:pPr algn="l">
              <a:lnSpc>
                <a:spcPct val="134000"/>
              </a:lnSpc>
            </a:pPr>
            <a:r>
              <a:rPr sz="930" b="1" i="0">
                <a:solidFill>
                  <a:srgbClr val="161311"/>
                </a:solidFill>
                <a:latin typeface="Barlow"/>
                <a:ea typeface="Barlow"/>
                <a:cs typeface="Barlow"/>
              </a:rPr>
              <a:t>Sign-in passkey.  </a:t>
            </a:r>
            <a:r>
              <a:rPr sz="930" b="0" i="0">
                <a:solidFill>
                  <a:srgbClr val="3D3731"/>
                </a:solidFill>
                <a:latin typeface="Barlow"/>
                <a:ea typeface="Barlow"/>
                <a:cs typeface="Barlow"/>
              </a:rPr>
              <a:t>Mati sejak 2026-09-11: passkey-kit tidak bisa membaca XDR Protocol 28 di Stellar SDK yang dipakai sekarang.</a:t>
            </a:r>
          </a:p>
        </p:txBody>
      </p:sp>
      <p:sp>
        <p:nvSpPr>
          <p:cNvPr id="48" name="Rectangle 47"/>
          <p:cNvSpPr/>
          <p:nvPr/>
        </p:nvSpPr>
        <p:spPr>
          <a:xfrm>
            <a:off x="6364224" y="5769863"/>
            <a:ext cx="5157216" cy="1"/>
          </a:xfrm>
          <a:prstGeom prst="rect">
            <a:avLst/>
          </a:prstGeom>
          <a:noFill/>
          <a:ln w="9525">
            <a:solidFill>
              <a:srgbClr val="161311">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11/19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SUDAH JALAN 3/3</a:t>
            </a:r>
          </a:p>
        </p:txBody>
      </p:sp>
      <p:pic>
        <p:nvPicPr>
          <p:cNvPr id="50" name="Picture 49"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8229600" cy="508000"/>
          </a:xfrm>
          <a:prstGeom prst="rect">
            <a:avLst/>
          </a:prstGeom>
          <a:noFill/>
        </p:spPr>
        <p:txBody>
          <a:bodyPr wrap="square" lIns="0" rIns="0" tIns="0" bIns="0" anchor="t">
            <a:spAutoFit/>
          </a:bodyPr>
          <a:lstStyle/>
          <a:p>
            <a:pPr algn="l">
              <a:lnSpc>
                <a:spcPct val="104000"/>
              </a:lnSpc>
            </a:pPr>
            <a:r>
              <a:rPr sz="3200" b="0" i="0" spc="38">
                <a:solidFill>
                  <a:srgbClr val="161311"/>
                </a:solidFill>
                <a:latin typeface="Saira Stencil One"/>
                <a:ea typeface="Saira Stencil One"/>
                <a:cs typeface="Saira Stencil One"/>
              </a:rPr>
              <a:t>YANG SUDAH JALAN DI TESTNET</a:t>
            </a:r>
          </a:p>
        </p:txBody>
      </p:sp>
      <p:sp>
        <p:nvSpPr>
          <p:cNvPr id="4" name="Rectangle 3"/>
          <p:cNvSpPr/>
          <p:nvPr/>
        </p:nvSpPr>
        <p:spPr>
          <a:xfrm>
            <a:off x="457200" y="1060704"/>
            <a:ext cx="2103120" cy="14264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658368" y="1207008"/>
            <a:ext cx="1737360" cy="566928"/>
          </a:xfrm>
          <a:prstGeom prst="rect">
            <a:avLst/>
          </a:prstGeom>
          <a:noFill/>
        </p:spPr>
        <p:txBody>
          <a:bodyPr wrap="square" lIns="0" rIns="0" tIns="0" bIns="0" anchor="t">
            <a:spAutoFit/>
          </a:bodyPr>
          <a:lstStyle/>
          <a:p>
            <a:pPr algn="l">
              <a:lnSpc>
                <a:spcPct val="100000"/>
              </a:lnSpc>
            </a:pPr>
            <a:r>
              <a:rPr sz="3400" b="0" i="0">
                <a:solidFill>
                  <a:srgbClr val="161311"/>
                </a:solidFill>
                <a:latin typeface="Saira Stencil One"/>
                <a:ea typeface="Saira Stencil One"/>
                <a:cs typeface="Saira Stencil One"/>
              </a:rPr>
              <a:t>15</a:t>
            </a:r>
          </a:p>
        </p:txBody>
      </p:sp>
      <p:sp>
        <p:nvSpPr>
          <p:cNvPr id="6" name="TextBox 5"/>
          <p:cNvSpPr txBox="1"/>
          <p:nvPr/>
        </p:nvSpPr>
        <p:spPr>
          <a:xfrm>
            <a:off x="658368" y="1865376"/>
            <a:ext cx="1828800" cy="502920"/>
          </a:xfrm>
          <a:prstGeom prst="rect">
            <a:avLst/>
          </a:prstGeom>
          <a:noFill/>
        </p:spPr>
        <p:txBody>
          <a:bodyPr wrap="square" lIns="0" rIns="0" tIns="0" bIns="0" anchor="t">
            <a:spAutoFit/>
          </a:bodyPr>
          <a:lstStyle/>
          <a:p>
            <a:pPr algn="l">
              <a:lnSpc>
                <a:spcPct val="135000"/>
              </a:lnSpc>
            </a:pPr>
            <a:r>
              <a:rPr sz="840" b="1" i="0" spc="68">
                <a:solidFill>
                  <a:srgbClr val="3D3731"/>
                </a:solidFill>
                <a:latin typeface="Courier Prime"/>
                <a:ea typeface="Courier Prime"/>
                <a:cs typeface="Courier Prime"/>
              </a:rPr>
              <a:t>KONTRAK
SOROBAN</a:t>
            </a:r>
          </a:p>
        </p:txBody>
      </p:sp>
      <p:sp>
        <p:nvSpPr>
          <p:cNvPr id="7" name="Rectangle 6"/>
          <p:cNvSpPr/>
          <p:nvPr/>
        </p:nvSpPr>
        <p:spPr>
          <a:xfrm>
            <a:off x="2743200" y="1060704"/>
            <a:ext cx="2103120" cy="14264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2944368" y="1207008"/>
            <a:ext cx="1737360" cy="566928"/>
          </a:xfrm>
          <a:prstGeom prst="rect">
            <a:avLst/>
          </a:prstGeom>
          <a:noFill/>
        </p:spPr>
        <p:txBody>
          <a:bodyPr wrap="square" lIns="0" rIns="0" tIns="0" bIns="0" anchor="t">
            <a:spAutoFit/>
          </a:bodyPr>
          <a:lstStyle/>
          <a:p>
            <a:pPr algn="l">
              <a:lnSpc>
                <a:spcPct val="100000"/>
              </a:lnSpc>
            </a:pPr>
            <a:r>
              <a:rPr sz="3400" b="0" i="0">
                <a:solidFill>
                  <a:srgbClr val="161311"/>
                </a:solidFill>
                <a:latin typeface="Saira Stencil One"/>
                <a:ea typeface="Saira Stencil One"/>
                <a:cs typeface="Saira Stencil One"/>
              </a:rPr>
              <a:t>8</a:t>
            </a:r>
          </a:p>
        </p:txBody>
      </p:sp>
      <p:sp>
        <p:nvSpPr>
          <p:cNvPr id="9" name="TextBox 8"/>
          <p:cNvSpPr txBox="1"/>
          <p:nvPr/>
        </p:nvSpPr>
        <p:spPr>
          <a:xfrm>
            <a:off x="2944368" y="1865376"/>
            <a:ext cx="1828800" cy="502920"/>
          </a:xfrm>
          <a:prstGeom prst="rect">
            <a:avLst/>
          </a:prstGeom>
          <a:noFill/>
        </p:spPr>
        <p:txBody>
          <a:bodyPr wrap="square" lIns="0" rIns="0" tIns="0" bIns="0" anchor="t">
            <a:spAutoFit/>
          </a:bodyPr>
          <a:lstStyle/>
          <a:p>
            <a:pPr algn="l">
              <a:lnSpc>
                <a:spcPct val="135000"/>
              </a:lnSpc>
            </a:pPr>
            <a:r>
              <a:rPr sz="840" b="1" i="0" spc="68">
                <a:solidFill>
                  <a:srgbClr val="3D3731"/>
                </a:solidFill>
                <a:latin typeface="Courier Prime"/>
                <a:ea typeface="Courier Prime"/>
                <a:cs typeface="Courier Prime"/>
              </a:rPr>
              <a:t>CIRCUIT
CIRCOM/GROTH16</a:t>
            </a:r>
          </a:p>
        </p:txBody>
      </p:sp>
      <p:sp>
        <p:nvSpPr>
          <p:cNvPr id="10" name="Rectangle 9"/>
          <p:cNvSpPr/>
          <p:nvPr/>
        </p:nvSpPr>
        <p:spPr>
          <a:xfrm>
            <a:off x="5029200" y="1060704"/>
            <a:ext cx="2103120" cy="14264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5230368" y="1207008"/>
            <a:ext cx="1737360" cy="566928"/>
          </a:xfrm>
          <a:prstGeom prst="rect">
            <a:avLst/>
          </a:prstGeom>
          <a:noFill/>
        </p:spPr>
        <p:txBody>
          <a:bodyPr wrap="square" lIns="0" rIns="0" tIns="0" bIns="0" anchor="t">
            <a:spAutoFit/>
          </a:bodyPr>
          <a:lstStyle/>
          <a:p>
            <a:pPr algn="l">
              <a:lnSpc>
                <a:spcPct val="100000"/>
              </a:lnSpc>
            </a:pPr>
            <a:r>
              <a:rPr sz="3400" b="0" i="0">
                <a:solidFill>
                  <a:srgbClr val="161311"/>
                </a:solidFill>
                <a:latin typeface="Saira Stencil One"/>
                <a:ea typeface="Saira Stencil One"/>
                <a:cs typeface="Saira Stencil One"/>
              </a:rPr>
              <a:t>8</a:t>
            </a:r>
          </a:p>
        </p:txBody>
      </p:sp>
      <p:sp>
        <p:nvSpPr>
          <p:cNvPr id="12" name="TextBox 11"/>
          <p:cNvSpPr txBox="1"/>
          <p:nvPr/>
        </p:nvSpPr>
        <p:spPr>
          <a:xfrm>
            <a:off x="5230368" y="1865376"/>
            <a:ext cx="1828800" cy="502920"/>
          </a:xfrm>
          <a:prstGeom prst="rect">
            <a:avLst/>
          </a:prstGeom>
          <a:noFill/>
        </p:spPr>
        <p:txBody>
          <a:bodyPr wrap="square" lIns="0" rIns="0" tIns="0" bIns="0" anchor="t">
            <a:spAutoFit/>
          </a:bodyPr>
          <a:lstStyle/>
          <a:p>
            <a:pPr algn="l">
              <a:lnSpc>
                <a:spcPct val="135000"/>
              </a:lnSpc>
            </a:pPr>
            <a:r>
              <a:rPr sz="840" b="1" i="0" spc="68">
                <a:solidFill>
                  <a:srgbClr val="3D3731"/>
                </a:solidFill>
                <a:latin typeface="Courier Prime"/>
                <a:ea typeface="Courier Prime"/>
                <a:cs typeface="Courier Prime"/>
              </a:rPr>
              <a:t>KONTRAK VERIFIER
BN254</a:t>
            </a:r>
          </a:p>
        </p:txBody>
      </p:sp>
      <p:sp>
        <p:nvSpPr>
          <p:cNvPr id="13" name="Rectangle 12"/>
          <p:cNvSpPr/>
          <p:nvPr/>
        </p:nvSpPr>
        <p:spPr>
          <a:xfrm>
            <a:off x="7315200" y="1060704"/>
            <a:ext cx="2103120" cy="14264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7516368" y="1207008"/>
            <a:ext cx="1737360" cy="566928"/>
          </a:xfrm>
          <a:prstGeom prst="rect">
            <a:avLst/>
          </a:prstGeom>
          <a:noFill/>
        </p:spPr>
        <p:txBody>
          <a:bodyPr wrap="square" lIns="0" rIns="0" tIns="0" bIns="0" anchor="t">
            <a:spAutoFit/>
          </a:bodyPr>
          <a:lstStyle/>
          <a:p>
            <a:pPr algn="l">
              <a:lnSpc>
                <a:spcPct val="100000"/>
              </a:lnSpc>
            </a:pPr>
            <a:r>
              <a:rPr sz="3400" b="0" i="0">
                <a:solidFill>
                  <a:srgbClr val="161311"/>
                </a:solidFill>
                <a:latin typeface="Saira Stencil One"/>
                <a:ea typeface="Saira Stencil One"/>
                <a:cs typeface="Saira Stencil One"/>
              </a:rPr>
              <a:t>333</a:t>
            </a:r>
          </a:p>
        </p:txBody>
      </p:sp>
      <p:sp>
        <p:nvSpPr>
          <p:cNvPr id="15" name="TextBox 14"/>
          <p:cNvSpPr txBox="1"/>
          <p:nvPr/>
        </p:nvSpPr>
        <p:spPr>
          <a:xfrm>
            <a:off x="7516368" y="1865376"/>
            <a:ext cx="1828800" cy="502920"/>
          </a:xfrm>
          <a:prstGeom prst="rect">
            <a:avLst/>
          </a:prstGeom>
          <a:noFill/>
        </p:spPr>
        <p:txBody>
          <a:bodyPr wrap="square" lIns="0" rIns="0" tIns="0" bIns="0" anchor="t">
            <a:spAutoFit/>
          </a:bodyPr>
          <a:lstStyle/>
          <a:p>
            <a:pPr algn="l">
              <a:lnSpc>
                <a:spcPct val="135000"/>
              </a:lnSpc>
            </a:pPr>
            <a:r>
              <a:rPr sz="840" b="1" i="0" spc="68">
                <a:solidFill>
                  <a:srgbClr val="3D3731"/>
                </a:solidFill>
                <a:latin typeface="Courier Prime"/>
                <a:ea typeface="Courier Prime"/>
                <a:cs typeface="Courier Prime"/>
              </a:rPr>
              <a:t>CARGO TEST
LULUS</a:t>
            </a:r>
          </a:p>
        </p:txBody>
      </p:sp>
      <p:sp>
        <p:nvSpPr>
          <p:cNvPr id="16" name="Rectangle 15"/>
          <p:cNvSpPr/>
          <p:nvPr/>
        </p:nvSpPr>
        <p:spPr>
          <a:xfrm>
            <a:off x="9601200" y="1060704"/>
            <a:ext cx="2103120" cy="142646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9802368" y="1207008"/>
            <a:ext cx="1737360" cy="566928"/>
          </a:xfrm>
          <a:prstGeom prst="rect">
            <a:avLst/>
          </a:prstGeom>
          <a:noFill/>
        </p:spPr>
        <p:txBody>
          <a:bodyPr wrap="square" lIns="0" rIns="0" tIns="0" bIns="0" anchor="t">
            <a:spAutoFit/>
          </a:bodyPr>
          <a:lstStyle/>
          <a:p>
            <a:pPr algn="l">
              <a:lnSpc>
                <a:spcPct val="100000"/>
              </a:lnSpc>
            </a:pPr>
            <a:r>
              <a:rPr sz="3400" b="0" i="0">
                <a:solidFill>
                  <a:srgbClr val="161311"/>
                </a:solidFill>
                <a:latin typeface="Saira Stencil One"/>
                <a:ea typeface="Saira Stencil One"/>
                <a:cs typeface="Saira Stencil One"/>
              </a:rPr>
              <a:t>295</a:t>
            </a:r>
          </a:p>
        </p:txBody>
      </p:sp>
      <p:sp>
        <p:nvSpPr>
          <p:cNvPr id="18" name="TextBox 17"/>
          <p:cNvSpPr txBox="1"/>
          <p:nvPr/>
        </p:nvSpPr>
        <p:spPr>
          <a:xfrm>
            <a:off x="9802368" y="1865376"/>
            <a:ext cx="1828800" cy="502920"/>
          </a:xfrm>
          <a:prstGeom prst="rect">
            <a:avLst/>
          </a:prstGeom>
          <a:noFill/>
        </p:spPr>
        <p:txBody>
          <a:bodyPr wrap="square" lIns="0" rIns="0" tIns="0" bIns="0" anchor="t">
            <a:spAutoFit/>
          </a:bodyPr>
          <a:lstStyle/>
          <a:p>
            <a:pPr algn="l">
              <a:lnSpc>
                <a:spcPct val="135000"/>
              </a:lnSpc>
            </a:pPr>
            <a:r>
              <a:rPr sz="840" b="1" i="0" spc="68">
                <a:solidFill>
                  <a:srgbClr val="3D3731"/>
                </a:solidFill>
                <a:latin typeface="Courier Prime"/>
                <a:ea typeface="Courier Prime"/>
                <a:cs typeface="Courier Prime"/>
              </a:rPr>
              <a:t>UNIT TEST FRONTEND
LULUS</a:t>
            </a:r>
          </a:p>
        </p:txBody>
      </p:sp>
      <p:sp>
        <p:nvSpPr>
          <p:cNvPr id="19" name="Rectangle 18"/>
          <p:cNvSpPr/>
          <p:nvPr/>
        </p:nvSpPr>
        <p:spPr>
          <a:xfrm>
            <a:off x="457200" y="2706624"/>
            <a:ext cx="4937760" cy="33741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ectangle 19"/>
          <p:cNvSpPr/>
          <p:nvPr/>
        </p:nvSpPr>
        <p:spPr>
          <a:xfrm>
            <a:off x="457200" y="2706624"/>
            <a:ext cx="493776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333 CARGO TEST, PER CRATE</a:t>
            </a:r>
          </a:p>
        </p:txBody>
      </p:sp>
      <p:sp>
        <p:nvSpPr>
          <p:cNvPr id="21" name="TextBox 20"/>
          <p:cNvSpPr txBox="1"/>
          <p:nvPr/>
        </p:nvSpPr>
        <p:spPr>
          <a:xfrm>
            <a:off x="603504" y="2775204"/>
            <a:ext cx="4645152"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DIJALANKAN 2026-09-15</a:t>
            </a:r>
          </a:p>
        </p:txBody>
      </p:sp>
      <p:sp>
        <p:nvSpPr>
          <p:cNvPr id="22" name="TextBox 21"/>
          <p:cNvSpPr txBox="1"/>
          <p:nvPr/>
        </p:nvSpPr>
        <p:spPr>
          <a:xfrm>
            <a:off x="694944" y="3035808"/>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pool-timelock</a:t>
            </a:r>
          </a:p>
        </p:txBody>
      </p:sp>
      <p:sp>
        <p:nvSpPr>
          <p:cNvPr id="23" name="Rectangle 22"/>
          <p:cNvSpPr/>
          <p:nvPr/>
        </p:nvSpPr>
        <p:spPr>
          <a:xfrm>
            <a:off x="2907792" y="3049524"/>
            <a:ext cx="1783080"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4736592" y="3035808"/>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89</a:t>
            </a:r>
          </a:p>
        </p:txBody>
      </p:sp>
      <p:sp>
        <p:nvSpPr>
          <p:cNvPr id="25" name="Rectangle 24"/>
          <p:cNvSpPr/>
          <p:nvPr/>
        </p:nvSpPr>
        <p:spPr>
          <a:xfrm>
            <a:off x="694944" y="3268979"/>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360420"/>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pool-accumulator</a:t>
            </a:r>
          </a:p>
        </p:txBody>
      </p:sp>
      <p:sp>
        <p:nvSpPr>
          <p:cNvPr id="27" name="Rectangle 26"/>
          <p:cNvSpPr/>
          <p:nvPr/>
        </p:nvSpPr>
        <p:spPr>
          <a:xfrm>
            <a:off x="2907792" y="3374136"/>
            <a:ext cx="1662872"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7"/>
          <p:cNvSpPr txBox="1"/>
          <p:nvPr/>
        </p:nvSpPr>
        <p:spPr>
          <a:xfrm>
            <a:off x="4736592" y="3360420"/>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83</a:t>
            </a:r>
          </a:p>
        </p:txBody>
      </p:sp>
      <p:sp>
        <p:nvSpPr>
          <p:cNvPr id="29" name="Rectangle 28"/>
          <p:cNvSpPr/>
          <p:nvPr/>
        </p:nvSpPr>
        <p:spPr>
          <a:xfrm>
            <a:off x="694944" y="3593591"/>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3685031"/>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pool-enforced</a:t>
            </a:r>
          </a:p>
        </p:txBody>
      </p:sp>
      <p:sp>
        <p:nvSpPr>
          <p:cNvPr id="31" name="Rectangle 30"/>
          <p:cNvSpPr/>
          <p:nvPr/>
        </p:nvSpPr>
        <p:spPr>
          <a:xfrm>
            <a:off x="2907792" y="3698747"/>
            <a:ext cx="1642837"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4736592" y="3685031"/>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82</a:t>
            </a:r>
          </a:p>
        </p:txBody>
      </p:sp>
      <p:sp>
        <p:nvSpPr>
          <p:cNvPr id="33" name="Rectangle 32"/>
          <p:cNvSpPr/>
          <p:nvPr/>
        </p:nvSpPr>
        <p:spPr>
          <a:xfrm>
            <a:off x="694944" y="3918204"/>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 y="4009644"/>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pool</a:t>
            </a:r>
          </a:p>
        </p:txBody>
      </p:sp>
      <p:sp>
        <p:nvSpPr>
          <p:cNvPr id="35" name="Rectangle 34"/>
          <p:cNvSpPr/>
          <p:nvPr/>
        </p:nvSpPr>
        <p:spPr>
          <a:xfrm>
            <a:off x="2907792" y="4023359"/>
            <a:ext cx="1101903"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4736592" y="4009644"/>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55</a:t>
            </a:r>
          </a:p>
        </p:txBody>
      </p:sp>
      <p:sp>
        <p:nvSpPr>
          <p:cNvPr id="37" name="Rectangle 36"/>
          <p:cNvSpPr/>
          <p:nvPr/>
        </p:nvSpPr>
        <p:spPr>
          <a:xfrm>
            <a:off x="694944" y="4242816"/>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 y="4334256"/>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reserves-aggregate</a:t>
            </a:r>
          </a:p>
        </p:txBody>
      </p:sp>
      <p:sp>
        <p:nvSpPr>
          <p:cNvPr id="39" name="Rectangle 38"/>
          <p:cNvSpPr/>
          <p:nvPr/>
        </p:nvSpPr>
        <p:spPr>
          <a:xfrm>
            <a:off x="2907792" y="4347972"/>
            <a:ext cx="240415"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TextBox 39"/>
          <p:cNvSpPr txBox="1"/>
          <p:nvPr/>
        </p:nvSpPr>
        <p:spPr>
          <a:xfrm>
            <a:off x="4736592" y="4334256"/>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12</a:t>
            </a:r>
          </a:p>
        </p:txBody>
      </p:sp>
      <p:sp>
        <p:nvSpPr>
          <p:cNvPr id="41" name="Rectangle 40"/>
          <p:cNvSpPr/>
          <p:nvPr/>
        </p:nvSpPr>
        <p:spPr>
          <a:xfrm>
            <a:off x="694944" y="4567428"/>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 y="4658868"/>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policy-registry</a:t>
            </a:r>
          </a:p>
        </p:txBody>
      </p:sp>
      <p:sp>
        <p:nvSpPr>
          <p:cNvPr id="43" name="Rectangle 42"/>
          <p:cNvSpPr/>
          <p:nvPr/>
        </p:nvSpPr>
        <p:spPr>
          <a:xfrm>
            <a:off x="2907792" y="4672584"/>
            <a:ext cx="120207"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TextBox 43"/>
          <p:cNvSpPr txBox="1"/>
          <p:nvPr/>
        </p:nvSpPr>
        <p:spPr>
          <a:xfrm>
            <a:off x="4736592" y="4658868"/>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6</a:t>
            </a:r>
          </a:p>
        </p:txBody>
      </p:sp>
      <p:sp>
        <p:nvSpPr>
          <p:cNvPr id="45" name="Rectangle 44"/>
          <p:cNvSpPr/>
          <p:nvPr/>
        </p:nvSpPr>
        <p:spPr>
          <a:xfrm>
            <a:off x="694944" y="4892040"/>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4983480"/>
            <a:ext cx="2103120" cy="201168"/>
          </a:xfrm>
          <a:prstGeom prst="rect">
            <a:avLst/>
          </a:prstGeom>
          <a:noFill/>
        </p:spPr>
        <p:txBody>
          <a:bodyPr wrap="square" lIns="0" rIns="0" tIns="0" bIns="0" anchor="t">
            <a:spAutoFit/>
          </a:bodyPr>
          <a:lstStyle/>
          <a:p>
            <a:pPr algn="l">
              <a:lnSpc>
                <a:spcPct val="100000"/>
              </a:lnSpc>
            </a:pPr>
            <a:r>
              <a:rPr sz="1000" b="0" i="0">
                <a:solidFill>
                  <a:srgbClr val="161311"/>
                </a:solidFill>
                <a:latin typeface="Courier Prime"/>
                <a:ea typeface="Courier Prime"/>
                <a:cs typeface="Courier Prime"/>
              </a:rPr>
              <a:t>reserves</a:t>
            </a:r>
          </a:p>
        </p:txBody>
      </p:sp>
      <p:sp>
        <p:nvSpPr>
          <p:cNvPr id="47" name="Rectangle 46"/>
          <p:cNvSpPr/>
          <p:nvPr/>
        </p:nvSpPr>
        <p:spPr>
          <a:xfrm>
            <a:off x="2907792" y="4997196"/>
            <a:ext cx="120207" cy="137160"/>
          </a:xfrm>
          <a:prstGeom prst="rect">
            <a:avLst/>
          </a:prstGeom>
          <a:solidFill>
            <a:srgbClr val="1613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4736592" y="4983480"/>
            <a:ext cx="420624" cy="201168"/>
          </a:xfrm>
          <a:prstGeom prst="rect">
            <a:avLst/>
          </a:prstGeom>
          <a:noFill/>
        </p:spPr>
        <p:txBody>
          <a:bodyPr wrap="square" lIns="0" rIns="0" tIns="0" bIns="0" anchor="t">
            <a:spAutoFit/>
          </a:bodyPr>
          <a:lstStyle/>
          <a:p>
            <a:pPr algn="r">
              <a:lnSpc>
                <a:spcPct val="100000"/>
              </a:lnSpc>
            </a:pPr>
            <a:r>
              <a:rPr sz="1000" b="1" i="0">
                <a:solidFill>
                  <a:srgbClr val="161311"/>
                </a:solidFill>
                <a:latin typeface="Courier Prime"/>
                <a:ea typeface="Courier Prime"/>
                <a:cs typeface="Courier Prime"/>
              </a:rPr>
              <a:t>6</a:t>
            </a:r>
          </a:p>
        </p:txBody>
      </p:sp>
      <p:sp>
        <p:nvSpPr>
          <p:cNvPr id="49" name="Rectangle 48"/>
          <p:cNvSpPr/>
          <p:nvPr/>
        </p:nvSpPr>
        <p:spPr>
          <a:xfrm>
            <a:off x="694944" y="5216652"/>
            <a:ext cx="4462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4944" y="5321808"/>
            <a:ext cx="4462272" cy="694944"/>
          </a:xfrm>
          <a:prstGeom prst="rect">
            <a:avLst/>
          </a:prstGeom>
          <a:noFill/>
        </p:spPr>
        <p:txBody>
          <a:bodyPr wrap="square" lIns="0" rIns="0" tIns="0" bIns="0" anchor="t">
            <a:spAutoFit/>
          </a:bodyPr>
          <a:lstStyle/>
          <a:p>
            <a:pPr algn="l">
              <a:lnSpc>
                <a:spcPct val="132000"/>
              </a:lnSpc>
            </a:pPr>
            <a:r>
              <a:rPr sz="950" b="0" i="0">
                <a:solidFill>
                  <a:srgbClr val="3D3731"/>
                </a:solidFill>
                <a:latin typeface="Barlow"/>
                <a:ea typeface="Barlow"/>
                <a:cs typeface="Barlow"/>
              </a:rPr>
              <a:t>Crate kedelapan, reserves-testpool, cuma test double dan tidak punya test sendiri. Di sampingnya ada suite soundness circuit (threshold 4/4, range 5/5, aggregate 6/6) dan suite end-to-end Playwright di chromium, firefox, webkit, dan mobile 390px, termasuk satu yang melakukan deposit on-chain sungguhan.</a:t>
            </a:r>
          </a:p>
        </p:txBody>
      </p:sp>
      <p:sp>
        <p:nvSpPr>
          <p:cNvPr id="51" name="Rectangle 50"/>
          <p:cNvSpPr/>
          <p:nvPr/>
        </p:nvSpPr>
        <p:spPr>
          <a:xfrm>
            <a:off x="5596128" y="2706624"/>
            <a:ext cx="6144768" cy="33741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2" name="Picture 51" descr="operator.png"/>
          <p:cNvPicPr>
            <a:picLocks noChangeAspect="1"/>
          </p:cNvPicPr>
          <p:nvPr/>
        </p:nvPicPr>
        <p:blipFill>
          <a:blip r:embed="rId3"/>
          <a:stretch>
            <a:fillRect/>
          </a:stretch>
        </p:blipFill>
        <p:spPr>
          <a:xfrm>
            <a:off x="5646420" y="2756916"/>
            <a:ext cx="6044183" cy="3054096"/>
          </a:xfrm>
          <a:prstGeom prst="rect">
            <a:avLst/>
          </a:prstGeom>
        </p:spPr>
      </p:pic>
      <p:sp>
        <p:nvSpPr>
          <p:cNvPr id="53" name="TextBox 52"/>
          <p:cNvSpPr txBox="1"/>
          <p:nvPr/>
        </p:nvSpPr>
        <p:spPr>
          <a:xfrm>
            <a:off x="5646420" y="5852160"/>
            <a:ext cx="6044183"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03-OPERATOR-MONITORING-DESKTOP.PNG · KESEHATAN POOL, DIBACA LIVE</a:t>
            </a:r>
          </a:p>
        </p:txBody>
      </p:sp>
      <p:sp>
        <p:nvSpPr>
          <p:cNvPr id="54" name="Rounded Rectangle 53"/>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12/19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TESTNET</a:t>
            </a:r>
          </a:p>
        </p:txBody>
      </p:sp>
      <p:pic>
        <p:nvPicPr>
          <p:cNvPr id="55" name="Picture 54" descr="seal.png"/>
          <p:cNvPicPr>
            <a:picLocks noChangeAspect="1"/>
          </p:cNvPicPr>
          <p:nvPr/>
        </p:nvPicPr>
        <p:blipFill>
          <a:blip r:embed="rId4"/>
          <a:stretch>
            <a:fillRect/>
          </a:stretch>
        </p:blipFill>
        <p:spPr>
          <a:xfrm>
            <a:off x="11356848" y="6199632"/>
            <a:ext cx="548640" cy="274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76250"/>
          </a:xfrm>
          <a:prstGeom prst="rect">
            <a:avLst/>
          </a:prstGeom>
          <a:noFill/>
        </p:spPr>
        <p:txBody>
          <a:bodyPr wrap="square" lIns="0" rIns="0" tIns="0" bIns="0" anchor="t">
            <a:spAutoFit/>
          </a:bodyPr>
          <a:lstStyle/>
          <a:p>
            <a:pPr algn="l">
              <a:lnSpc>
                <a:spcPct val="104000"/>
              </a:lnSpc>
            </a:pPr>
            <a:r>
              <a:rPr sz="3000" b="0" i="0" spc="36">
                <a:solidFill>
                  <a:srgbClr val="161311"/>
                </a:solidFill>
                <a:latin typeface="Saira Stencil One"/>
                <a:ea typeface="Saira Stencil One"/>
                <a:cs typeface="Saira Stencil One"/>
              </a:rPr>
              <a:t>JEJAK ON-CHAIN YANG DIDAFTARKAN</a:t>
            </a:r>
          </a:p>
        </p:txBody>
      </p:sp>
      <p:sp>
        <p:nvSpPr>
          <p:cNvPr id="4" name="Rectangle 3"/>
          <p:cNvSpPr/>
          <p:nvPr/>
        </p:nvSpPr>
        <p:spPr>
          <a:xfrm>
            <a:off x="457200" y="1115568"/>
            <a:ext cx="5596128" cy="2761488"/>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115568"/>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KORIDOR INTI · LIVE DAN DIJALANKAN</a:t>
            </a:r>
          </a:p>
        </p:txBody>
      </p:sp>
      <p:sp>
        <p:nvSpPr>
          <p:cNvPr id="6" name="TextBox 5"/>
          <p:cNvSpPr txBox="1"/>
          <p:nvPr/>
        </p:nvSpPr>
        <p:spPr>
          <a:xfrm>
            <a:off x="969263" y="1184148"/>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8 KONTRAK</a:t>
            </a:r>
          </a:p>
        </p:txBody>
      </p:sp>
      <p:sp>
        <p:nvSpPr>
          <p:cNvPr id="7" name="TextBox 6"/>
          <p:cNvSpPr txBox="1"/>
          <p:nvPr/>
        </p:nvSpPr>
        <p:spPr>
          <a:xfrm>
            <a:off x="658368" y="1536192"/>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pool</a:t>
            </a:r>
          </a:p>
        </p:txBody>
      </p:sp>
      <p:sp>
        <p:nvSpPr>
          <p:cNvPr id="8" name="TextBox 7"/>
          <p:cNvSpPr txBox="1"/>
          <p:nvPr/>
        </p:nvSpPr>
        <p:spPr>
          <a:xfrm>
            <a:off x="2286000" y="1536192"/>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CBIYQACYOKDBPYDGU7DMSHPGJEWP2ZRETXDVOTC5HTU5RJBGDK2MHTWJ</a:t>
            </a:r>
          </a:p>
        </p:txBody>
      </p:sp>
      <p:sp>
        <p:nvSpPr>
          <p:cNvPr id="9" name="Rectangle 8"/>
          <p:cNvSpPr/>
          <p:nvPr/>
        </p:nvSpPr>
        <p:spPr>
          <a:xfrm>
            <a:off x="658368" y="1746504"/>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824228"/>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transfer verifier</a:t>
            </a:r>
          </a:p>
        </p:txBody>
      </p:sp>
      <p:sp>
        <p:nvSpPr>
          <p:cNvPr id="11" name="TextBox 10"/>
          <p:cNvSpPr txBox="1"/>
          <p:nvPr/>
        </p:nvSpPr>
        <p:spPr>
          <a:xfrm>
            <a:off x="2286000" y="1824228"/>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CACHZSWXJJAGW5UKA5KME73YV5BVYOXFKGT5KUSXIAS3JJJM4QY3PUNE</a:t>
            </a:r>
          </a:p>
        </p:txBody>
      </p:sp>
      <p:sp>
        <p:nvSpPr>
          <p:cNvPr id="12" name="Rectangle 11"/>
          <p:cNvSpPr/>
          <p:nvPr/>
        </p:nvSpPr>
        <p:spPr>
          <a:xfrm>
            <a:off x="658368" y="2034540"/>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12264"/>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compliance verifier</a:t>
            </a:r>
          </a:p>
        </p:txBody>
      </p:sp>
      <p:sp>
        <p:nvSpPr>
          <p:cNvPr id="14" name="TextBox 13"/>
          <p:cNvSpPr txBox="1"/>
          <p:nvPr/>
        </p:nvSpPr>
        <p:spPr>
          <a:xfrm>
            <a:off x="2286000" y="2112264"/>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CDXYGM37TRH4JXBZKVPOOEIDX5L7NUVUXJ63E5BHW2W7O4SKQMWXBCG2</a:t>
            </a:r>
          </a:p>
        </p:txBody>
      </p:sp>
      <p:sp>
        <p:nvSpPr>
          <p:cNvPr id="15" name="Rectangle 14"/>
          <p:cNvSpPr/>
          <p:nvPr/>
        </p:nvSpPr>
        <p:spPr>
          <a:xfrm>
            <a:off x="658368" y="2322576"/>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00300"/>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disclosure verifier</a:t>
            </a:r>
          </a:p>
        </p:txBody>
      </p:sp>
      <p:sp>
        <p:nvSpPr>
          <p:cNvPr id="17" name="TextBox 16"/>
          <p:cNvSpPr txBox="1"/>
          <p:nvPr/>
        </p:nvSpPr>
        <p:spPr>
          <a:xfrm>
            <a:off x="2286000" y="2400300"/>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CAYGURQQK3LCQSQLD4FMPXVYGDXHL3K4GAM6URLCEXCXL2JCORLJ4W4V</a:t>
            </a:r>
          </a:p>
        </p:txBody>
      </p:sp>
      <p:sp>
        <p:nvSpPr>
          <p:cNvPr id="18" name="Rectangle 17"/>
          <p:cNvSpPr/>
          <p:nvPr/>
        </p:nvSpPr>
        <p:spPr>
          <a:xfrm>
            <a:off x="658368" y="2610612"/>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688336"/>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merkleUpdate verif.</a:t>
            </a:r>
          </a:p>
        </p:txBody>
      </p:sp>
      <p:sp>
        <p:nvSpPr>
          <p:cNvPr id="20" name="TextBox 19"/>
          <p:cNvSpPr txBox="1"/>
          <p:nvPr/>
        </p:nvSpPr>
        <p:spPr>
          <a:xfrm>
            <a:off x="2286000" y="2688336"/>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CCA3T54EKN3RJD77LRQJ2P664ZF3U4STPRQIK4IIQWPACRLXB3JS3X6H</a:t>
            </a:r>
          </a:p>
        </p:txBody>
      </p:sp>
      <p:sp>
        <p:nvSpPr>
          <p:cNvPr id="21" name="Rectangle 20"/>
          <p:cNvSpPr/>
          <p:nvPr/>
        </p:nvSpPr>
        <p:spPr>
          <a:xfrm>
            <a:off x="658368" y="2898648"/>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976372"/>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threshold verifier</a:t>
            </a:r>
          </a:p>
        </p:txBody>
      </p:sp>
      <p:sp>
        <p:nvSpPr>
          <p:cNvPr id="23" name="TextBox 22"/>
          <p:cNvSpPr txBox="1"/>
          <p:nvPr/>
        </p:nvSpPr>
        <p:spPr>
          <a:xfrm>
            <a:off x="2286000" y="2976372"/>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CDGOSIZQIMACRLIE76SQKKHUOKURGTGC4T2CKM2K62YP6463QR2KLHVR</a:t>
            </a:r>
          </a:p>
        </p:txBody>
      </p:sp>
      <p:sp>
        <p:nvSpPr>
          <p:cNvPr id="24" name="Rectangle 23"/>
          <p:cNvSpPr/>
          <p:nvPr/>
        </p:nvSpPr>
        <p:spPr>
          <a:xfrm>
            <a:off x="658368" y="3186684"/>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3264408"/>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aggregate verifier</a:t>
            </a:r>
          </a:p>
        </p:txBody>
      </p:sp>
      <p:sp>
        <p:nvSpPr>
          <p:cNvPr id="26" name="TextBox 25"/>
          <p:cNvSpPr txBox="1"/>
          <p:nvPr/>
        </p:nvSpPr>
        <p:spPr>
          <a:xfrm>
            <a:off x="2286000" y="3264408"/>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CCTN437J4BX6S4JDMGUZFS2IEHV4ECHHK4ZLMM3N6VU5IIX2777AZJYA</a:t>
            </a:r>
          </a:p>
        </p:txBody>
      </p:sp>
      <p:sp>
        <p:nvSpPr>
          <p:cNvPr id="27" name="Rectangle 26"/>
          <p:cNvSpPr/>
          <p:nvPr/>
        </p:nvSpPr>
        <p:spPr>
          <a:xfrm>
            <a:off x="658368" y="3474720"/>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552444"/>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range verifier</a:t>
            </a:r>
          </a:p>
        </p:txBody>
      </p:sp>
      <p:sp>
        <p:nvSpPr>
          <p:cNvPr id="29" name="TextBox 28"/>
          <p:cNvSpPr txBox="1"/>
          <p:nvPr/>
        </p:nvSpPr>
        <p:spPr>
          <a:xfrm>
            <a:off x="2286000" y="3552444"/>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CDUONEVPPH7WI7EPSXZE3YXEF4FHHJM7HFJOTZBCJNJSUG26UMENUPQW</a:t>
            </a:r>
          </a:p>
        </p:txBody>
      </p:sp>
      <p:sp>
        <p:nvSpPr>
          <p:cNvPr id="30" name="Rectangle 29"/>
          <p:cNvSpPr/>
          <p:nvPr/>
        </p:nvSpPr>
        <p:spPr>
          <a:xfrm>
            <a:off x="658368" y="3762756"/>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44768" y="1115568"/>
            <a:ext cx="5596128" cy="246888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ectangle 31"/>
          <p:cNvSpPr/>
          <p:nvPr/>
        </p:nvSpPr>
        <p:spPr>
          <a:xfrm>
            <a:off x="6144768" y="1115568"/>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ADITIF · PERMUKAAN PRODUKSIONALISASI</a:t>
            </a:r>
          </a:p>
        </p:txBody>
      </p:sp>
      <p:sp>
        <p:nvSpPr>
          <p:cNvPr id="33" name="TextBox 32"/>
          <p:cNvSpPr txBox="1"/>
          <p:nvPr/>
        </p:nvSpPr>
        <p:spPr>
          <a:xfrm>
            <a:off x="6656831" y="1184148"/>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7 KONTRAK</a:t>
            </a:r>
          </a:p>
        </p:txBody>
      </p:sp>
      <p:sp>
        <p:nvSpPr>
          <p:cNvPr id="34" name="TextBox 33"/>
          <p:cNvSpPr txBox="1"/>
          <p:nvPr/>
        </p:nvSpPr>
        <p:spPr>
          <a:xfrm>
            <a:off x="6345936" y="1536192"/>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reserves verifier</a:t>
            </a:r>
          </a:p>
        </p:txBody>
      </p:sp>
      <p:sp>
        <p:nvSpPr>
          <p:cNvPr id="35" name="TextBox 34"/>
          <p:cNvSpPr txBox="1"/>
          <p:nvPr/>
        </p:nvSpPr>
        <p:spPr>
          <a:xfrm>
            <a:off x="7973567" y="1536192"/>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CBCVFPJBKVWACXQMVTWK5LO7UVABUKVAE2EYERGTSXO4ZTHFAT2VD5JI</a:t>
            </a:r>
          </a:p>
        </p:txBody>
      </p:sp>
      <p:sp>
        <p:nvSpPr>
          <p:cNvPr id="36" name="Rectangle 35"/>
          <p:cNvSpPr/>
          <p:nvPr/>
        </p:nvSpPr>
        <p:spPr>
          <a:xfrm>
            <a:off x="6345936" y="1746504"/>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5936" y="1824228"/>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reserves</a:t>
            </a:r>
          </a:p>
        </p:txBody>
      </p:sp>
      <p:sp>
        <p:nvSpPr>
          <p:cNvPr id="38" name="TextBox 37"/>
          <p:cNvSpPr txBox="1"/>
          <p:nvPr/>
        </p:nvSpPr>
        <p:spPr>
          <a:xfrm>
            <a:off x="7973567" y="1824228"/>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CCMIHWMVDTO6X4FPJSHXEQBYQQID3QIKCLMNVS5UKMPRHWLPUK4ALXMC</a:t>
            </a:r>
          </a:p>
        </p:txBody>
      </p:sp>
      <p:sp>
        <p:nvSpPr>
          <p:cNvPr id="39" name="Rectangle 38"/>
          <p:cNvSpPr/>
          <p:nvPr/>
        </p:nvSpPr>
        <p:spPr>
          <a:xfrm>
            <a:off x="6345936" y="2034540"/>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5936" y="2112264"/>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reserves-aggregate</a:t>
            </a:r>
          </a:p>
        </p:txBody>
      </p:sp>
      <p:sp>
        <p:nvSpPr>
          <p:cNvPr id="41" name="TextBox 40"/>
          <p:cNvSpPr txBox="1"/>
          <p:nvPr/>
        </p:nvSpPr>
        <p:spPr>
          <a:xfrm>
            <a:off x="7973567" y="2112264"/>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CA6Q5SWRAV3P432YNL4OE6IZ52LNBBS5WWE2HILDYRZDGFBY47PKC7XN</a:t>
            </a:r>
          </a:p>
        </p:txBody>
      </p:sp>
      <p:sp>
        <p:nvSpPr>
          <p:cNvPr id="42" name="Rectangle 41"/>
          <p:cNvSpPr/>
          <p:nvPr/>
        </p:nvSpPr>
        <p:spPr>
          <a:xfrm>
            <a:off x="6345936" y="2322576"/>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45936" y="2400300"/>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policy-registry</a:t>
            </a:r>
          </a:p>
        </p:txBody>
      </p:sp>
      <p:sp>
        <p:nvSpPr>
          <p:cNvPr id="44" name="TextBox 43"/>
          <p:cNvSpPr txBox="1"/>
          <p:nvPr/>
        </p:nvSpPr>
        <p:spPr>
          <a:xfrm>
            <a:off x="7973567" y="2400300"/>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CAQ7KBNFJOJI34B5V3GNI7ACW6YEOAD4JRYSOX3EUW5UOXFKBDZBDAZ3</a:t>
            </a:r>
          </a:p>
        </p:txBody>
      </p:sp>
      <p:sp>
        <p:nvSpPr>
          <p:cNvPr id="45" name="Rectangle 44"/>
          <p:cNvSpPr/>
          <p:nvPr/>
        </p:nvSpPr>
        <p:spPr>
          <a:xfrm>
            <a:off x="6345936" y="2610612"/>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45936" y="2688336"/>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pool-enforced</a:t>
            </a:r>
          </a:p>
        </p:txBody>
      </p:sp>
      <p:sp>
        <p:nvSpPr>
          <p:cNvPr id="47" name="TextBox 46"/>
          <p:cNvSpPr txBox="1"/>
          <p:nvPr/>
        </p:nvSpPr>
        <p:spPr>
          <a:xfrm>
            <a:off x="7973567" y="2688336"/>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CBIGD4YLHXTUBBMRLK2BSWWGOMOFKR6EA6TFHFSIVH26PGFFDIHXRKTY</a:t>
            </a:r>
          </a:p>
        </p:txBody>
      </p:sp>
      <p:sp>
        <p:nvSpPr>
          <p:cNvPr id="48" name="Rectangle 47"/>
          <p:cNvSpPr/>
          <p:nvPr/>
        </p:nvSpPr>
        <p:spPr>
          <a:xfrm>
            <a:off x="6345936" y="2898648"/>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45936" y="2976372"/>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pool-accumulator</a:t>
            </a:r>
          </a:p>
        </p:txBody>
      </p:sp>
      <p:sp>
        <p:nvSpPr>
          <p:cNvPr id="50" name="TextBox 49"/>
          <p:cNvSpPr txBox="1"/>
          <p:nvPr/>
        </p:nvSpPr>
        <p:spPr>
          <a:xfrm>
            <a:off x="7973567" y="2976372"/>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CBZOGXYS4X45SRWM45ZMUDM2KSJJQI3OQAP5BBC2CQXRRVSVUVO6A3YK</a:t>
            </a:r>
          </a:p>
        </p:txBody>
      </p:sp>
      <p:sp>
        <p:nvSpPr>
          <p:cNvPr id="51" name="Rectangle 50"/>
          <p:cNvSpPr/>
          <p:nvPr/>
        </p:nvSpPr>
        <p:spPr>
          <a:xfrm>
            <a:off x="6345936" y="3186684"/>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45936" y="3264408"/>
            <a:ext cx="1591056" cy="182880"/>
          </a:xfrm>
          <a:prstGeom prst="rect">
            <a:avLst/>
          </a:prstGeom>
          <a:noFill/>
        </p:spPr>
        <p:txBody>
          <a:bodyPr wrap="square" lIns="0" rIns="0" tIns="0" bIns="0" anchor="t">
            <a:spAutoFit/>
          </a:bodyPr>
          <a:lstStyle/>
          <a:p>
            <a:pPr algn="l">
              <a:lnSpc>
                <a:spcPct val="100000"/>
              </a:lnSpc>
            </a:pPr>
            <a:r>
              <a:rPr sz="860" b="1" i="0" spc="40">
                <a:solidFill>
                  <a:srgbClr val="3D3731"/>
                </a:solidFill>
                <a:latin typeface="Courier Prime"/>
                <a:ea typeface="Courier Prime"/>
                <a:cs typeface="Courier Prime"/>
              </a:rPr>
              <a:t>pool-timelock</a:t>
            </a:r>
          </a:p>
        </p:txBody>
      </p:sp>
      <p:sp>
        <p:nvSpPr>
          <p:cNvPr id="53" name="TextBox 52"/>
          <p:cNvSpPr txBox="1"/>
          <p:nvPr/>
        </p:nvSpPr>
        <p:spPr>
          <a:xfrm>
            <a:off x="7973567" y="3264408"/>
            <a:ext cx="3547872" cy="182880"/>
          </a:xfrm>
          <a:prstGeom prst="rect">
            <a:avLst/>
          </a:prstGeom>
          <a:noFill/>
        </p:spPr>
        <p:txBody>
          <a:bodyPr wrap="square" lIns="0" rIns="0" tIns="0" bIns="0" anchor="t">
            <a:spAutoFit/>
          </a:bodyPr>
          <a:lstStyle/>
          <a:p>
            <a:pPr algn="l">
              <a:lnSpc>
                <a:spcPct val="100000"/>
              </a:lnSpc>
            </a:pPr>
            <a:r>
              <a:rPr sz="800" b="0" i="0">
                <a:solidFill>
                  <a:srgbClr val="161311"/>
                </a:solidFill>
                <a:latin typeface="Courier Prime"/>
                <a:ea typeface="Courier Prime"/>
                <a:cs typeface="Courier Prime"/>
              </a:rPr>
              <a:t>CDTE5CHIKXNJLTCJFBV6F3HLVD2B2GGYZ7NFTDW24DCQNK6F63H56FJ2</a:t>
            </a:r>
          </a:p>
        </p:txBody>
      </p:sp>
      <p:sp>
        <p:nvSpPr>
          <p:cNvPr id="54" name="Rectangle 53"/>
          <p:cNvSpPr/>
          <p:nvPr/>
        </p:nvSpPr>
        <p:spPr>
          <a:xfrm>
            <a:off x="6345936" y="3474720"/>
            <a:ext cx="519379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44768" y="3712463"/>
            <a:ext cx="5596128" cy="78638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6" name="TextBox 55"/>
          <p:cNvSpPr txBox="1"/>
          <p:nvPr/>
        </p:nvSpPr>
        <p:spPr>
          <a:xfrm>
            <a:off x="6382512" y="3877056"/>
            <a:ext cx="5120640" cy="502920"/>
          </a:xfrm>
          <a:prstGeom prst="rect">
            <a:avLst/>
          </a:prstGeom>
          <a:noFill/>
        </p:spPr>
        <p:txBody>
          <a:bodyPr wrap="square" lIns="0" rIns="0" tIns="0" bIns="0" anchor="t">
            <a:spAutoFit/>
          </a:bodyPr>
          <a:lstStyle/>
          <a:p>
            <a:pPr algn="l">
              <a:lnSpc>
                <a:spcPct val="135000"/>
              </a:lnSpc>
            </a:pPr>
            <a:r>
              <a:rPr sz="1050" b="0" i="0">
                <a:solidFill>
                  <a:srgbClr val="3D3731"/>
                </a:solidFill>
                <a:latin typeface="Barlow"/>
                <a:ea typeface="Barlow"/>
                <a:cs typeface="Barlow"/>
              </a:rPr>
              <a:t>Stellar testnet, "Test SDF Network ; September 2015". Semua alamat bisa dibuka di stellar.expert. Identitas mainnet baru didaftarkan saat deployment Tranche #3.</a:t>
            </a:r>
          </a:p>
        </p:txBody>
      </p:sp>
      <p:sp>
        <p:nvSpPr>
          <p:cNvPr id="57" name="Rectangle 56"/>
          <p:cNvSpPr/>
          <p:nvPr/>
        </p:nvSpPr>
        <p:spPr>
          <a:xfrm>
            <a:off x="457200" y="4590288"/>
            <a:ext cx="11283696" cy="149047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8" name="Rectangle 57"/>
          <p:cNvSpPr/>
          <p:nvPr/>
        </p:nvSpPr>
        <p:spPr>
          <a:xfrm>
            <a:off x="457200" y="4590288"/>
            <a:ext cx="1128369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DUA HAL YANG DIBACA BARENG DAFTAR ITU</a:t>
            </a:r>
          </a:p>
        </p:txBody>
      </p:sp>
      <p:sp>
        <p:nvSpPr>
          <p:cNvPr id="59" name="TextBox 58"/>
          <p:cNvSpPr txBox="1"/>
          <p:nvPr/>
        </p:nvSpPr>
        <p:spPr>
          <a:xfrm>
            <a:off x="694944" y="5010912"/>
            <a:ext cx="10789920" cy="914400"/>
          </a:xfrm>
          <a:prstGeom prst="rect">
            <a:avLst/>
          </a:prstGeom>
          <a:noFill/>
        </p:spPr>
        <p:txBody>
          <a:bodyPr wrap="square" lIns="0" rIns="0" tIns="0" bIns="0" anchor="t">
            <a:spAutoFit/>
          </a:bodyPr>
          <a:lstStyle/>
          <a:p>
            <a:pPr algn="l">
              <a:lnSpc>
                <a:spcPct val="138000"/>
              </a:lnSpc>
            </a:pPr>
            <a:r>
              <a:rPr sz="900" b="1" i="0" spc="70">
                <a:solidFill>
                  <a:srgbClr val="B5281F"/>
                </a:solidFill>
                <a:latin typeface="Courier Prime"/>
                <a:ea typeface="Courier Prime"/>
                <a:cs typeface="Courier Prime"/>
              </a:rPr>
              <a:t>PREVIEW TRACK  </a:t>
            </a:r>
            <a:r>
              <a:rPr sz="1050" b="0" i="0">
                <a:solidFill>
                  <a:srgbClr val="3D3731"/>
                </a:solidFill>
                <a:latin typeface="Barlow"/>
                <a:ea typeface="Barlow"/>
                <a:cs typeface="Barlow"/>
              </a:rPr>
              <a:t>pool-enforced, pool-accumulator, dan pool-timelock sudah di-deploy dan dijalankan di preview track yang tidak menyentuh koridor live. Menerapkannya ke pool live itu pekerjaan Tranche #1, bukan sesuatu yang sudah terjadi.</a:t>
            </a:r>
          </a:p>
          <a:p>
            <a:pPr algn="l">
              <a:lnSpc>
                <a:spcPct val="138000"/>
              </a:lnSpc>
              <a:spcBef>
                <a:spcPts val="800"/>
              </a:spcBef>
            </a:pPr>
            <a:r>
              <a:rPr sz="900" b="1" i="0" spc="70">
                <a:solidFill>
                  <a:srgbClr val="B5281F"/>
                </a:solidFill>
                <a:latin typeface="Courier Prime"/>
                <a:ea typeface="Courier Prime"/>
                <a:cs typeface="Courier Prime"/>
              </a:rPr>
              <a:t>PROOF OF RESERVES  </a:t>
            </a:r>
            <a:r>
              <a:rPr sz="1050" b="0" i="0">
                <a:solidFill>
                  <a:srgbClr val="3D3731"/>
                </a:solidFill>
                <a:latin typeface="Barlow"/>
                <a:ea typeface="Barlow"/>
                <a:cs typeface="Barlow"/>
              </a:rPr>
              <a:t>permukaan paling lemah hari ini. Kontrak reserves-nya menunjuk ke pool live tapi belum pernah di-attest terhadapnya, jadi latest_attestation() mengembalikan null dan covered_count() 0. Kabelnya terbukti end to end terhadap pool test-double; di koridor live ini kabel, bukan bukti.</a:t>
            </a:r>
          </a:p>
        </p:txBody>
      </p:sp>
      <p:sp>
        <p:nvSpPr>
          <p:cNvPr id="60" name="Rounded Rectangle 59"/>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13/19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JEJAK</a:t>
            </a:r>
          </a:p>
        </p:txBody>
      </p:sp>
      <p:pic>
        <p:nvPicPr>
          <p:cNvPr id="61" name="Picture 60"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530352"/>
            <a:ext cx="8229600" cy="412750"/>
          </a:xfrm>
          <a:prstGeom prst="rect">
            <a:avLst/>
          </a:prstGeom>
          <a:noFill/>
        </p:spPr>
        <p:txBody>
          <a:bodyPr wrap="square" lIns="0" rIns="0" tIns="0" bIns="0" anchor="t">
            <a:spAutoFit/>
          </a:bodyPr>
          <a:lstStyle/>
          <a:p>
            <a:pPr algn="l">
              <a:lnSpc>
                <a:spcPct val="104000"/>
              </a:lnSpc>
            </a:pPr>
            <a:r>
              <a:rPr sz="2600" b="0" i="0" spc="31">
                <a:solidFill>
                  <a:srgbClr val="161311"/>
                </a:solidFill>
                <a:latin typeface="Saira Stencil One"/>
                <a:ea typeface="Saira Stencil One"/>
                <a:cs typeface="Saira Stencil One"/>
              </a:rPr>
              <a:t>BELUM ADA PENGGUNA. BELUM ADA VOLUME.</a:t>
            </a:r>
          </a:p>
        </p:txBody>
      </p:sp>
      <p:sp>
        <p:nvSpPr>
          <p:cNvPr id="4" name="Rectangle 3"/>
          <p:cNvSpPr/>
          <p:nvPr/>
        </p:nvSpPr>
        <p:spPr>
          <a:xfrm rot="21360000">
            <a:off x="8732520" y="329184"/>
            <a:ext cx="2999232" cy="841248"/>
          </a:xfrm>
          <a:prstGeom prst="rect">
            <a:avLst/>
          </a:prstGeom>
          <a:noFill/>
          <a:ln w="25400">
            <a:solidFill>
              <a:srgbClr val="D834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800" b="0" i="0" spc="100">
                <a:solidFill>
                  <a:srgbClr val="D8342B"/>
                </a:solidFill>
                <a:latin typeface="Saira Stencil One"/>
                <a:ea typeface="Saira Stencil One"/>
                <a:cs typeface="Saira Stencil One"/>
              </a:rPr>
              <a:t>PRA-MAINNET</a:t>
            </a:r>
          </a:p>
          <a:p>
            <a:pPr algn="ctr">
              <a:lnSpc>
                <a:spcPct val="100000"/>
              </a:lnSpc>
              <a:spcBef>
                <a:spcPts val="200"/>
              </a:spcBef>
            </a:pPr>
            <a:r>
              <a:rPr sz="800" b="1" i="0" spc="70">
                <a:solidFill>
                  <a:srgbClr val="D8342B"/>
                </a:solidFill>
                <a:latin typeface="Courier Prime"/>
                <a:ea typeface="Courier Prime"/>
                <a:cs typeface="Courier Prime"/>
              </a:rPr>
              <a:t>TESTNET · BELUM DIAUDIT</a:t>
            </a:r>
          </a:p>
        </p:txBody>
      </p:sp>
      <p:sp>
        <p:nvSpPr>
          <p:cNvPr id="5" name="Rectangle 4"/>
          <p:cNvSpPr/>
          <p:nvPr/>
        </p:nvSpPr>
        <p:spPr>
          <a:xfrm>
            <a:off x="457200" y="1335024"/>
            <a:ext cx="11283696" cy="474573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457200" y="1335024"/>
            <a:ext cx="1128369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YANG BENAR PER 2026-09-15</a:t>
            </a:r>
          </a:p>
        </p:txBody>
      </p:sp>
      <p:sp>
        <p:nvSpPr>
          <p:cNvPr id="7" name="TextBox 6"/>
          <p:cNvSpPr txBox="1"/>
          <p:nvPr/>
        </p:nvSpPr>
        <p:spPr>
          <a:xfrm>
            <a:off x="6656831" y="1403604"/>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DITULIS DI SATU SLIDE, BUKAN DISELIPKAN</a:t>
            </a:r>
          </a:p>
        </p:txBody>
      </p:sp>
      <p:sp>
        <p:nvSpPr>
          <p:cNvPr id="8" name="TextBox 7"/>
          <p:cNvSpPr txBox="1"/>
          <p:nvPr/>
        </p:nvSpPr>
        <p:spPr>
          <a:xfrm>
            <a:off x="694944" y="1796795"/>
            <a:ext cx="14173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TRAFIK</a:t>
            </a:r>
          </a:p>
        </p:txBody>
      </p:sp>
      <p:sp>
        <p:nvSpPr>
          <p:cNvPr id="9" name="TextBox 8"/>
          <p:cNvSpPr txBox="1"/>
          <p:nvPr/>
        </p:nvSpPr>
        <p:spPr>
          <a:xfrm>
            <a:off x="2240280" y="1781251"/>
            <a:ext cx="9262872" cy="640080"/>
          </a:xfrm>
          <a:prstGeom prst="rect">
            <a:avLst/>
          </a:prstGeom>
          <a:noFill/>
        </p:spPr>
        <p:txBody>
          <a:bodyPr wrap="square" lIns="0" rIns="0" tIns="0" bIns="0" anchor="t">
            <a:spAutoFit/>
          </a:bodyPr>
          <a:lstStyle/>
          <a:p>
            <a:pPr algn="l">
              <a:lnSpc>
                <a:spcPct val="115000"/>
              </a:lnSpc>
            </a:pPr>
            <a:r>
              <a:rPr sz="1100" b="0" i="0">
                <a:solidFill>
                  <a:srgbClr val="161311"/>
                </a:solidFill>
                <a:latin typeface="Barlow"/>
                <a:ea typeface="Barlow"/>
                <a:cs typeface="Barlow"/>
              </a:rPr>
              <a:t>Semua transaksi di identitas yang didaftarkan dikirim oleh tim atau penguji yang tim undang. Tidak ada yang sintetis, wash, atau sybil, tidak pernah ada yang dibuat untuk menggelembungkan metrik, dan tidak satu pun dari itu traksi.</a:t>
            </a:r>
          </a:p>
        </p:txBody>
      </p:sp>
      <p:sp>
        <p:nvSpPr>
          <p:cNvPr id="10" name="Rectangle 9"/>
          <p:cNvSpPr/>
          <p:nvPr/>
        </p:nvSpPr>
        <p:spPr>
          <a:xfrm>
            <a:off x="694944" y="2395728"/>
            <a:ext cx="10808208"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436876"/>
            <a:ext cx="14173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AUDIT</a:t>
            </a:r>
          </a:p>
        </p:txBody>
      </p:sp>
      <p:sp>
        <p:nvSpPr>
          <p:cNvPr id="12" name="TextBox 11"/>
          <p:cNvSpPr txBox="1"/>
          <p:nvPr/>
        </p:nvSpPr>
        <p:spPr>
          <a:xfrm>
            <a:off x="2240280" y="2421331"/>
            <a:ext cx="9262872" cy="640080"/>
          </a:xfrm>
          <a:prstGeom prst="rect">
            <a:avLst/>
          </a:prstGeom>
          <a:noFill/>
        </p:spPr>
        <p:txBody>
          <a:bodyPr wrap="square" lIns="0" rIns="0" tIns="0" bIns="0" anchor="t">
            <a:spAutoFit/>
          </a:bodyPr>
          <a:lstStyle/>
          <a:p>
            <a:pPr algn="l">
              <a:lnSpc>
                <a:spcPct val="115000"/>
              </a:lnSpc>
            </a:pPr>
            <a:r>
              <a:rPr sz="1100" b="0" i="0">
                <a:solidFill>
                  <a:srgbClr val="161311"/>
                </a:solidFill>
                <a:latin typeface="Barlow"/>
                <a:ea typeface="Barlow"/>
                <a:cs typeface="Barlow"/>
              </a:rPr>
              <a:t>Belum pernah diaudit secara profesional. Audit direncanakan terpisah lewat Audit Bank dan tidak ada baris anggaran ini yang membayarnya.</a:t>
            </a:r>
          </a:p>
        </p:txBody>
      </p:sp>
      <p:sp>
        <p:nvSpPr>
          <p:cNvPr id="13" name="Rectangle 12"/>
          <p:cNvSpPr/>
          <p:nvPr/>
        </p:nvSpPr>
        <p:spPr>
          <a:xfrm>
            <a:off x="694944" y="3035808"/>
            <a:ext cx="10808208"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3076956"/>
            <a:ext cx="14173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TEPI FIAT</a:t>
            </a:r>
          </a:p>
        </p:txBody>
      </p:sp>
      <p:sp>
        <p:nvSpPr>
          <p:cNvPr id="15" name="TextBox 14"/>
          <p:cNvSpPr txBox="1"/>
          <p:nvPr/>
        </p:nvSpPr>
        <p:spPr>
          <a:xfrm>
            <a:off x="2240280" y="3061411"/>
            <a:ext cx="9262872" cy="640080"/>
          </a:xfrm>
          <a:prstGeom prst="rect">
            <a:avLst/>
          </a:prstGeom>
          <a:noFill/>
        </p:spPr>
        <p:txBody>
          <a:bodyPr wrap="square" lIns="0" rIns="0" tIns="0" bIns="0" anchor="t">
            <a:spAutoFit/>
          </a:bodyPr>
          <a:lstStyle/>
          <a:p>
            <a:pPr algn="l">
              <a:lnSpc>
                <a:spcPct val="115000"/>
              </a:lnSpc>
            </a:pPr>
            <a:r>
              <a:rPr sz="1100" b="0" i="0">
                <a:solidFill>
                  <a:srgbClr val="161311"/>
                </a:solidFill>
                <a:latin typeface="Barlow"/>
                <a:ea typeface="Barlow"/>
                <a:cs typeface="Barlow"/>
              </a:rPr>
              <a:t>On-ramp dan off-ramp berjalan terhadap anchor rujukan SDF, yang tidak punya KYC dan tidak membayarkan fiat nyata. Yang terbukti adalah Tukar bicara protokol yang persis dipakai off-ramp produksi, bukan bahwa Tukar sudah punya satu.</a:t>
            </a:r>
          </a:p>
        </p:txBody>
      </p:sp>
      <p:sp>
        <p:nvSpPr>
          <p:cNvPr id="16" name="Rectangle 15"/>
          <p:cNvSpPr/>
          <p:nvPr/>
        </p:nvSpPr>
        <p:spPr>
          <a:xfrm>
            <a:off x="694944" y="3675888"/>
            <a:ext cx="10808208"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717036"/>
            <a:ext cx="14173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ANCHOR</a:t>
            </a:r>
          </a:p>
        </p:txBody>
      </p:sp>
      <p:sp>
        <p:nvSpPr>
          <p:cNvPr id="18" name="TextBox 17"/>
          <p:cNvSpPr txBox="1"/>
          <p:nvPr/>
        </p:nvSpPr>
        <p:spPr>
          <a:xfrm>
            <a:off x="2240280" y="3701491"/>
            <a:ext cx="9262872" cy="640080"/>
          </a:xfrm>
          <a:prstGeom prst="rect">
            <a:avLst/>
          </a:prstGeom>
          <a:noFill/>
        </p:spPr>
        <p:txBody>
          <a:bodyPr wrap="square" lIns="0" rIns="0" tIns="0" bIns="0" anchor="t">
            <a:spAutoFit/>
          </a:bodyPr>
          <a:lstStyle/>
          <a:p>
            <a:pPr algn="l">
              <a:lnSpc>
                <a:spcPct val="115000"/>
              </a:lnSpc>
            </a:pPr>
            <a:r>
              <a:rPr sz="1100" b="0" i="0">
                <a:solidFill>
                  <a:srgbClr val="161311"/>
                </a:solidFill>
                <a:latin typeface="Barlow"/>
                <a:ea typeface="Barlow"/>
                <a:cs typeface="Barlow"/>
              </a:rPr>
              <a:t>Belum ada anchor yang dihubungi dan belum ada anchor yang menyetujui apa pun. Tidak ada kemitraan, tidak ada kredensial sandbox, dan tidak ada hubungan komersial dengan perusahaan mana pun yang disebut di deck ini.</a:t>
            </a:r>
          </a:p>
        </p:txBody>
      </p:sp>
      <p:sp>
        <p:nvSpPr>
          <p:cNvPr id="19" name="Rectangle 18"/>
          <p:cNvSpPr/>
          <p:nvPr/>
        </p:nvSpPr>
        <p:spPr>
          <a:xfrm>
            <a:off x="694944" y="4315968"/>
            <a:ext cx="10808208"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4357116"/>
            <a:ext cx="14173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PENANGANAN KEY</a:t>
            </a:r>
          </a:p>
        </p:txBody>
      </p:sp>
      <p:sp>
        <p:nvSpPr>
          <p:cNvPr id="21" name="TextBox 20"/>
          <p:cNvSpPr txBox="1"/>
          <p:nvPr/>
        </p:nvSpPr>
        <p:spPr>
          <a:xfrm>
            <a:off x="2240280" y="4341571"/>
            <a:ext cx="9262872" cy="640080"/>
          </a:xfrm>
          <a:prstGeom prst="rect">
            <a:avLst/>
          </a:prstGeom>
          <a:noFill/>
        </p:spPr>
        <p:txBody>
          <a:bodyPr wrap="square" lIns="0" rIns="0" tIns="0" bIns="0" anchor="t">
            <a:spAutoFit/>
          </a:bodyPr>
          <a:lstStyle/>
          <a:p>
            <a:pPr algn="l">
              <a:lnSpc>
                <a:spcPct val="115000"/>
              </a:lnSpc>
            </a:pPr>
            <a:r>
              <a:rPr sz="1100" b="0" i="0">
                <a:solidFill>
                  <a:srgbClr val="161311"/>
                </a:solidFill>
                <a:latin typeface="Barlow"/>
                <a:ea typeface="Barlow"/>
                <a:cs typeface="Barlow"/>
              </a:rPr>
              <a:t>Secret admin koridor pernah ter-commit ke repositori publik dan diperlakukan sebagai bocor. Itu key testnet dan pool-nya tidak punya admin withdraw, mint, atau pause, jadi dampaknya sebatas setelan kepatuhan dan tiga verifier disclosure. Penanganannya tetap salah, dan itu sebabnya Tranche #1 punya deliverable pengerasan admin key.</a:t>
            </a:r>
          </a:p>
        </p:txBody>
      </p:sp>
      <p:sp>
        <p:nvSpPr>
          <p:cNvPr id="22" name="Rectangle 21"/>
          <p:cNvSpPr/>
          <p:nvPr/>
        </p:nvSpPr>
        <p:spPr>
          <a:xfrm>
            <a:off x="694944" y="4956048"/>
            <a:ext cx="10808208"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997196"/>
            <a:ext cx="141732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DUKUNGAN</a:t>
            </a:r>
          </a:p>
        </p:txBody>
      </p:sp>
      <p:sp>
        <p:nvSpPr>
          <p:cNvPr id="24" name="TextBox 23"/>
          <p:cNvSpPr txBox="1"/>
          <p:nvPr/>
        </p:nvSpPr>
        <p:spPr>
          <a:xfrm>
            <a:off x="2240280" y="4981651"/>
            <a:ext cx="9262872" cy="640080"/>
          </a:xfrm>
          <a:prstGeom prst="rect">
            <a:avLst/>
          </a:prstGeom>
          <a:noFill/>
        </p:spPr>
        <p:txBody>
          <a:bodyPr wrap="square" lIns="0" rIns="0" tIns="0" bIns="0" anchor="t">
            <a:spAutoFit/>
          </a:bodyPr>
          <a:lstStyle/>
          <a:p>
            <a:pPr algn="l">
              <a:lnSpc>
                <a:spcPct val="115000"/>
              </a:lnSpc>
            </a:pPr>
            <a:r>
              <a:rPr sz="1100" b="0" i="0">
                <a:solidFill>
                  <a:srgbClr val="161311"/>
                </a:solidFill>
                <a:latin typeface="Barlow"/>
                <a:ea typeface="Barlow"/>
                <a:cs typeface="Barlow"/>
              </a:rPr>
              <a:t>Tidak ada yang di sini didukung, diaudit, diperiksa, atau disetujui SDF maupun SCF. Sumber yang dikutip di pengajuan memvalidasi kebutuhannya, bukan proyek ini.</a:t>
            </a:r>
          </a:p>
        </p:txBody>
      </p:sp>
      <p:sp>
        <p:nvSpPr>
          <p:cNvPr id="25" name="Rectangle 24"/>
          <p:cNvSpPr/>
          <p:nvPr/>
        </p:nvSpPr>
        <p:spPr>
          <a:xfrm>
            <a:off x="694944" y="5596128"/>
            <a:ext cx="10808208"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687568"/>
            <a:ext cx="10789920" cy="329184"/>
          </a:xfrm>
          <a:prstGeom prst="rect">
            <a:avLst/>
          </a:prstGeom>
          <a:noFill/>
        </p:spPr>
        <p:txBody>
          <a:bodyPr wrap="square" lIns="0" rIns="0" tIns="0" bIns="0" anchor="t">
            <a:spAutoFit/>
          </a:bodyPr>
          <a:lstStyle/>
          <a:p>
            <a:pPr algn="l">
              <a:lnSpc>
                <a:spcPct val="140000"/>
              </a:lnSpc>
            </a:pPr>
            <a:r>
              <a:rPr sz="880" b="0" i="0">
                <a:solidFill>
                  <a:srgbClr val="5A5148"/>
                </a:solidFill>
                <a:latin typeface="Courier Prime"/>
                <a:ea typeface="Courier Prime"/>
                <a:cs typeface="Courier Prime"/>
              </a:rPr>
              <a:t>Pengakuan dari luar, dan tidak lebih dari itu: peringkat 5 di hackathon Stellar Privacy: Real-World ZK di DoraHacks, dan Grand Finalist di hackathon Stellar APAC, Payments &amp; Consumer Applications.</a:t>
            </a:r>
          </a:p>
        </p:txBody>
      </p:sp>
      <p:sp>
        <p:nvSpPr>
          <p:cNvPr id="27" name="Rounded Rectangle 26"/>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14/19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STATUS JUJUR</a:t>
            </a:r>
          </a:p>
        </p:txBody>
      </p:sp>
      <p:pic>
        <p:nvPicPr>
          <p:cNvPr id="28" name="Picture 27"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7315200" cy="539750"/>
          </a:xfrm>
          <a:prstGeom prst="rect">
            <a:avLst/>
          </a:prstGeom>
          <a:noFill/>
        </p:spPr>
        <p:txBody>
          <a:bodyPr wrap="square" lIns="0" rIns="0" tIns="0" bIns="0" anchor="t">
            <a:spAutoFit/>
          </a:bodyPr>
          <a:lstStyle/>
          <a:p>
            <a:pPr algn="l">
              <a:lnSpc>
                <a:spcPct val="104000"/>
              </a:lnSpc>
            </a:pPr>
            <a:r>
              <a:rPr sz="3400" b="0" i="0" spc="40">
                <a:solidFill>
                  <a:srgbClr val="161311"/>
                </a:solidFill>
                <a:latin typeface="Saira Stencil One"/>
                <a:ea typeface="Saira Stencil One"/>
                <a:cs typeface="Saira Stencil One"/>
              </a:rPr>
              <a:t>TEMUAN SOAL ANCHOR</a:t>
            </a:r>
          </a:p>
        </p:txBody>
      </p:sp>
      <p:sp>
        <p:nvSpPr>
          <p:cNvPr id="4" name="Rectangle 3"/>
          <p:cNvSpPr/>
          <p:nvPr/>
        </p:nvSpPr>
        <p:spPr>
          <a:xfrm>
            <a:off x="457200" y="1188720"/>
            <a:ext cx="6675120" cy="489204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188720"/>
            <a:ext cx="667512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APA YANG DITEMUKAN</a:t>
            </a:r>
          </a:p>
        </p:txBody>
      </p:sp>
      <p:sp>
        <p:nvSpPr>
          <p:cNvPr id="6" name="TextBox 5"/>
          <p:cNvSpPr txBox="1"/>
          <p:nvPr/>
        </p:nvSpPr>
        <p:spPr>
          <a:xfrm>
            <a:off x="2048255" y="1257300"/>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DITELITI 2026-09-11</a:t>
            </a:r>
          </a:p>
        </p:txBody>
      </p:sp>
      <p:sp>
        <p:nvSpPr>
          <p:cNvPr id="7" name="TextBox 6"/>
          <p:cNvSpPr txBox="1"/>
          <p:nvPr/>
        </p:nvSpPr>
        <p:spPr>
          <a:xfrm>
            <a:off x="694944" y="1609344"/>
            <a:ext cx="6199632" cy="640080"/>
          </a:xfrm>
          <a:prstGeom prst="rect">
            <a:avLst/>
          </a:prstGeom>
          <a:noFill/>
        </p:spPr>
        <p:txBody>
          <a:bodyPr wrap="square" lIns="0" rIns="0" tIns="0" bIns="0" anchor="t">
            <a:spAutoFit/>
          </a:bodyPr>
          <a:lstStyle/>
          <a:p>
            <a:pPr algn="l">
              <a:lnSpc>
                <a:spcPct val="114000"/>
              </a:lnSpc>
            </a:pPr>
            <a:r>
              <a:rPr sz="1900" b="0" i="0" spc="25">
                <a:solidFill>
                  <a:srgbClr val="161311"/>
                </a:solidFill>
                <a:latin typeface="Saira Stencil One"/>
                <a:ea typeface="Saira Stencil One"/>
                <a:cs typeface="Saira Stencil One"/>
              </a:rPr>
              <a:t>Belum ada anchor berlisensi native Stellar yang membayarkan rupiah.</a:t>
            </a:r>
          </a:p>
        </p:txBody>
      </p:sp>
      <p:sp>
        <p:nvSpPr>
          <p:cNvPr id="8" name="TextBox 7"/>
          <p:cNvSpPr txBox="1"/>
          <p:nvPr/>
        </p:nvSpPr>
        <p:spPr>
          <a:xfrm>
            <a:off x="694944" y="2528316"/>
            <a:ext cx="12344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MONEYGRAM</a:t>
            </a:r>
          </a:p>
        </p:txBody>
      </p:sp>
      <p:sp>
        <p:nvSpPr>
          <p:cNvPr id="9" name="TextBox 8"/>
          <p:cNvSpPr txBox="1"/>
          <p:nvPr/>
        </p:nvSpPr>
        <p:spPr>
          <a:xfrm>
            <a:off x="2039112" y="2512771"/>
            <a:ext cx="4855464" cy="841248"/>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satu-satunya penyedia tersaring yang membayarkan IDR atau PHP lewat endpoint SEP-24 yang dipublikasikan. stellar.toml-nya live di jaringan publik dan memuat persis pasangan WEB_AUTH_ENDPOINT dan TRANSFER_SERVER_SEP0024 yang sudah didorong client Tukar. Daftar negaranya mencakup Indonesia dan Filipina, tapi cash-out saja.</a:t>
            </a:r>
          </a:p>
        </p:txBody>
      </p:sp>
      <p:sp>
        <p:nvSpPr>
          <p:cNvPr id="10" name="Rectangle 9"/>
          <p:cNvSpPr/>
          <p:nvPr/>
        </p:nvSpPr>
        <p:spPr>
          <a:xfrm>
            <a:off x="694944" y="3328416"/>
            <a:ext cx="6199632"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369564"/>
            <a:ext cx="12344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MOONPAY</a:t>
            </a:r>
          </a:p>
        </p:txBody>
      </p:sp>
      <p:sp>
        <p:nvSpPr>
          <p:cNvPr id="12" name="TextBox 11"/>
          <p:cNvSpPr txBox="1"/>
          <p:nvPr/>
        </p:nvSpPr>
        <p:spPr>
          <a:xfrm>
            <a:off x="2039112" y="3354019"/>
            <a:ext cx="4855464" cy="841248"/>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satu-satunya off-ramp IDR yang terverifikasi di antara kandidat. Apakah USDC di Stellar secara spesifik bisa dijual lewat situ, bukan XLM, tidak terkonfirmasi di halaman mana pun yang diambil.</a:t>
            </a:r>
          </a:p>
        </p:txBody>
      </p:sp>
      <p:sp>
        <p:nvSpPr>
          <p:cNvPr id="13" name="Rectangle 12"/>
          <p:cNvSpPr/>
          <p:nvPr/>
        </p:nvSpPr>
        <p:spPr>
          <a:xfrm>
            <a:off x="694944" y="4169664"/>
            <a:ext cx="6199632"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4210812"/>
            <a:ext cx="12344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COINS.PH</a:t>
            </a:r>
          </a:p>
        </p:txBody>
      </p:sp>
      <p:sp>
        <p:nvSpPr>
          <p:cNvPr id="15" name="TextBox 14"/>
          <p:cNvSpPr txBox="1"/>
          <p:nvPr/>
        </p:nvSpPr>
        <p:spPr>
          <a:xfrm>
            <a:off x="2039112" y="4195267"/>
            <a:ext cx="4855464" cy="841248"/>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diawasi BSP sejak 2014, 26 lisensi termasuk EPFS setingkat bank, menyelesaikan USDC ke InstaPay dan PESONet, tapi tidak menerbitkan stellar.toml, jadi hari ini bukan anchor Stellar.</a:t>
            </a:r>
          </a:p>
        </p:txBody>
      </p:sp>
      <p:sp>
        <p:nvSpPr>
          <p:cNvPr id="16" name="Rectangle 15"/>
          <p:cNvSpPr/>
          <p:nvPr/>
        </p:nvSpPr>
        <p:spPr>
          <a:xfrm>
            <a:off x="694944" y="5010912"/>
            <a:ext cx="6199632"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052060"/>
            <a:ext cx="12344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DICORET</a:t>
            </a:r>
          </a:p>
        </p:txBody>
      </p:sp>
      <p:sp>
        <p:nvSpPr>
          <p:cNvPr id="18" name="TextBox 17"/>
          <p:cNvSpPr txBox="1"/>
          <p:nvPr/>
        </p:nvSpPr>
        <p:spPr>
          <a:xfrm>
            <a:off x="2039112" y="5036515"/>
            <a:ext cx="4855464" cy="841248"/>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sembilan kandidat dengan alasannya dan lima lagi tidak bisa diverifikasi dari halaman yang diambil, termasuk Yellow Card, Bridge, BlindPay, alfredpay, Koywe, Abroad, Mercuryo, dan Transak. Anchor Platform itu perangkat lunak SDF untuk membangun anchor, bukan anchor.</a:t>
            </a:r>
          </a:p>
        </p:txBody>
      </p:sp>
      <p:sp>
        <p:nvSpPr>
          <p:cNvPr id="19" name="Rectangle 18"/>
          <p:cNvSpPr/>
          <p:nvPr/>
        </p:nvSpPr>
        <p:spPr>
          <a:xfrm>
            <a:off x="694944" y="5852160"/>
            <a:ext cx="6199632"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188720"/>
            <a:ext cx="4407408" cy="237744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7333488" y="1188720"/>
            <a:ext cx="440740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APA YANG BERUBAH KARENANYA</a:t>
            </a:r>
          </a:p>
        </p:txBody>
      </p:sp>
      <p:sp>
        <p:nvSpPr>
          <p:cNvPr id="22" name="TextBox 21"/>
          <p:cNvSpPr txBox="1"/>
          <p:nvPr/>
        </p:nvSpPr>
        <p:spPr>
          <a:xfrm>
            <a:off x="7571231" y="1609344"/>
            <a:ext cx="3931920" cy="1737360"/>
          </a:xfrm>
          <a:prstGeom prst="rect">
            <a:avLst/>
          </a:prstGeom>
          <a:noFill/>
        </p:spPr>
        <p:txBody>
          <a:bodyPr wrap="square" lIns="0" rIns="0" tIns="0" bIns="0" anchor="t">
            <a:spAutoFit/>
          </a:bodyPr>
          <a:lstStyle/>
          <a:p>
            <a:pPr algn="l">
              <a:lnSpc>
                <a:spcPct val="140000"/>
              </a:lnSpc>
            </a:pPr>
            <a:r>
              <a:rPr sz="1050" b="0" i="0">
                <a:solidFill>
                  <a:srgbClr val="3D3731"/>
                </a:solidFill>
                <a:latin typeface="Barlow"/>
                <a:ea typeface="Barlow"/>
                <a:cs typeface="Barlow"/>
              </a:rPr>
              <a:t>Itu sebabnya deliverable anchor diberi harga dengan engineer integrasi anchor terkontrak, bukan dianggap gratis, dan sebabnya jalur mainnet pertama disebut namanya di rencana.</a:t>
            </a:r>
          </a:p>
          <a:p>
            <a:pPr algn="l">
              <a:lnSpc>
                <a:spcPct val="140000"/>
              </a:lnSpc>
              <a:spcBef>
                <a:spcPts val="900"/>
              </a:spcBef>
            </a:pPr>
            <a:r>
              <a:rPr sz="1050" b="0" i="0">
                <a:solidFill>
                  <a:srgbClr val="3D3731"/>
                </a:solidFill>
                <a:latin typeface="Barlow"/>
                <a:ea typeface="Barlow"/>
                <a:cs typeface="Barlow"/>
              </a:rPr>
              <a:t>Itu juga sebabnya log penolakan dihitung sebagai hasil nyata: kalau semua kandidat menolak, deliverable-nya adalah log penolakan dan perubahan lingkup yang dilaporkan.</a:t>
            </a:r>
          </a:p>
        </p:txBody>
      </p:sp>
      <p:sp>
        <p:nvSpPr>
          <p:cNvPr id="23" name="Rectangle 22"/>
          <p:cNvSpPr/>
          <p:nvPr/>
        </p:nvSpPr>
        <p:spPr>
          <a:xfrm>
            <a:off x="7333488" y="3712463"/>
            <a:ext cx="4407408" cy="2368296"/>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7333488" y="3712463"/>
            <a:ext cx="440740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DISEBUT TERUS TERANG</a:t>
            </a:r>
          </a:p>
        </p:txBody>
      </p:sp>
      <p:sp>
        <p:nvSpPr>
          <p:cNvPr id="25" name="TextBox 24"/>
          <p:cNvSpPr txBox="1"/>
          <p:nvPr/>
        </p:nvSpPr>
        <p:spPr>
          <a:xfrm>
            <a:off x="7571231" y="4151376"/>
            <a:ext cx="3931920" cy="822960"/>
          </a:xfrm>
          <a:prstGeom prst="rect">
            <a:avLst/>
          </a:prstGeom>
          <a:noFill/>
        </p:spPr>
        <p:txBody>
          <a:bodyPr wrap="square" lIns="0" rIns="0" tIns="0" bIns="0" anchor="t">
            <a:spAutoFit/>
          </a:bodyPr>
          <a:lstStyle/>
          <a:p>
            <a:pPr algn="l">
              <a:lnSpc>
                <a:spcPct val="122000"/>
              </a:lnSpc>
            </a:pPr>
            <a:r>
              <a:rPr sz="1500" b="0" i="0" spc="20">
                <a:solidFill>
                  <a:srgbClr val="161311"/>
                </a:solidFill>
                <a:latin typeface="Saira Stencil One"/>
                <a:ea typeface="Saira Stencil One"/>
                <a:cs typeface="Saira Stencil One"/>
              </a:rPr>
              <a:t>Belum ada anchor yang dihubungi.
Belum ada yang menyetujui apa pun.</a:t>
            </a:r>
          </a:p>
        </p:txBody>
      </p:sp>
      <p:sp>
        <p:nvSpPr>
          <p:cNvPr id="26" name="TextBox 25"/>
          <p:cNvSpPr txBox="1"/>
          <p:nvPr/>
        </p:nvSpPr>
        <p:spPr>
          <a:xfrm>
            <a:off x="7571231" y="5084064"/>
            <a:ext cx="3931920" cy="822960"/>
          </a:xfrm>
          <a:prstGeom prst="rect">
            <a:avLst/>
          </a:prstGeom>
          <a:noFill/>
        </p:spPr>
        <p:txBody>
          <a:bodyPr wrap="square" lIns="0" rIns="0" tIns="0" bIns="0" anchor="t">
            <a:spAutoFit/>
          </a:bodyPr>
          <a:lstStyle/>
          <a:p>
            <a:pPr algn="l">
              <a:lnSpc>
                <a:spcPct val="140000"/>
              </a:lnSpc>
            </a:pPr>
            <a:r>
              <a:rPr sz="1050" b="0" i="0">
                <a:solidFill>
                  <a:srgbClr val="3D3731"/>
                </a:solidFill>
                <a:latin typeface="Barlow"/>
                <a:ea typeface="Barlow"/>
                <a:cs typeface="Barlow"/>
              </a:rPr>
              <a:t>Tidak ada kemitraan, tidak ada kredensial sandbox, dan tidak ada hubungan komersial dengan perusahaan-perusahaan itu. Tidak satu pun dari mereka meninjau proyek ini, dan tidak ada nama kontak di deck ini.</a:t>
            </a:r>
          </a:p>
        </p:txBody>
      </p:sp>
      <p:sp>
        <p:nvSpPr>
          <p:cNvPr id="27" name="Rounded Rectangle 26"/>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15/19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ANCHOR</a:t>
            </a:r>
          </a:p>
        </p:txBody>
      </p:sp>
      <p:pic>
        <p:nvPicPr>
          <p:cNvPr id="28" name="Picture 27"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28625"/>
          </a:xfrm>
          <a:prstGeom prst="rect">
            <a:avLst/>
          </a:prstGeom>
          <a:noFill/>
        </p:spPr>
        <p:txBody>
          <a:bodyPr wrap="square" lIns="0" rIns="0" tIns="0" bIns="0" anchor="t">
            <a:spAutoFit/>
          </a:bodyPr>
          <a:lstStyle/>
          <a:p>
            <a:pPr algn="l">
              <a:lnSpc>
                <a:spcPct val="104000"/>
              </a:lnSpc>
            </a:pPr>
            <a:r>
              <a:rPr sz="2700" b="0" i="0" spc="32">
                <a:solidFill>
                  <a:srgbClr val="161311"/>
                </a:solidFill>
                <a:latin typeface="Saira Stencil One"/>
                <a:ea typeface="Saira Stencil One"/>
                <a:cs typeface="Saira Stencil One"/>
              </a:rPr>
              <a:t>YANG DIAKUI TUKAR, BARU YANG TERSISA</a:t>
            </a:r>
          </a:p>
        </p:txBody>
      </p:sp>
      <p:sp>
        <p:nvSpPr>
          <p:cNvPr id="4" name="Rectangle 3"/>
          <p:cNvSpPr/>
          <p:nvPr/>
        </p:nvSpPr>
        <p:spPr>
          <a:xfrm>
            <a:off x="457200" y="1042415"/>
            <a:ext cx="559612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559612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DIAKUI DULU, SEBELUM MENGKLAIM APA PUN</a:t>
            </a:r>
          </a:p>
        </p:txBody>
      </p:sp>
      <p:sp>
        <p:nvSpPr>
          <p:cNvPr id="6" name="TextBox 5"/>
          <p:cNvSpPr txBox="1"/>
          <p:nvPr/>
        </p:nvSpPr>
        <p:spPr>
          <a:xfrm>
            <a:off x="694944" y="1504188"/>
            <a:ext cx="14630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STELLAR PRIVATE
PAYMENTS</a:t>
            </a:r>
          </a:p>
        </p:txBody>
      </p:sp>
      <p:sp>
        <p:nvSpPr>
          <p:cNvPr id="7" name="TextBox 6"/>
          <p:cNvSpPr txBox="1"/>
          <p:nvPr/>
        </p:nvSpPr>
        <p:spPr>
          <a:xfrm>
            <a:off x="2267712" y="1488643"/>
            <a:ext cx="3547871" cy="1097280"/>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Di tingkat pool tidak ada yang beda. SPP membuktikan allow-list dan deny-list yang sama, di tempat yang sama, kurva yang sama, sistem proof yang sama, dan pola kontrak verifier Tukar diadaptasi dari referensi Nethermind itu, dikreditkan di README.</a:t>
            </a:r>
          </a:p>
        </p:txBody>
      </p:sp>
      <p:sp>
        <p:nvSpPr>
          <p:cNvPr id="8" name="Rectangle 7"/>
          <p:cNvSpPr/>
          <p:nvPr/>
        </p:nvSpPr>
        <p:spPr>
          <a:xfrm>
            <a:off x="694944" y="2560320"/>
            <a:ext cx="51206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601468"/>
            <a:ext cx="14630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ARCANE
SCF #42</a:t>
            </a:r>
          </a:p>
        </p:txBody>
      </p:sp>
      <p:sp>
        <p:nvSpPr>
          <p:cNvPr id="10" name="TextBox 9"/>
          <p:cNvSpPr txBox="1"/>
          <p:nvPr/>
        </p:nvSpPr>
        <p:spPr>
          <a:xfrm>
            <a:off x="2267712" y="2585923"/>
            <a:ext cx="3547871" cy="1097280"/>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Menggarap masalah yang sama, sudah didanai, lebih jauh, dan sumber dayanya lebih besar. Deck ini tidak mengklaim sebaliknya.</a:t>
            </a:r>
          </a:p>
        </p:txBody>
      </p:sp>
      <p:sp>
        <p:nvSpPr>
          <p:cNvPr id="11" name="Rectangle 10"/>
          <p:cNvSpPr/>
          <p:nvPr/>
        </p:nvSpPr>
        <p:spPr>
          <a:xfrm>
            <a:off x="694944" y="3657600"/>
            <a:ext cx="51206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3698748"/>
            <a:ext cx="14630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REMI
SCF #44</a:t>
            </a:r>
          </a:p>
        </p:txBody>
      </p:sp>
      <p:sp>
        <p:nvSpPr>
          <p:cNvPr id="13" name="TextBox 12"/>
          <p:cNvSpPr txBox="1"/>
          <p:nvPr/>
        </p:nvSpPr>
        <p:spPr>
          <a:xfrm>
            <a:off x="2267712" y="3683203"/>
            <a:ext cx="3547871" cy="1097280"/>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Pembeli sasarannya nyaris sama, didanai satu putaran lebih awal, dengan distribusi yang tidak dimiliki Tukar. Tukar tidak punya keunggulan traksi maupun jejak regulasi atas Remi.</a:t>
            </a:r>
          </a:p>
        </p:txBody>
      </p:sp>
      <p:sp>
        <p:nvSpPr>
          <p:cNvPr id="14" name="Rectangle 13"/>
          <p:cNvSpPr/>
          <p:nvPr/>
        </p:nvSpPr>
        <p:spPr>
          <a:xfrm>
            <a:off x="694944" y="4754880"/>
            <a:ext cx="512064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796028"/>
            <a:ext cx="146304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MOONLIGHT
SCF #37</a:t>
            </a:r>
          </a:p>
        </p:txBody>
      </p:sp>
      <p:sp>
        <p:nvSpPr>
          <p:cNvPr id="16" name="TextBox 15"/>
          <p:cNvSpPr txBox="1"/>
          <p:nvPr/>
        </p:nvSpPr>
        <p:spPr>
          <a:xfrm>
            <a:off x="2267712" y="4780483"/>
            <a:ext cx="3547871" cy="1097280"/>
          </a:xfrm>
          <a:prstGeom prst="rect">
            <a:avLst/>
          </a:prstGeom>
          <a:noFill/>
        </p:spPr>
        <p:txBody>
          <a:bodyPr wrap="square" lIns="0" rIns="0" tIns="0" bIns="0" anchor="t">
            <a:spAutoFit/>
          </a:bodyPr>
          <a:lstStyle/>
          <a:p>
            <a:pPr algn="l">
              <a:lnSpc>
                <a:spcPct val="115000"/>
              </a:lnSpc>
            </a:pPr>
            <a:r>
              <a:rPr sz="1000" b="0" i="0">
                <a:solidFill>
                  <a:srgbClr val="161311"/>
                </a:solidFill>
                <a:latin typeface="Barlow"/>
                <a:ea typeface="Barlow"/>
                <a:cs typeface="Barlow"/>
              </a:rPr>
              <a:t>Live di mainnet Stellar sejak 2026-08-27. Tukar belum. Itu keunggulan nyata buat Moonlight.</a:t>
            </a:r>
          </a:p>
        </p:txBody>
      </p:sp>
      <p:sp>
        <p:nvSpPr>
          <p:cNvPr id="17" name="Rectangle 16"/>
          <p:cNvSpPr/>
          <p:nvPr/>
        </p:nvSpPr>
        <p:spPr>
          <a:xfrm>
            <a:off x="694944" y="5852160"/>
            <a:ext cx="5120640"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2784" y="1042415"/>
            <a:ext cx="5468112"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ectangle 18"/>
          <p:cNvSpPr/>
          <p:nvPr/>
        </p:nvSpPr>
        <p:spPr>
          <a:xfrm>
            <a:off x="6272784" y="1042415"/>
            <a:ext cx="5468112"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YANG TERSISA, EMPAT SUMBU</a:t>
            </a:r>
          </a:p>
        </p:txBody>
      </p:sp>
      <p:sp>
        <p:nvSpPr>
          <p:cNvPr id="20" name="TextBox 19"/>
          <p:cNvSpPr txBox="1"/>
          <p:nvPr/>
        </p:nvSpPr>
        <p:spPr>
          <a:xfrm>
            <a:off x="6510528" y="1490472"/>
            <a:ext cx="365760" cy="182880"/>
          </a:xfrm>
          <a:prstGeom prst="rect">
            <a:avLst/>
          </a:prstGeom>
          <a:noFill/>
        </p:spPr>
        <p:txBody>
          <a:bodyPr wrap="square" lIns="0" rIns="0" tIns="0" bIns="0" anchor="t">
            <a:spAutoFit/>
          </a:bodyPr>
          <a:lstStyle/>
          <a:p>
            <a:pPr algn="l">
              <a:lnSpc>
                <a:spcPct val="100000"/>
              </a:lnSpc>
            </a:pPr>
            <a:r>
              <a:rPr sz="900" b="1" i="0" spc="80">
                <a:solidFill>
                  <a:srgbClr val="5A5148"/>
                </a:solidFill>
                <a:latin typeface="Courier Prime"/>
                <a:ea typeface="Courier Prime"/>
                <a:cs typeface="Courier Prime"/>
              </a:rPr>
              <a:t>01</a:t>
            </a:r>
          </a:p>
        </p:txBody>
      </p:sp>
      <p:sp>
        <p:nvSpPr>
          <p:cNvPr id="21" name="TextBox 20"/>
          <p:cNvSpPr txBox="1"/>
          <p:nvPr/>
        </p:nvSpPr>
        <p:spPr>
          <a:xfrm>
            <a:off x="6967728" y="1463040"/>
            <a:ext cx="4480560" cy="219456"/>
          </a:xfrm>
          <a:prstGeom prst="rect">
            <a:avLst/>
          </a:prstGeom>
          <a:noFill/>
        </p:spPr>
        <p:txBody>
          <a:bodyPr wrap="square" lIns="0" rIns="0" tIns="0" bIns="0" anchor="t">
            <a:spAutoFit/>
          </a:bodyPr>
          <a:lstStyle/>
          <a:p>
            <a:pPr algn="l">
              <a:lnSpc>
                <a:spcPct val="100000"/>
              </a:lnSpc>
            </a:pPr>
            <a:r>
              <a:rPr sz="1350" b="0" i="0" spc="25">
                <a:solidFill>
                  <a:srgbClr val="161311"/>
                </a:solidFill>
                <a:latin typeface="Saira Stencil One"/>
                <a:ea typeface="Saira Stencil One"/>
                <a:cs typeface="Saira Stencil One"/>
              </a:rPr>
              <a:t>PRODUK VERTIKAL</a:t>
            </a:r>
          </a:p>
        </p:txBody>
      </p:sp>
      <p:sp>
        <p:nvSpPr>
          <p:cNvPr id="22" name="TextBox 21"/>
          <p:cNvSpPr txBox="1"/>
          <p:nvPr/>
        </p:nvSpPr>
        <p:spPr>
          <a:xfrm>
            <a:off x="6967728" y="1719072"/>
            <a:ext cx="4480560" cy="77724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Tetangganya adalah lapisan untuk membangun produk. Tukar adalah produk itu untuk satu pekerjaan: tepi fiat SEP anchor, off-ramp ke mata uang lokal, bearer note dan payment request, di sepuluh koridor.</a:t>
            </a:r>
          </a:p>
        </p:txBody>
      </p:sp>
      <p:sp>
        <p:nvSpPr>
          <p:cNvPr id="23" name="Rectangle 22"/>
          <p:cNvSpPr/>
          <p:nvPr/>
        </p:nvSpPr>
        <p:spPr>
          <a:xfrm>
            <a:off x="6510528" y="2414015"/>
            <a:ext cx="49926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587751"/>
            <a:ext cx="365760" cy="182880"/>
          </a:xfrm>
          <a:prstGeom prst="rect">
            <a:avLst/>
          </a:prstGeom>
          <a:noFill/>
        </p:spPr>
        <p:txBody>
          <a:bodyPr wrap="square" lIns="0" rIns="0" tIns="0" bIns="0" anchor="t">
            <a:spAutoFit/>
          </a:bodyPr>
          <a:lstStyle/>
          <a:p>
            <a:pPr algn="l">
              <a:lnSpc>
                <a:spcPct val="100000"/>
              </a:lnSpc>
            </a:pPr>
            <a:r>
              <a:rPr sz="900" b="1" i="0" spc="80">
                <a:solidFill>
                  <a:srgbClr val="5A5148"/>
                </a:solidFill>
                <a:latin typeface="Courier Prime"/>
                <a:ea typeface="Courier Prime"/>
                <a:cs typeface="Courier Prime"/>
              </a:rPr>
              <a:t>02</a:t>
            </a:r>
          </a:p>
        </p:txBody>
      </p:sp>
      <p:sp>
        <p:nvSpPr>
          <p:cNvPr id="25" name="TextBox 24"/>
          <p:cNvSpPr txBox="1"/>
          <p:nvPr/>
        </p:nvSpPr>
        <p:spPr>
          <a:xfrm>
            <a:off x="6967728" y="2560320"/>
            <a:ext cx="4480560" cy="219456"/>
          </a:xfrm>
          <a:prstGeom prst="rect">
            <a:avLst/>
          </a:prstGeom>
          <a:noFill/>
        </p:spPr>
        <p:txBody>
          <a:bodyPr wrap="square" lIns="0" rIns="0" tIns="0" bIns="0" anchor="t">
            <a:spAutoFit/>
          </a:bodyPr>
          <a:lstStyle/>
          <a:p>
            <a:pPr algn="l">
              <a:lnSpc>
                <a:spcPct val="100000"/>
              </a:lnSpc>
            </a:pPr>
            <a:r>
              <a:rPr sz="1350" b="0" i="0" spc="25">
                <a:solidFill>
                  <a:srgbClr val="161311"/>
                </a:solidFill>
                <a:latin typeface="Saira Stencil One"/>
                <a:ea typeface="Saira Stencil One"/>
                <a:cs typeface="Saira Stencil One"/>
              </a:rPr>
              <a:t>DISCLOSURE TERIKAT PERMINTAAN</a:t>
            </a:r>
          </a:p>
        </p:txBody>
      </p:sp>
      <p:sp>
        <p:nvSpPr>
          <p:cNvPr id="26" name="TextBox 25"/>
          <p:cNvSpPr txBox="1"/>
          <p:nvPr/>
        </p:nvSpPr>
        <p:spPr>
          <a:xfrm>
            <a:off x="6967728" y="2816352"/>
            <a:ext cx="4480560" cy="77724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Empat jenis disclosure, masing-masing diverifikasi kontrak Soroban-nya sendiri, dan jawaban agregat yang ditolak pool kalau auditor tidak mendaftarkannya. Batasnya seperti di slide 07.</a:t>
            </a:r>
          </a:p>
        </p:txBody>
      </p:sp>
      <p:sp>
        <p:nvSpPr>
          <p:cNvPr id="27" name="Rectangle 26"/>
          <p:cNvSpPr/>
          <p:nvPr/>
        </p:nvSpPr>
        <p:spPr>
          <a:xfrm>
            <a:off x="6510528" y="3511296"/>
            <a:ext cx="49926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3685032"/>
            <a:ext cx="365760" cy="182880"/>
          </a:xfrm>
          <a:prstGeom prst="rect">
            <a:avLst/>
          </a:prstGeom>
          <a:noFill/>
        </p:spPr>
        <p:txBody>
          <a:bodyPr wrap="square" lIns="0" rIns="0" tIns="0" bIns="0" anchor="t">
            <a:spAutoFit/>
          </a:bodyPr>
          <a:lstStyle/>
          <a:p>
            <a:pPr algn="l">
              <a:lnSpc>
                <a:spcPct val="100000"/>
              </a:lnSpc>
            </a:pPr>
            <a:r>
              <a:rPr sz="900" b="1" i="0" spc="80">
                <a:solidFill>
                  <a:srgbClr val="5A5148"/>
                </a:solidFill>
                <a:latin typeface="Courier Prime"/>
                <a:ea typeface="Courier Prime"/>
                <a:cs typeface="Courier Prime"/>
              </a:rPr>
              <a:t>03</a:t>
            </a:r>
          </a:p>
        </p:txBody>
      </p:sp>
      <p:sp>
        <p:nvSpPr>
          <p:cNvPr id="29" name="TextBox 28"/>
          <p:cNvSpPr txBox="1"/>
          <p:nvPr/>
        </p:nvSpPr>
        <p:spPr>
          <a:xfrm>
            <a:off x="6967728" y="3657600"/>
            <a:ext cx="4480560" cy="219456"/>
          </a:xfrm>
          <a:prstGeom prst="rect">
            <a:avLst/>
          </a:prstGeom>
          <a:noFill/>
        </p:spPr>
        <p:txBody>
          <a:bodyPr wrap="square" lIns="0" rIns="0" tIns="0" bIns="0" anchor="t">
            <a:spAutoFit/>
          </a:bodyPr>
          <a:lstStyle/>
          <a:p>
            <a:pPr algn="l">
              <a:lnSpc>
                <a:spcPct val="100000"/>
              </a:lnSpc>
            </a:pPr>
            <a:r>
              <a:rPr sz="1350" b="0" i="0" spc="25">
                <a:solidFill>
                  <a:srgbClr val="161311"/>
                </a:solidFill>
                <a:latin typeface="Saira Stencil One"/>
                <a:ea typeface="Saira Stencil One"/>
                <a:cs typeface="Saira Stencil One"/>
              </a:rPr>
              <a:t>SETTLEMENT DIJAGA ORACLE</a:t>
            </a:r>
          </a:p>
        </p:txBody>
      </p:sp>
      <p:sp>
        <p:nvSpPr>
          <p:cNvPr id="30" name="TextBox 29"/>
          <p:cNvSpPr txBox="1"/>
          <p:nvPr/>
        </p:nvSpPr>
        <p:spPr>
          <a:xfrm>
            <a:off x="6967728" y="3913632"/>
            <a:ext cx="4480560" cy="77724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Reflector dibaca on-chain di dalam withdraw dan pelepasan dana dijaga lantai min-receive dari median lima record, menutup diri saat feed basi atau tipis.</a:t>
            </a:r>
          </a:p>
        </p:txBody>
      </p:sp>
      <p:sp>
        <p:nvSpPr>
          <p:cNvPr id="31" name="Rectangle 30"/>
          <p:cNvSpPr/>
          <p:nvPr/>
        </p:nvSpPr>
        <p:spPr>
          <a:xfrm>
            <a:off x="6510528" y="4608576"/>
            <a:ext cx="49926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0528" y="4782312"/>
            <a:ext cx="365760" cy="182880"/>
          </a:xfrm>
          <a:prstGeom prst="rect">
            <a:avLst/>
          </a:prstGeom>
          <a:noFill/>
        </p:spPr>
        <p:txBody>
          <a:bodyPr wrap="square" lIns="0" rIns="0" tIns="0" bIns="0" anchor="t">
            <a:spAutoFit/>
          </a:bodyPr>
          <a:lstStyle/>
          <a:p>
            <a:pPr algn="l">
              <a:lnSpc>
                <a:spcPct val="100000"/>
              </a:lnSpc>
            </a:pPr>
            <a:r>
              <a:rPr sz="900" b="1" i="0" spc="80">
                <a:solidFill>
                  <a:srgbClr val="5A5148"/>
                </a:solidFill>
                <a:latin typeface="Courier Prime"/>
                <a:ea typeface="Courier Prime"/>
                <a:cs typeface="Courier Prime"/>
              </a:rPr>
              <a:t>04</a:t>
            </a:r>
          </a:p>
        </p:txBody>
      </p:sp>
      <p:sp>
        <p:nvSpPr>
          <p:cNvPr id="33" name="TextBox 32"/>
          <p:cNvSpPr txBox="1"/>
          <p:nvPr/>
        </p:nvSpPr>
        <p:spPr>
          <a:xfrm>
            <a:off x="6967728" y="4754880"/>
            <a:ext cx="4480560" cy="219456"/>
          </a:xfrm>
          <a:prstGeom prst="rect">
            <a:avLst/>
          </a:prstGeom>
          <a:noFill/>
        </p:spPr>
        <p:txBody>
          <a:bodyPr wrap="square" lIns="0" rIns="0" tIns="0" bIns="0" anchor="t">
            <a:spAutoFit/>
          </a:bodyPr>
          <a:lstStyle/>
          <a:p>
            <a:pPr algn="l">
              <a:lnSpc>
                <a:spcPct val="100000"/>
              </a:lnSpc>
            </a:pPr>
            <a:r>
              <a:rPr sz="1350" b="0" i="0" spc="25">
                <a:solidFill>
                  <a:srgbClr val="161311"/>
                </a:solidFill>
                <a:latin typeface="Saira Stencil One"/>
                <a:ea typeface="Saira Stencil One"/>
                <a:cs typeface="Saira Stencil One"/>
              </a:rPr>
              <a:t>DUA PERMUKAAN KEPATUHAN</a:t>
            </a:r>
          </a:p>
        </p:txBody>
      </p:sp>
      <p:sp>
        <p:nvSpPr>
          <p:cNvPr id="34" name="TextBox 33"/>
          <p:cNvSpPr txBox="1"/>
          <p:nvPr/>
        </p:nvSpPr>
        <p:spPr>
          <a:xfrm>
            <a:off x="6967728" y="5010912"/>
            <a:ext cx="4480560" cy="777240"/>
          </a:xfrm>
          <a:prstGeom prst="rect">
            <a:avLst/>
          </a:prstGeom>
          <a:noFill/>
        </p:spPr>
        <p:txBody>
          <a:bodyPr wrap="square" lIns="0" rIns="0" tIns="0" bIns="0" anchor="t">
            <a:spAutoFit/>
          </a:bodyPr>
          <a:lstStyle/>
          <a:p>
            <a:pPr algn="l">
              <a:lnSpc>
                <a:spcPct val="138000"/>
              </a:lnSpc>
            </a:pPr>
            <a:r>
              <a:rPr sz="1050" b="0" i="0">
                <a:solidFill>
                  <a:srgbClr val="3D3731"/>
                </a:solidFill>
                <a:latin typeface="Barlow"/>
                <a:ea typeface="Barlow"/>
                <a:cs typeface="Barlow"/>
              </a:rPr>
              <a:t>Akumulator liabilitas eksak se-pool dan kaki Travel Rule TRP 3.2.1 yang berjalan, keduanya disebut bersama batasnya di slide 09.</a:t>
            </a:r>
          </a:p>
        </p:txBody>
      </p:sp>
      <p:sp>
        <p:nvSpPr>
          <p:cNvPr id="35" name="Rectangle 34"/>
          <p:cNvSpPr/>
          <p:nvPr/>
        </p:nvSpPr>
        <p:spPr>
          <a:xfrm>
            <a:off x="6510528" y="5596128"/>
            <a:ext cx="4992624"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0528" y="5705856"/>
            <a:ext cx="4992624" cy="310896"/>
          </a:xfrm>
          <a:prstGeom prst="rect">
            <a:avLst/>
          </a:prstGeom>
          <a:noFill/>
        </p:spPr>
        <p:txBody>
          <a:bodyPr wrap="square" lIns="0" rIns="0" tIns="0" bIns="0" anchor="t">
            <a:spAutoFit/>
          </a:bodyPr>
          <a:lstStyle/>
          <a:p>
            <a:pPr algn="l">
              <a:lnSpc>
                <a:spcPct val="135000"/>
              </a:lnSpc>
            </a:pPr>
            <a:r>
              <a:rPr sz="840" b="0" i="0">
                <a:solidFill>
                  <a:srgbClr val="5A5148"/>
                </a:solidFill>
                <a:latin typeface="Courier Prime"/>
                <a:ea typeface="Courier Prime"/>
                <a:cs typeface="Courier Prime"/>
              </a:rPr>
              <a:t>Tidak ditemukan proyek didanai SCF yang melakukan ini di Stellar dalam sumber yang dicari; ditulis "tidak ditemukan", bukan "tidak ada".</a:t>
            </a:r>
          </a:p>
        </p:txBody>
      </p:sp>
      <p:sp>
        <p:nvSpPr>
          <p:cNvPr id="37" name="Rounded Rectangle 36"/>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16/19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PESAING</a:t>
            </a:r>
          </a:p>
        </p:txBody>
      </p:sp>
      <p:pic>
        <p:nvPicPr>
          <p:cNvPr id="38" name="Picture 37"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5486400" cy="539750"/>
          </a:xfrm>
          <a:prstGeom prst="rect">
            <a:avLst/>
          </a:prstGeom>
          <a:noFill/>
        </p:spPr>
        <p:txBody>
          <a:bodyPr wrap="square" lIns="0" rIns="0" tIns="0" bIns="0" anchor="t">
            <a:spAutoFit/>
          </a:bodyPr>
          <a:lstStyle/>
          <a:p>
            <a:pPr algn="l">
              <a:lnSpc>
                <a:spcPct val="104000"/>
              </a:lnSpc>
            </a:pPr>
            <a:r>
              <a:rPr sz="3400" b="0" i="0" spc="40">
                <a:solidFill>
                  <a:srgbClr val="161311"/>
                </a:solidFill>
                <a:latin typeface="Saira Stencil One"/>
                <a:ea typeface="Saira Stencil One"/>
                <a:cs typeface="Saira Stencil One"/>
              </a:rPr>
              <a:t>YANG DIMINTA</a:t>
            </a:r>
          </a:p>
        </p:txBody>
      </p:sp>
      <p:sp>
        <p:nvSpPr>
          <p:cNvPr id="4" name="Rectangle 3"/>
          <p:cNvSpPr/>
          <p:nvPr/>
        </p:nvSpPr>
        <p:spPr>
          <a:xfrm>
            <a:off x="457200" y="1042415"/>
            <a:ext cx="7223760"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722376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BIAYA DELIVERABLE VS PEMBAYARAN SCF, PER TRANCHE</a:t>
            </a:r>
          </a:p>
        </p:txBody>
      </p:sp>
      <p:sp>
        <p:nvSpPr>
          <p:cNvPr id="6" name="TextBox 5"/>
          <p:cNvSpPr txBox="1"/>
          <p:nvPr/>
        </p:nvSpPr>
        <p:spPr>
          <a:xfrm>
            <a:off x="2596896" y="1110995"/>
            <a:ext cx="4937760" cy="182880"/>
          </a:xfrm>
          <a:prstGeom prst="rect">
            <a:avLst/>
          </a:prstGeom>
          <a:noFill/>
        </p:spPr>
        <p:txBody>
          <a:bodyPr wrap="square" lIns="0" rIns="0" tIns="0" bIns="0" anchor="t">
            <a:spAutoFit/>
          </a:bodyPr>
          <a:lstStyle/>
          <a:p>
            <a:pPr algn="r">
              <a:lnSpc>
                <a:spcPct val="100000"/>
              </a:lnSpc>
            </a:pPr>
            <a:r>
              <a:rPr sz="900" b="1" i="0" spc="72">
                <a:solidFill>
                  <a:srgbClr val="F6F1E7"/>
                </a:solidFill>
                <a:latin typeface="Courier Prime"/>
                <a:ea typeface="Courier Prime"/>
                <a:cs typeface="Courier Prime"/>
              </a:rPr>
              <a:t>USD</a:t>
            </a:r>
          </a:p>
        </p:txBody>
      </p:sp>
      <p:sp>
        <p:nvSpPr>
          <p:cNvPr id="7" name="TextBox 6"/>
          <p:cNvSpPr txBox="1"/>
          <p:nvPr/>
        </p:nvSpPr>
        <p:spPr>
          <a:xfrm>
            <a:off x="694944" y="1463040"/>
            <a:ext cx="6748272" cy="640080"/>
          </a:xfrm>
          <a:prstGeom prst="rect">
            <a:avLst/>
          </a:prstGeom>
          <a:noFill/>
        </p:spPr>
        <p:txBody>
          <a:bodyPr wrap="square" lIns="0" rIns="0" tIns="0" bIns="0" anchor="t">
            <a:spAutoFit/>
          </a:bodyPr>
          <a:lstStyle/>
          <a:p>
            <a:pPr algn="l">
              <a:lnSpc>
                <a:spcPct val="136000"/>
              </a:lnSpc>
            </a:pPr>
            <a:r>
              <a:rPr sz="1100" b="0" i="0">
                <a:solidFill>
                  <a:srgbClr val="3D3731"/>
                </a:solidFill>
                <a:latin typeface="Barlow"/>
                <a:ea typeface="Barlow"/>
                <a:cs typeface="Barlow"/>
              </a:rPr>
              <a:t>$120,100 dalam XLM untuk 6 bulan, sekitar 80% dari plafon $150,000. Pembayarannya mengikuti pembagian tetap 10 / 20 / 30 / 40; basis biayanya tidak jatuh dengan rasio itu, dan ketidakcocokan itu ditampilkan, bukan dihaluskan.</a:t>
            </a:r>
          </a:p>
        </p:txBody>
      </p:sp>
      <p:graphicFrame>
        <p:nvGraphicFramePr>
          <p:cNvPr id="8" name="Chart 7"/>
          <p:cNvGraphicFramePr>
            <a:graphicFrameLocks noGrp="1"/>
          </p:cNvGraphicFramePr>
          <p:nvPr/>
        </p:nvGraphicFramePr>
        <p:xfrm>
          <a:off x="640080" y="2212848"/>
          <a:ext cx="6858000" cy="3657600"/>
        </p:xfrm>
        <a:graphic>
          <a:graphicData uri="http://schemas.openxmlformats.org/drawingml/2006/chart">
            <c:chart xmlns:c="http://schemas.openxmlformats.org/drawingml/2006/chart" r:id="rId3"/>
          </a:graphicData>
        </a:graphic>
      </p:graphicFrame>
      <p:sp>
        <p:nvSpPr>
          <p:cNvPr id="9" name="Rectangle 8"/>
          <p:cNvSpPr/>
          <p:nvPr/>
        </p:nvSpPr>
        <p:spPr>
          <a:xfrm>
            <a:off x="7882127" y="1042415"/>
            <a:ext cx="3858768" cy="503834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7882127" y="1042415"/>
            <a:ext cx="3858768"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ISI DARI $120,100</a:t>
            </a:r>
          </a:p>
        </p:txBody>
      </p:sp>
      <p:sp>
        <p:nvSpPr>
          <p:cNvPr id="11" name="TextBox 10"/>
          <p:cNvSpPr txBox="1"/>
          <p:nvPr/>
        </p:nvSpPr>
        <p:spPr>
          <a:xfrm>
            <a:off x="8119872" y="1504188"/>
            <a:ext cx="822960" cy="201168"/>
          </a:xfrm>
          <a:prstGeom prst="rect">
            <a:avLst/>
          </a:prstGeom>
          <a:noFill/>
        </p:spPr>
        <p:txBody>
          <a:bodyPr wrap="square" lIns="0" rIns="0" tIns="0" bIns="0" anchor="t">
            <a:spAutoFit/>
          </a:bodyPr>
          <a:lstStyle/>
          <a:p>
            <a:pPr algn="l">
              <a:lnSpc>
                <a:spcPct val="100000"/>
              </a:lnSpc>
            </a:pPr>
            <a:r>
              <a:rPr sz="1000" b="1" i="0" spc="70">
                <a:solidFill>
                  <a:srgbClr val="3D3731"/>
                </a:solidFill>
                <a:latin typeface="Courier Prime"/>
                <a:ea typeface="Courier Prime"/>
                <a:cs typeface="Courier Prime"/>
              </a:rPr>
              <a:t>$45,500</a:t>
            </a:r>
          </a:p>
        </p:txBody>
      </p:sp>
      <p:sp>
        <p:nvSpPr>
          <p:cNvPr id="12" name="TextBox 11"/>
          <p:cNvSpPr txBox="1"/>
          <p:nvPr/>
        </p:nvSpPr>
        <p:spPr>
          <a:xfrm>
            <a:off x="9052560" y="1488643"/>
            <a:ext cx="2450592" cy="603504"/>
          </a:xfrm>
          <a:prstGeom prst="rect">
            <a:avLst/>
          </a:prstGeom>
          <a:noFill/>
        </p:spPr>
        <p:txBody>
          <a:bodyPr wrap="square" lIns="0" rIns="0" tIns="0" bIns="0" anchor="t">
            <a:spAutoFit/>
          </a:bodyPr>
          <a:lstStyle/>
          <a:p>
            <a:pPr algn="l">
              <a:lnSpc>
                <a:spcPct val="115000"/>
              </a:lnSpc>
            </a:pPr>
            <a:r>
              <a:rPr sz="960" b="0" i="0">
                <a:solidFill>
                  <a:srgbClr val="161311"/>
                </a:solidFill>
                <a:latin typeface="Barlow"/>
                <a:ea typeface="Barlow"/>
                <a:cs typeface="Barlow"/>
              </a:rPr>
              <a:t>founder, 26 minggu penuh waktu, meninggalkan pekerjaan tetapnya selama jendela award</a:t>
            </a:r>
          </a:p>
        </p:txBody>
      </p:sp>
      <p:sp>
        <p:nvSpPr>
          <p:cNvPr id="13" name="Rectangle 12"/>
          <p:cNvSpPr/>
          <p:nvPr/>
        </p:nvSpPr>
        <p:spPr>
          <a:xfrm>
            <a:off x="8119872" y="2066544"/>
            <a:ext cx="33832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9872" y="2107692"/>
            <a:ext cx="822960" cy="201168"/>
          </a:xfrm>
          <a:prstGeom prst="rect">
            <a:avLst/>
          </a:prstGeom>
          <a:noFill/>
        </p:spPr>
        <p:txBody>
          <a:bodyPr wrap="square" lIns="0" rIns="0" tIns="0" bIns="0" anchor="t">
            <a:spAutoFit/>
          </a:bodyPr>
          <a:lstStyle/>
          <a:p>
            <a:pPr algn="l">
              <a:lnSpc>
                <a:spcPct val="100000"/>
              </a:lnSpc>
            </a:pPr>
            <a:r>
              <a:rPr sz="1000" b="1" i="0" spc="70">
                <a:solidFill>
                  <a:srgbClr val="3D3731"/>
                </a:solidFill>
                <a:latin typeface="Courier Prime"/>
                <a:ea typeface="Courier Prime"/>
                <a:cs typeface="Courier Prime"/>
              </a:rPr>
              <a:t>$26,000</a:t>
            </a:r>
          </a:p>
        </p:txBody>
      </p:sp>
      <p:sp>
        <p:nvSpPr>
          <p:cNvPr id="15" name="TextBox 14"/>
          <p:cNvSpPr txBox="1"/>
          <p:nvPr/>
        </p:nvSpPr>
        <p:spPr>
          <a:xfrm>
            <a:off x="9052560" y="2092147"/>
            <a:ext cx="2450592" cy="603504"/>
          </a:xfrm>
          <a:prstGeom prst="rect">
            <a:avLst/>
          </a:prstGeom>
          <a:noFill/>
        </p:spPr>
        <p:txBody>
          <a:bodyPr wrap="square" lIns="0" rIns="0" tIns="0" bIns="0" anchor="t">
            <a:spAutoFit/>
          </a:bodyPr>
          <a:lstStyle/>
          <a:p>
            <a:pPr algn="l">
              <a:lnSpc>
                <a:spcPct val="115000"/>
              </a:lnSpc>
            </a:pPr>
            <a:r>
              <a:rPr sz="960" b="0" i="0">
                <a:solidFill>
                  <a:srgbClr val="161311"/>
                </a:solidFill>
                <a:latin typeface="Barlow"/>
                <a:ea typeface="Barlow"/>
                <a:cs typeface="Barlow"/>
              </a:rPr>
              <a:t>engineer backend dan data, indexer tingkat transaksi</a:t>
            </a:r>
          </a:p>
        </p:txBody>
      </p:sp>
      <p:sp>
        <p:nvSpPr>
          <p:cNvPr id="16" name="Rectangle 15"/>
          <p:cNvSpPr/>
          <p:nvPr/>
        </p:nvSpPr>
        <p:spPr>
          <a:xfrm>
            <a:off x="8119872" y="2670048"/>
            <a:ext cx="33832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9872" y="2711196"/>
            <a:ext cx="822960" cy="201168"/>
          </a:xfrm>
          <a:prstGeom prst="rect">
            <a:avLst/>
          </a:prstGeom>
          <a:noFill/>
        </p:spPr>
        <p:txBody>
          <a:bodyPr wrap="square" lIns="0" rIns="0" tIns="0" bIns="0" anchor="t">
            <a:spAutoFit/>
          </a:bodyPr>
          <a:lstStyle/>
          <a:p>
            <a:pPr algn="l">
              <a:lnSpc>
                <a:spcPct val="100000"/>
              </a:lnSpc>
            </a:pPr>
            <a:r>
              <a:rPr sz="1000" b="1" i="0" spc="70">
                <a:solidFill>
                  <a:srgbClr val="3D3731"/>
                </a:solidFill>
                <a:latin typeface="Courier Prime"/>
                <a:ea typeface="Courier Prime"/>
                <a:cs typeface="Courier Prime"/>
              </a:rPr>
              <a:t>$18,200</a:t>
            </a:r>
          </a:p>
        </p:txBody>
      </p:sp>
      <p:sp>
        <p:nvSpPr>
          <p:cNvPr id="18" name="TextBox 17"/>
          <p:cNvSpPr txBox="1"/>
          <p:nvPr/>
        </p:nvSpPr>
        <p:spPr>
          <a:xfrm>
            <a:off x="9052560" y="2695651"/>
            <a:ext cx="2450592" cy="603504"/>
          </a:xfrm>
          <a:prstGeom prst="rect">
            <a:avLst/>
          </a:prstGeom>
          <a:noFill/>
        </p:spPr>
        <p:txBody>
          <a:bodyPr wrap="square" lIns="0" rIns="0" tIns="0" bIns="0" anchor="t">
            <a:spAutoFit/>
          </a:bodyPr>
          <a:lstStyle/>
          <a:p>
            <a:pPr algn="l">
              <a:lnSpc>
                <a:spcPct val="115000"/>
              </a:lnSpc>
            </a:pPr>
            <a:r>
              <a:rPr sz="960" b="0" i="0">
                <a:solidFill>
                  <a:srgbClr val="161311"/>
                </a:solidFill>
                <a:latin typeface="Barlow"/>
                <a:ea typeface="Barlow"/>
                <a:cs typeface="Barlow"/>
              </a:rPr>
              <a:t>engineer integrasi anchor</a:t>
            </a:r>
          </a:p>
        </p:txBody>
      </p:sp>
      <p:sp>
        <p:nvSpPr>
          <p:cNvPr id="19" name="Rectangle 18"/>
          <p:cNvSpPr/>
          <p:nvPr/>
        </p:nvSpPr>
        <p:spPr>
          <a:xfrm>
            <a:off x="8119872" y="3273552"/>
            <a:ext cx="33832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2" y="3314700"/>
            <a:ext cx="822960" cy="201168"/>
          </a:xfrm>
          <a:prstGeom prst="rect">
            <a:avLst/>
          </a:prstGeom>
          <a:noFill/>
        </p:spPr>
        <p:txBody>
          <a:bodyPr wrap="square" lIns="0" rIns="0" tIns="0" bIns="0" anchor="t">
            <a:spAutoFit/>
          </a:bodyPr>
          <a:lstStyle/>
          <a:p>
            <a:pPr algn="l">
              <a:lnSpc>
                <a:spcPct val="100000"/>
              </a:lnSpc>
            </a:pPr>
            <a:r>
              <a:rPr sz="1000" b="1" i="0" spc="70">
                <a:solidFill>
                  <a:srgbClr val="3D3731"/>
                </a:solidFill>
                <a:latin typeface="Courier Prime"/>
                <a:ea typeface="Courier Prime"/>
                <a:cs typeface="Courier Prime"/>
              </a:rPr>
              <a:t>$14,000</a:t>
            </a:r>
          </a:p>
        </p:txBody>
      </p:sp>
      <p:sp>
        <p:nvSpPr>
          <p:cNvPr id="21" name="TextBox 20"/>
          <p:cNvSpPr txBox="1"/>
          <p:nvPr/>
        </p:nvSpPr>
        <p:spPr>
          <a:xfrm>
            <a:off x="9052560" y="3299155"/>
            <a:ext cx="2450592" cy="603504"/>
          </a:xfrm>
          <a:prstGeom prst="rect">
            <a:avLst/>
          </a:prstGeom>
          <a:noFill/>
        </p:spPr>
        <p:txBody>
          <a:bodyPr wrap="square" lIns="0" rIns="0" tIns="0" bIns="0" anchor="t">
            <a:spAutoFit/>
          </a:bodyPr>
          <a:lstStyle/>
          <a:p>
            <a:pPr algn="l">
              <a:lnSpc>
                <a:spcPct val="115000"/>
              </a:lnSpc>
            </a:pPr>
            <a:r>
              <a:rPr sz="960" b="0" i="0">
                <a:solidFill>
                  <a:srgbClr val="161311"/>
                </a:solidFill>
                <a:latin typeface="Barlow"/>
                <a:ea typeface="Barlow"/>
                <a:cs typeface="Barlow"/>
              </a:rPr>
              <a:t>engineer infrastruktur dan SRE, node TRISA dan siklus sertifikatnya</a:t>
            </a:r>
          </a:p>
        </p:txBody>
      </p:sp>
      <p:sp>
        <p:nvSpPr>
          <p:cNvPr id="22" name="Rectangle 21"/>
          <p:cNvSpPr/>
          <p:nvPr/>
        </p:nvSpPr>
        <p:spPr>
          <a:xfrm>
            <a:off x="8119872" y="3877056"/>
            <a:ext cx="33832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19872" y="3918204"/>
            <a:ext cx="822960" cy="201168"/>
          </a:xfrm>
          <a:prstGeom prst="rect">
            <a:avLst/>
          </a:prstGeom>
          <a:noFill/>
        </p:spPr>
        <p:txBody>
          <a:bodyPr wrap="square" lIns="0" rIns="0" tIns="0" bIns="0" anchor="t">
            <a:spAutoFit/>
          </a:bodyPr>
          <a:lstStyle/>
          <a:p>
            <a:pPr algn="l">
              <a:lnSpc>
                <a:spcPct val="100000"/>
              </a:lnSpc>
            </a:pPr>
            <a:r>
              <a:rPr sz="1000" b="1" i="0" spc="70">
                <a:solidFill>
                  <a:srgbClr val="3D3731"/>
                </a:solidFill>
                <a:latin typeface="Courier Prime"/>
                <a:ea typeface="Courier Prime"/>
                <a:cs typeface="Courier Prime"/>
              </a:rPr>
              <a:t>$11,000</a:t>
            </a:r>
          </a:p>
        </p:txBody>
      </p:sp>
      <p:sp>
        <p:nvSpPr>
          <p:cNvPr id="24" name="TextBox 23"/>
          <p:cNvSpPr txBox="1"/>
          <p:nvPr/>
        </p:nvSpPr>
        <p:spPr>
          <a:xfrm>
            <a:off x="9052560" y="3902659"/>
            <a:ext cx="2450592" cy="603504"/>
          </a:xfrm>
          <a:prstGeom prst="rect">
            <a:avLst/>
          </a:prstGeom>
          <a:noFill/>
        </p:spPr>
        <p:txBody>
          <a:bodyPr wrap="square" lIns="0" rIns="0" tIns="0" bIns="0" anchor="t">
            <a:spAutoFit/>
          </a:bodyPr>
          <a:lstStyle/>
          <a:p>
            <a:pPr algn="l">
              <a:lnSpc>
                <a:spcPct val="115000"/>
              </a:lnSpc>
            </a:pPr>
            <a:r>
              <a:rPr sz="960" b="0" i="0">
                <a:solidFill>
                  <a:srgbClr val="161311"/>
                </a:solidFill>
                <a:latin typeface="Barlow"/>
                <a:ea typeface="Barlow"/>
                <a:cs typeface="Barlow"/>
              </a:rPr>
              <a:t>upacara trusted setup dengan kontributor independen, biaya tetap</a:t>
            </a:r>
          </a:p>
        </p:txBody>
      </p:sp>
      <p:sp>
        <p:nvSpPr>
          <p:cNvPr id="25" name="Rectangle 24"/>
          <p:cNvSpPr/>
          <p:nvPr/>
        </p:nvSpPr>
        <p:spPr>
          <a:xfrm>
            <a:off x="8119872" y="4480560"/>
            <a:ext cx="3383280"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19872" y="4521708"/>
            <a:ext cx="822960" cy="201168"/>
          </a:xfrm>
          <a:prstGeom prst="rect">
            <a:avLst/>
          </a:prstGeom>
          <a:noFill/>
        </p:spPr>
        <p:txBody>
          <a:bodyPr wrap="square" lIns="0" rIns="0" tIns="0" bIns="0" anchor="t">
            <a:spAutoFit/>
          </a:bodyPr>
          <a:lstStyle/>
          <a:p>
            <a:pPr algn="l">
              <a:lnSpc>
                <a:spcPct val="100000"/>
              </a:lnSpc>
            </a:pPr>
            <a:r>
              <a:rPr sz="1000" b="1" i="0" spc="70">
                <a:solidFill>
                  <a:srgbClr val="3D3731"/>
                </a:solidFill>
                <a:latin typeface="Courier Prime"/>
                <a:ea typeface="Courier Prime"/>
                <a:cs typeface="Courier Prime"/>
              </a:rPr>
              <a:t>$5,400</a:t>
            </a:r>
          </a:p>
        </p:txBody>
      </p:sp>
      <p:sp>
        <p:nvSpPr>
          <p:cNvPr id="27" name="TextBox 26"/>
          <p:cNvSpPr txBox="1"/>
          <p:nvPr/>
        </p:nvSpPr>
        <p:spPr>
          <a:xfrm>
            <a:off x="9052560" y="4506163"/>
            <a:ext cx="2450592" cy="603504"/>
          </a:xfrm>
          <a:prstGeom prst="rect">
            <a:avLst/>
          </a:prstGeom>
          <a:noFill/>
        </p:spPr>
        <p:txBody>
          <a:bodyPr wrap="square" lIns="0" rIns="0" tIns="0" bIns="0" anchor="t">
            <a:spAutoFit/>
          </a:bodyPr>
          <a:lstStyle/>
          <a:p>
            <a:pPr algn="l">
              <a:lnSpc>
                <a:spcPct val="115000"/>
              </a:lnSpc>
            </a:pPr>
            <a:r>
              <a:rPr sz="960" b="0" i="0">
                <a:solidFill>
                  <a:srgbClr val="161311"/>
                </a:solidFill>
                <a:latin typeface="Barlow"/>
                <a:ea typeface="Barlow"/>
                <a:cs typeface="Barlow"/>
              </a:rPr>
              <a:t>desain produk untuk dokumentasi integrasi SDK</a:t>
            </a:r>
          </a:p>
        </p:txBody>
      </p:sp>
      <p:sp>
        <p:nvSpPr>
          <p:cNvPr id="28" name="Rectangle 27"/>
          <p:cNvSpPr/>
          <p:nvPr/>
        </p:nvSpPr>
        <p:spPr>
          <a:xfrm>
            <a:off x="8119872" y="5084064"/>
            <a:ext cx="3383280"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19872" y="5157216"/>
            <a:ext cx="3383280" cy="731520"/>
          </a:xfrm>
          <a:prstGeom prst="rect">
            <a:avLst/>
          </a:prstGeom>
          <a:noFill/>
        </p:spPr>
        <p:txBody>
          <a:bodyPr wrap="square" lIns="0" rIns="0" tIns="0" bIns="0" anchor="t">
            <a:spAutoFit/>
          </a:bodyPr>
          <a:lstStyle/>
          <a:p>
            <a:pPr algn="l">
              <a:lnSpc>
                <a:spcPct val="132000"/>
              </a:lnSpc>
            </a:pPr>
            <a:r>
              <a:rPr sz="940" b="0" i="0">
                <a:solidFill>
                  <a:srgbClr val="3D3731"/>
                </a:solidFill>
                <a:latin typeface="Barlow"/>
                <a:ea typeface="Barlow"/>
                <a:cs typeface="Barlow"/>
              </a:rPr>
              <a:t>Sekitar 25 dari kira-kira 51 minggu engineering dibeli dari luar. Biaya operasional sekitar $9,500 ditanggung di luar award. Tidak ada biaya audit, pemasaran, bounty, atau bayaran untuk pekerjaan lama.</a:t>
            </a:r>
          </a:p>
        </p:txBody>
      </p:sp>
      <p:sp>
        <p:nvSpPr>
          <p:cNvPr id="30" name="Rounded Rectangle 29"/>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17/19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PERMINTAAN</a:t>
            </a:r>
          </a:p>
        </p:txBody>
      </p:sp>
      <p:pic>
        <p:nvPicPr>
          <p:cNvPr id="31" name="Picture 30" descr="seal.png"/>
          <p:cNvPicPr>
            <a:picLocks noChangeAspect="1"/>
          </p:cNvPicPr>
          <p:nvPr/>
        </p:nvPicPr>
        <p:blipFill>
          <a:blip r:embed="rId4"/>
          <a:stretch>
            <a:fillRect/>
          </a:stretch>
        </p:blipFill>
        <p:spPr>
          <a:xfrm>
            <a:off x="11356848" y="6199632"/>
            <a:ext cx="548640" cy="274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TextBox 2"/>
          <p:cNvSpPr txBox="1"/>
          <p:nvPr/>
        </p:nvSpPr>
        <p:spPr>
          <a:xfrm>
            <a:off x="457200" y="402336"/>
            <a:ext cx="11338560" cy="428625"/>
          </a:xfrm>
          <a:prstGeom prst="rect">
            <a:avLst/>
          </a:prstGeom>
          <a:noFill/>
        </p:spPr>
        <p:txBody>
          <a:bodyPr wrap="square" lIns="0" rIns="0" tIns="0" bIns="0" anchor="t">
            <a:spAutoFit/>
          </a:bodyPr>
          <a:lstStyle/>
          <a:p>
            <a:pPr algn="l">
              <a:lnSpc>
                <a:spcPct val="104000"/>
              </a:lnSpc>
            </a:pPr>
            <a:r>
              <a:rPr sz="2700" b="0" i="0" spc="32">
                <a:solidFill>
                  <a:srgbClr val="161311"/>
                </a:solidFill>
                <a:latin typeface="Saira Stencil One"/>
                <a:ea typeface="Saira Stencil One"/>
                <a:cs typeface="Saira Stencil One"/>
              </a:rPr>
              <a:t>SEBELAS DELIVERABLE DENGAN SYARAT SELESAINYA</a:t>
            </a:r>
          </a:p>
        </p:txBody>
      </p:sp>
      <p:sp>
        <p:nvSpPr>
          <p:cNvPr id="4" name="Rectangle 3"/>
          <p:cNvSpPr/>
          <p:nvPr/>
        </p:nvSpPr>
        <p:spPr>
          <a:xfrm>
            <a:off x="457200" y="1042415"/>
            <a:ext cx="3758184" cy="427939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a:off x="457200" y="1042415"/>
            <a:ext cx="3758184"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TRANCHE #1 · MVP</a:t>
            </a:r>
          </a:p>
        </p:txBody>
      </p:sp>
      <p:sp>
        <p:nvSpPr>
          <p:cNvPr id="6" name="TextBox 5"/>
          <p:cNvSpPr txBox="1"/>
          <p:nvPr/>
        </p:nvSpPr>
        <p:spPr>
          <a:xfrm>
            <a:off x="676656" y="1426464"/>
            <a:ext cx="3319272" cy="182880"/>
          </a:xfrm>
          <a:prstGeom prst="rect">
            <a:avLst/>
          </a:prstGeom>
          <a:noFill/>
        </p:spPr>
        <p:txBody>
          <a:bodyPr wrap="square" lIns="0" rIns="0" tIns="0" bIns="0" anchor="t">
            <a:spAutoFit/>
          </a:bodyPr>
          <a:lstStyle/>
          <a:p>
            <a:pPr algn="l">
              <a:lnSpc>
                <a:spcPct val="100000"/>
              </a:lnSpc>
            </a:pPr>
            <a:r>
              <a:rPr sz="900" b="1" i="0" spc="70">
                <a:solidFill>
                  <a:srgbClr val="161311"/>
                </a:solidFill>
                <a:latin typeface="Courier Prime"/>
                <a:ea typeface="Courier Prime"/>
                <a:cs typeface="Courier Prime"/>
              </a:rPr>
              <a:t>BIAYA $13,125 · DIBAYAR $24,020</a:t>
            </a:r>
          </a:p>
        </p:txBody>
      </p:sp>
      <p:sp>
        <p:nvSpPr>
          <p:cNvPr id="7" name="Rectangle 6"/>
          <p:cNvSpPr/>
          <p:nvPr/>
        </p:nvSpPr>
        <p:spPr>
          <a:xfrm>
            <a:off x="676656" y="1645920"/>
            <a:ext cx="3319272" cy="1"/>
          </a:xfrm>
          <a:prstGeom prst="rect">
            <a:avLst/>
          </a:prstGeom>
          <a:noFill/>
          <a:ln w="9525">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15384" y="1042415"/>
            <a:ext cx="3758184" cy="427939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4215384" y="1042415"/>
            <a:ext cx="3758184"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TRANCHE #2 · PERLUASAN TESTNET</a:t>
            </a:r>
          </a:p>
        </p:txBody>
      </p:sp>
      <p:sp>
        <p:nvSpPr>
          <p:cNvPr id="10" name="TextBox 9"/>
          <p:cNvSpPr txBox="1"/>
          <p:nvPr/>
        </p:nvSpPr>
        <p:spPr>
          <a:xfrm>
            <a:off x="4434840" y="1426464"/>
            <a:ext cx="3319272" cy="182880"/>
          </a:xfrm>
          <a:prstGeom prst="rect">
            <a:avLst/>
          </a:prstGeom>
          <a:noFill/>
        </p:spPr>
        <p:txBody>
          <a:bodyPr wrap="square" lIns="0" rIns="0" tIns="0" bIns="0" anchor="t">
            <a:spAutoFit/>
          </a:bodyPr>
          <a:lstStyle/>
          <a:p>
            <a:pPr algn="l">
              <a:lnSpc>
                <a:spcPct val="100000"/>
              </a:lnSpc>
            </a:pPr>
            <a:r>
              <a:rPr sz="900" b="1" i="0" spc="70">
                <a:solidFill>
                  <a:srgbClr val="161311"/>
                </a:solidFill>
                <a:latin typeface="Courier Prime"/>
                <a:ea typeface="Courier Prime"/>
                <a:cs typeface="Courier Prime"/>
              </a:rPr>
              <a:t>BIAYA $52,125 · DIBAYAR $36,030</a:t>
            </a:r>
          </a:p>
        </p:txBody>
      </p:sp>
      <p:sp>
        <p:nvSpPr>
          <p:cNvPr id="11" name="Rectangle 10"/>
          <p:cNvSpPr/>
          <p:nvPr/>
        </p:nvSpPr>
        <p:spPr>
          <a:xfrm>
            <a:off x="4434840" y="1645920"/>
            <a:ext cx="3319272" cy="1"/>
          </a:xfrm>
          <a:prstGeom prst="rect">
            <a:avLst/>
          </a:prstGeom>
          <a:noFill/>
          <a:ln w="9525">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73568" y="1042415"/>
            <a:ext cx="3758184" cy="427939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7973568" y="1042415"/>
            <a:ext cx="3758184"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TRANCHE #3 · GO-LIVE MAINNET</a:t>
            </a:r>
          </a:p>
        </p:txBody>
      </p:sp>
      <p:sp>
        <p:nvSpPr>
          <p:cNvPr id="14" name="TextBox 13"/>
          <p:cNvSpPr txBox="1"/>
          <p:nvPr/>
        </p:nvSpPr>
        <p:spPr>
          <a:xfrm>
            <a:off x="8193024" y="1426464"/>
            <a:ext cx="3319272" cy="182880"/>
          </a:xfrm>
          <a:prstGeom prst="rect">
            <a:avLst/>
          </a:prstGeom>
          <a:noFill/>
        </p:spPr>
        <p:txBody>
          <a:bodyPr wrap="square" lIns="0" rIns="0" tIns="0" bIns="0" anchor="t">
            <a:spAutoFit/>
          </a:bodyPr>
          <a:lstStyle/>
          <a:p>
            <a:pPr algn="l">
              <a:lnSpc>
                <a:spcPct val="100000"/>
              </a:lnSpc>
            </a:pPr>
            <a:r>
              <a:rPr sz="900" b="1" i="0" spc="70">
                <a:solidFill>
                  <a:srgbClr val="161311"/>
                </a:solidFill>
                <a:latin typeface="Courier Prime"/>
                <a:ea typeface="Courier Prime"/>
                <a:cs typeface="Courier Prime"/>
              </a:rPr>
              <a:t>BIAYA $54,850 · DIBAYAR $48,040</a:t>
            </a:r>
          </a:p>
        </p:txBody>
      </p:sp>
      <p:sp>
        <p:nvSpPr>
          <p:cNvPr id="15" name="Rectangle 14"/>
          <p:cNvSpPr/>
          <p:nvPr/>
        </p:nvSpPr>
        <p:spPr>
          <a:xfrm>
            <a:off x="8193024" y="1645920"/>
            <a:ext cx="3319272" cy="1"/>
          </a:xfrm>
          <a:prstGeom prst="rect">
            <a:avLst/>
          </a:prstGeom>
          <a:noFill/>
          <a:ln w="9525">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177393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D1.1  $6,125</a:t>
            </a:r>
          </a:p>
        </p:txBody>
      </p:sp>
      <p:sp>
        <p:nvSpPr>
          <p:cNvPr id="17" name="TextBox 16"/>
          <p:cNvSpPr txBox="1"/>
          <p:nvPr/>
        </p:nvSpPr>
        <p:spPr>
          <a:xfrm>
            <a:off x="676656" y="1993391"/>
            <a:ext cx="3319272" cy="896112"/>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Migrasi state koridor live ke pool yang bisa di-upgrade. Selesai kalau leaf_count, current_root, dan tiap nullifier terpakai cocok dengan sumbernya, dan note yang sudah dipakai di sumber ditolak sebagai NullifierUsed di pool baru.</a:t>
            </a:r>
          </a:p>
        </p:txBody>
      </p:sp>
      <p:sp>
        <p:nvSpPr>
          <p:cNvPr id="18" name="Rectangle 17"/>
          <p:cNvSpPr/>
          <p:nvPr/>
        </p:nvSpPr>
        <p:spPr>
          <a:xfrm>
            <a:off x="676656" y="288036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96265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D1.2  $3,500</a:t>
            </a:r>
          </a:p>
        </p:txBody>
      </p:sp>
      <p:sp>
        <p:nvSpPr>
          <p:cNvPr id="20" name="TextBox 19"/>
          <p:cNvSpPr txBox="1"/>
          <p:nvPr/>
        </p:nvSpPr>
        <p:spPr>
          <a:xfrm>
            <a:off x="676656" y="3182112"/>
            <a:ext cx="3319272" cy="896112"/>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Terapkan akumulator proof-of-reserves eksak se-pool ke pool live. Selesai kalau attest_reserves berhasil tepat di total setelah withdraw.</a:t>
            </a:r>
          </a:p>
        </p:txBody>
      </p:sp>
      <p:sp>
        <p:nvSpPr>
          <p:cNvPr id="21" name="Rectangle 20"/>
          <p:cNvSpPr/>
          <p:nvPr/>
        </p:nvSpPr>
        <p:spPr>
          <a:xfrm>
            <a:off x="676656" y="406908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415137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D1.3  $3,500</a:t>
            </a:r>
          </a:p>
        </p:txBody>
      </p:sp>
      <p:sp>
        <p:nvSpPr>
          <p:cNvPr id="23" name="TextBox 22"/>
          <p:cNvSpPr txBox="1"/>
          <p:nvPr/>
        </p:nvSpPr>
        <p:spPr>
          <a:xfrm>
            <a:off x="676656" y="4370832"/>
            <a:ext cx="3319272" cy="896112"/>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Pengerasan admin key: lima setter penting lewat timelock, admin di akun multisig Stellar dengan key baru.</a:t>
            </a:r>
          </a:p>
        </p:txBody>
      </p:sp>
      <p:sp>
        <p:nvSpPr>
          <p:cNvPr id="24" name="Rectangle 23"/>
          <p:cNvSpPr/>
          <p:nvPr/>
        </p:nvSpPr>
        <p:spPr>
          <a:xfrm>
            <a:off x="676656" y="525780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177393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D2.1  $17,375</a:t>
            </a:r>
          </a:p>
        </p:txBody>
      </p:sp>
      <p:sp>
        <p:nvSpPr>
          <p:cNvPr id="26" name="TextBox 25"/>
          <p:cNvSpPr txBox="1"/>
          <p:nvPr/>
        </p:nvSpPr>
        <p:spPr>
          <a:xfrm>
            <a:off x="4434840" y="1993391"/>
            <a:ext cx="3319272" cy="896112"/>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Alur anchor berlisensi kandidat di testnet: challenge SEP-10 ditandatangani ke endpoint anchor itu sendiri, sesi SEP-24 dipantau sampai status final, dan allow-list diisi dari sinyal KYC-nya.</a:t>
            </a:r>
          </a:p>
        </p:txBody>
      </p:sp>
      <p:sp>
        <p:nvSpPr>
          <p:cNvPr id="27" name="Rectangle 26"/>
          <p:cNvSpPr/>
          <p:nvPr/>
        </p:nvSpPr>
        <p:spPr>
          <a:xfrm>
            <a:off x="4434840" y="288036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296265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D2.2  $30,375</a:t>
            </a:r>
          </a:p>
        </p:txBody>
      </p:sp>
      <p:sp>
        <p:nvSpPr>
          <p:cNvPr id="29" name="TextBox 28"/>
          <p:cNvSpPr txBox="1"/>
          <p:nvPr/>
        </p:nvSpPr>
        <p:spPr>
          <a:xfrm>
            <a:off x="4434840" y="3182112"/>
            <a:ext cx="3319272" cy="896112"/>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Threat model diterbitkan ulang plus tumpukan monitoring dan alerting, dengan indexer tingkat transaksi yang masih bisa membaca panggilan gagal setelah jendela retensi RPC kira-kira 7 hari.</a:t>
            </a:r>
          </a:p>
        </p:txBody>
      </p:sp>
      <p:sp>
        <p:nvSpPr>
          <p:cNvPr id="30" name="Rectangle 29"/>
          <p:cNvSpPr/>
          <p:nvPr/>
        </p:nvSpPr>
        <p:spPr>
          <a:xfrm>
            <a:off x="4434840" y="406908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34840" y="415137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D2.3  $4,375</a:t>
            </a:r>
          </a:p>
        </p:txBody>
      </p:sp>
      <p:sp>
        <p:nvSpPr>
          <p:cNvPr id="32" name="TextBox 31"/>
          <p:cNvSpPr txBox="1"/>
          <p:nvPr/>
        </p:nvSpPr>
        <p:spPr>
          <a:xfrm>
            <a:off x="4434840" y="4370832"/>
            <a:ext cx="3319272" cy="896112"/>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Pilot testnet terbatas dijalankan penguji di luar tim, bisa diperiksa publik di stellar.expert.</a:t>
            </a:r>
          </a:p>
        </p:txBody>
      </p:sp>
      <p:sp>
        <p:nvSpPr>
          <p:cNvPr id="33" name="Rectangle 32"/>
          <p:cNvSpPr/>
          <p:nvPr/>
        </p:nvSpPr>
        <p:spPr>
          <a:xfrm>
            <a:off x="4434840" y="525780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93024" y="1773936"/>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D3.1  $16,250</a:t>
            </a:r>
          </a:p>
        </p:txBody>
      </p:sp>
      <p:sp>
        <p:nvSpPr>
          <p:cNvPr id="35" name="TextBox 34"/>
          <p:cNvSpPr txBox="1"/>
          <p:nvPr/>
        </p:nvSpPr>
        <p:spPr>
          <a:xfrm>
            <a:off x="8193024" y="1993391"/>
            <a:ext cx="3319272" cy="420624"/>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Deployment mainnet: transkrip terverifikasi, verifier diregenerasi, deposit, withdraw, dan disclosure on-chain.</a:t>
            </a:r>
          </a:p>
        </p:txBody>
      </p:sp>
      <p:sp>
        <p:nvSpPr>
          <p:cNvPr id="36" name="Rectangle 35"/>
          <p:cNvSpPr/>
          <p:nvPr/>
        </p:nvSpPr>
        <p:spPr>
          <a:xfrm>
            <a:off x="8193024" y="2404872"/>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93024" y="2487168"/>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D3.5  $16,625</a:t>
            </a:r>
          </a:p>
        </p:txBody>
      </p:sp>
      <p:sp>
        <p:nvSpPr>
          <p:cNvPr id="38" name="TextBox 37"/>
          <p:cNvSpPr txBox="1"/>
          <p:nvPr/>
        </p:nvSpPr>
        <p:spPr>
          <a:xfrm>
            <a:off x="8193024" y="2706624"/>
            <a:ext cx="3319272" cy="420624"/>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Node TRISA: dua endpoint VASP, bukan operator yang sama, bertukar IVMS101 lewat kaki terautentikasi.</a:t>
            </a:r>
          </a:p>
        </p:txBody>
      </p:sp>
      <p:sp>
        <p:nvSpPr>
          <p:cNvPr id="39" name="Rectangle 38"/>
          <p:cNvSpPr/>
          <p:nvPr/>
        </p:nvSpPr>
        <p:spPr>
          <a:xfrm>
            <a:off x="8193024" y="3118104"/>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93024" y="3200400"/>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D3.3  $10,650</a:t>
            </a:r>
          </a:p>
        </p:txBody>
      </p:sp>
      <p:sp>
        <p:nvSpPr>
          <p:cNvPr id="41" name="TextBox 40"/>
          <p:cNvSpPr txBox="1"/>
          <p:nvPr/>
        </p:nvSpPr>
        <p:spPr>
          <a:xfrm>
            <a:off x="8193024" y="3419856"/>
            <a:ext cx="3319272" cy="420624"/>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SDK publik, API, dan dokumentasi integrasi dengan contoh yang bisa dijalankan.</a:t>
            </a:r>
          </a:p>
        </p:txBody>
      </p:sp>
      <p:sp>
        <p:nvSpPr>
          <p:cNvPr id="42" name="Rectangle 41"/>
          <p:cNvSpPr/>
          <p:nvPr/>
        </p:nvSpPr>
        <p:spPr>
          <a:xfrm>
            <a:off x="8193024" y="3831336"/>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93024" y="3913632"/>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D3.2  $9,575</a:t>
            </a:r>
          </a:p>
        </p:txBody>
      </p:sp>
      <p:sp>
        <p:nvSpPr>
          <p:cNvPr id="44" name="TextBox 43"/>
          <p:cNvSpPr txBox="1"/>
          <p:nvPr/>
        </p:nvSpPr>
        <p:spPr>
          <a:xfrm>
            <a:off x="8193024" y="4133088"/>
            <a:ext cx="3319272" cy="420624"/>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Satu koridor go-live: satu remitansi mainnet nyata lewat anchor berlisensi.</a:t>
            </a:r>
          </a:p>
        </p:txBody>
      </p:sp>
      <p:sp>
        <p:nvSpPr>
          <p:cNvPr id="45" name="Rectangle 44"/>
          <p:cNvSpPr/>
          <p:nvPr/>
        </p:nvSpPr>
        <p:spPr>
          <a:xfrm>
            <a:off x="8193024" y="4544568"/>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93024" y="4626864"/>
            <a:ext cx="1645920" cy="182880"/>
          </a:xfrm>
          <a:prstGeom prst="rect">
            <a:avLst/>
          </a:prstGeom>
          <a:noFill/>
        </p:spPr>
        <p:txBody>
          <a:bodyPr wrap="square" lIns="0" rIns="0" tIns="0" bIns="0" anchor="t">
            <a:spAutoFit/>
          </a:bodyPr>
          <a:lstStyle/>
          <a:p>
            <a:pPr algn="l">
              <a:lnSpc>
                <a:spcPct val="100000"/>
              </a:lnSpc>
            </a:pPr>
            <a:r>
              <a:rPr sz="900" b="1" i="0" spc="50">
                <a:solidFill>
                  <a:srgbClr val="161311"/>
                </a:solidFill>
                <a:latin typeface="Courier Prime"/>
                <a:ea typeface="Courier Prime"/>
                <a:cs typeface="Courier Prime"/>
              </a:rPr>
              <a:t>D3.4  $1,750</a:t>
            </a:r>
          </a:p>
        </p:txBody>
      </p:sp>
      <p:sp>
        <p:nvSpPr>
          <p:cNvPr id="47" name="TextBox 46"/>
          <p:cNvSpPr txBox="1"/>
          <p:nvPr/>
        </p:nvSpPr>
        <p:spPr>
          <a:xfrm>
            <a:off x="8193024" y="4846320"/>
            <a:ext cx="3319272" cy="420624"/>
          </a:xfrm>
          <a:prstGeom prst="rect">
            <a:avLst/>
          </a:prstGeom>
          <a:noFill/>
        </p:spPr>
        <p:txBody>
          <a:bodyPr wrap="square" lIns="0" rIns="0" tIns="0" bIns="0" anchor="t">
            <a:spAutoFit/>
          </a:bodyPr>
          <a:lstStyle/>
          <a:p>
            <a:pPr algn="l">
              <a:lnSpc>
                <a:spcPct val="134000"/>
              </a:lnSpc>
            </a:pPr>
            <a:r>
              <a:rPr sz="980" b="0" i="0">
                <a:solidFill>
                  <a:srgbClr val="3D3731"/>
                </a:solidFill>
                <a:latin typeface="Barlow"/>
                <a:ea typeface="Barlow"/>
                <a:cs typeface="Barlow"/>
              </a:rPr>
              <a:t>Monitoring go-live dengan aturan paging untuk sinyal keamanan dana.</a:t>
            </a:r>
          </a:p>
        </p:txBody>
      </p:sp>
      <p:sp>
        <p:nvSpPr>
          <p:cNvPr id="48" name="Rectangle 47"/>
          <p:cNvSpPr/>
          <p:nvPr/>
        </p:nvSpPr>
        <p:spPr>
          <a:xfrm>
            <a:off x="8193024" y="5257800"/>
            <a:ext cx="331927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5431536"/>
            <a:ext cx="11283696" cy="649224"/>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TextBox 49"/>
          <p:cNvSpPr txBox="1"/>
          <p:nvPr/>
        </p:nvSpPr>
        <p:spPr>
          <a:xfrm>
            <a:off x="694944" y="5577840"/>
            <a:ext cx="10789920" cy="475488"/>
          </a:xfrm>
          <a:prstGeom prst="rect">
            <a:avLst/>
          </a:prstGeom>
          <a:noFill/>
        </p:spPr>
        <p:txBody>
          <a:bodyPr wrap="square" lIns="0" rIns="0" tIns="0" bIns="0" anchor="t">
            <a:spAutoFit/>
          </a:bodyPr>
          <a:lstStyle/>
          <a:p>
            <a:pPr algn="l">
              <a:lnSpc>
                <a:spcPct val="136000"/>
              </a:lnSpc>
            </a:pPr>
            <a:r>
              <a:rPr sz="900" b="1" i="0" spc="70">
                <a:solidFill>
                  <a:srgbClr val="161311"/>
                </a:solidFill>
                <a:latin typeface="Courier Prime"/>
                <a:ea typeface="Courier Prime"/>
                <a:cs typeface="Courier Prime"/>
              </a:rPr>
              <a:t>KALAU SDF MEMBATASI INI KE TESTNET SAJA  </a:t>
            </a:r>
            <a:r>
              <a:rPr sz="1050" b="0" i="0">
                <a:solidFill>
                  <a:srgbClr val="3D3731"/>
                </a:solidFill>
                <a:latin typeface="Barlow"/>
                <a:ea typeface="Barlow"/>
                <a:cs typeface="Barlow"/>
              </a:rPr>
              <a:t>tiap deliverable Tranche #3 punya bentuk testnet yang tetap memegang syarat selesainya. Dua hal benar-benar hilang dan tidak ditutup-tutupi: tidak ada remitansi nyata dan tidak ada uang pengguna nyata di dalam jendela award, dan target pemakaian sukarela jadi batal, tanpa angka testnet pengganti.</a:t>
            </a:r>
          </a:p>
        </p:txBody>
      </p:sp>
      <p:sp>
        <p:nvSpPr>
          <p:cNvPr id="51" name="Rounded Rectangle 50"/>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18/19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DELIVERABLE</a:t>
            </a:r>
          </a:p>
        </p:txBody>
      </p:sp>
      <p:pic>
        <p:nvPicPr>
          <p:cNvPr id="52" name="Picture 51" descr="seal.png"/>
          <p:cNvPicPr>
            <a:picLocks noChangeAspect="1"/>
          </p:cNvPicPr>
          <p:nvPr/>
        </p:nvPicPr>
        <p:blipFill>
          <a:blip r:embed="rId3"/>
          <a:stretch>
            <a:fillRect/>
          </a:stretch>
        </p:blipFill>
        <p:spPr>
          <a:xfrm>
            <a:off x="11356848" y="6199632"/>
            <a:ext cx="548640" cy="274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aft.pn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5852160" y="457200"/>
            <a:ext cx="5888736" cy="3959352"/>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landing.png"/>
          <p:cNvPicPr>
            <a:picLocks noChangeAspect="1"/>
          </p:cNvPicPr>
          <p:nvPr/>
        </p:nvPicPr>
        <p:blipFill>
          <a:blip r:embed="rId3"/>
          <a:stretch>
            <a:fillRect/>
          </a:stretch>
        </p:blipFill>
        <p:spPr>
          <a:xfrm>
            <a:off x="5902452" y="507492"/>
            <a:ext cx="5788152" cy="3639312"/>
          </a:xfrm>
          <a:prstGeom prst="rect">
            <a:avLst/>
          </a:prstGeom>
        </p:spPr>
      </p:pic>
      <p:sp>
        <p:nvSpPr>
          <p:cNvPr id="5" name="TextBox 4"/>
          <p:cNvSpPr txBox="1"/>
          <p:nvPr/>
        </p:nvSpPr>
        <p:spPr>
          <a:xfrm>
            <a:off x="5902452" y="4187952"/>
            <a:ext cx="5788152" cy="182880"/>
          </a:xfrm>
          <a:prstGeom prst="rect">
            <a:avLst/>
          </a:prstGeom>
          <a:noFill/>
        </p:spPr>
        <p:txBody>
          <a:bodyPr wrap="square" lIns="0" rIns="0" tIns="0" bIns="0" anchor="t">
            <a:spAutoFit/>
          </a:bodyPr>
          <a:lstStyle/>
          <a:p>
            <a:pPr algn="l">
              <a:lnSpc>
                <a:spcPct val="100000"/>
              </a:lnSpc>
            </a:pPr>
            <a:r>
              <a:rPr sz="760" b="1" i="0" spc="60">
                <a:solidFill>
                  <a:srgbClr val="5A5148"/>
                </a:solidFill>
                <a:latin typeface="Courier Prime"/>
                <a:ea typeface="Courier Prime"/>
                <a:cs typeface="Courier Prime"/>
              </a:rPr>
              <a:t>01-LANDING-DESKTOP.PNG · APLIKASI LIVE, TUKAR-SIX.VERCEL.APP</a:t>
            </a:r>
          </a:p>
        </p:txBody>
      </p:sp>
      <p:sp>
        <p:nvSpPr>
          <p:cNvPr id="6" name="Rectangle 5"/>
          <p:cNvSpPr/>
          <p:nvPr/>
        </p:nvSpPr>
        <p:spPr>
          <a:xfrm>
            <a:off x="457200" y="457200"/>
            <a:ext cx="5120640" cy="562356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457200" y="457200"/>
            <a:ext cx="5120640"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PENUTUP</a:t>
            </a:r>
          </a:p>
        </p:txBody>
      </p:sp>
      <p:sp>
        <p:nvSpPr>
          <p:cNvPr id="8" name="TextBox 7"/>
          <p:cNvSpPr txBox="1"/>
          <p:nvPr/>
        </p:nvSpPr>
        <p:spPr>
          <a:xfrm>
            <a:off x="694944" y="969264"/>
            <a:ext cx="4645152" cy="1828800"/>
          </a:xfrm>
          <a:prstGeom prst="rect">
            <a:avLst/>
          </a:prstGeom>
          <a:noFill/>
        </p:spPr>
        <p:txBody>
          <a:bodyPr wrap="square" lIns="0" rIns="0" tIns="0" bIns="0" anchor="t">
            <a:spAutoFit/>
          </a:bodyPr>
          <a:lstStyle/>
          <a:p>
            <a:pPr algn="l">
              <a:lnSpc>
                <a:spcPct val="108000"/>
              </a:lnSpc>
            </a:pPr>
            <a:r>
              <a:rPr sz="2600" b="0" i="0" spc="32">
                <a:solidFill>
                  <a:srgbClr val="161311"/>
                </a:solidFill>
                <a:latin typeface="Saira Stencil One"/>
                <a:ea typeface="Saira Stencil One"/>
                <a:cs typeface="Saira Stencil One"/>
              </a:rPr>
              <a:t>PRIVAT DI TENGAH, AKUNTABEL DI TEPINYA.</a:t>
            </a:r>
          </a:p>
        </p:txBody>
      </p:sp>
      <p:sp>
        <p:nvSpPr>
          <p:cNvPr id="9" name="TextBox 8"/>
          <p:cNvSpPr txBox="1"/>
          <p:nvPr/>
        </p:nvSpPr>
        <p:spPr>
          <a:xfrm>
            <a:off x="694944" y="2761488"/>
            <a:ext cx="4645152" cy="1005840"/>
          </a:xfrm>
          <a:prstGeom prst="rect">
            <a:avLst/>
          </a:prstGeom>
          <a:noFill/>
        </p:spPr>
        <p:txBody>
          <a:bodyPr wrap="square" lIns="0" rIns="0" tIns="0" bIns="0" anchor="t">
            <a:spAutoFit/>
          </a:bodyPr>
          <a:lstStyle/>
          <a:p>
            <a:pPr algn="l">
              <a:lnSpc>
                <a:spcPct val="142000"/>
              </a:lnSpc>
            </a:pPr>
            <a:r>
              <a:rPr sz="1250" b="0" i="0">
                <a:solidFill>
                  <a:srgbClr val="3D3731"/>
                </a:solidFill>
                <a:latin typeface="Barlow"/>
                <a:ea typeface="Barlow"/>
                <a:cs typeface="Barlow"/>
              </a:rPr>
              <a:t>Seluruh arsitekturnya sudah dibangun dan berjalan di Stellar testnet, jadi proposal ini mendanai produksionalisasinya jadi koridor mainnet live dengan anchor berlisensi, bukan membangunnya dari nol.</a:t>
            </a:r>
          </a:p>
        </p:txBody>
      </p:sp>
      <p:sp>
        <p:nvSpPr>
          <p:cNvPr id="10" name="Rectangle 9"/>
          <p:cNvSpPr/>
          <p:nvPr/>
        </p:nvSpPr>
        <p:spPr>
          <a:xfrm>
            <a:off x="694944" y="3931920"/>
            <a:ext cx="4645152" cy="1"/>
          </a:xfrm>
          <a:prstGeom prst="rect">
            <a:avLst/>
          </a:prstGeom>
          <a:noFill/>
          <a:ln w="9525">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4082796"/>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APLIKASI</a:t>
            </a:r>
          </a:p>
        </p:txBody>
      </p:sp>
      <p:sp>
        <p:nvSpPr>
          <p:cNvPr id="12" name="TextBox 11"/>
          <p:cNvSpPr txBox="1"/>
          <p:nvPr/>
        </p:nvSpPr>
        <p:spPr>
          <a:xfrm>
            <a:off x="1837943" y="4067251"/>
            <a:ext cx="3502152" cy="384048"/>
          </a:xfrm>
          <a:prstGeom prst="rect">
            <a:avLst/>
          </a:prstGeom>
          <a:noFill/>
        </p:spPr>
        <p:txBody>
          <a:bodyPr wrap="square" lIns="0" rIns="0" tIns="0" bIns="0" anchor="t">
            <a:spAutoFit/>
          </a:bodyPr>
          <a:lstStyle/>
          <a:p>
            <a:pPr algn="l">
              <a:lnSpc>
                <a:spcPct val="115000"/>
              </a:lnSpc>
            </a:pPr>
            <a:r>
              <a:rPr sz="1100" b="0" i="0">
                <a:solidFill>
                  <a:srgbClr val="161311"/>
                </a:solidFill>
                <a:latin typeface="Courier Prime"/>
                <a:ea typeface="Courier Prime"/>
                <a:cs typeface="Courier Prime"/>
              </a:rPr>
              <a:t>tukar-six.vercel.app</a:t>
            </a:r>
          </a:p>
        </p:txBody>
      </p:sp>
      <p:sp>
        <p:nvSpPr>
          <p:cNvPr id="13" name="Rectangle 12"/>
          <p:cNvSpPr/>
          <p:nvPr/>
        </p:nvSpPr>
        <p:spPr>
          <a:xfrm>
            <a:off x="694944" y="4425696"/>
            <a:ext cx="4645152"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4466844"/>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DOKUMEN</a:t>
            </a:r>
          </a:p>
        </p:txBody>
      </p:sp>
      <p:sp>
        <p:nvSpPr>
          <p:cNvPr id="15" name="TextBox 14"/>
          <p:cNvSpPr txBox="1"/>
          <p:nvPr/>
        </p:nvSpPr>
        <p:spPr>
          <a:xfrm>
            <a:off x="1837943" y="4451299"/>
            <a:ext cx="3502152" cy="384048"/>
          </a:xfrm>
          <a:prstGeom prst="rect">
            <a:avLst/>
          </a:prstGeom>
          <a:noFill/>
        </p:spPr>
        <p:txBody>
          <a:bodyPr wrap="square" lIns="0" rIns="0" tIns="0" bIns="0" anchor="t">
            <a:spAutoFit/>
          </a:bodyPr>
          <a:lstStyle/>
          <a:p>
            <a:pPr algn="l">
              <a:lnSpc>
                <a:spcPct val="115000"/>
              </a:lnSpc>
            </a:pPr>
            <a:r>
              <a:rPr sz="1100" b="0" i="0">
                <a:solidFill>
                  <a:srgbClr val="161311"/>
                </a:solidFill>
                <a:latin typeface="Courier Prime"/>
                <a:ea typeface="Courier Prime"/>
                <a:cs typeface="Courier Prime"/>
              </a:rPr>
              <a:t>tukar-six.vercel.app/docs</a:t>
            </a:r>
          </a:p>
        </p:txBody>
      </p:sp>
      <p:sp>
        <p:nvSpPr>
          <p:cNvPr id="16" name="Rectangle 15"/>
          <p:cNvSpPr/>
          <p:nvPr/>
        </p:nvSpPr>
        <p:spPr>
          <a:xfrm>
            <a:off x="694944" y="4809744"/>
            <a:ext cx="4645152"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850892"/>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DECK</a:t>
            </a:r>
          </a:p>
        </p:txBody>
      </p:sp>
      <p:sp>
        <p:nvSpPr>
          <p:cNvPr id="18" name="TextBox 17"/>
          <p:cNvSpPr txBox="1"/>
          <p:nvPr/>
        </p:nvSpPr>
        <p:spPr>
          <a:xfrm>
            <a:off x="1837943" y="4835347"/>
            <a:ext cx="3502152" cy="384048"/>
          </a:xfrm>
          <a:prstGeom prst="rect">
            <a:avLst/>
          </a:prstGeom>
          <a:noFill/>
        </p:spPr>
        <p:txBody>
          <a:bodyPr wrap="square" lIns="0" rIns="0" tIns="0" bIns="0" anchor="t">
            <a:spAutoFit/>
          </a:bodyPr>
          <a:lstStyle/>
          <a:p>
            <a:pPr algn="l">
              <a:lnSpc>
                <a:spcPct val="115000"/>
              </a:lnSpc>
            </a:pPr>
            <a:r>
              <a:rPr sz="1100" b="0" i="0">
                <a:solidFill>
                  <a:srgbClr val="161311"/>
                </a:solidFill>
                <a:latin typeface="Courier Prime"/>
                <a:ea typeface="Courier Prime"/>
                <a:cs typeface="Courier Prime"/>
              </a:rPr>
              <a:t>tukar-six.vercel.app/deck</a:t>
            </a:r>
          </a:p>
        </p:txBody>
      </p:sp>
      <p:sp>
        <p:nvSpPr>
          <p:cNvPr id="19" name="Rectangle 18"/>
          <p:cNvSpPr/>
          <p:nvPr/>
        </p:nvSpPr>
        <p:spPr>
          <a:xfrm>
            <a:off x="694944" y="5193792"/>
            <a:ext cx="4645152" cy="1"/>
          </a:xfrm>
          <a:prstGeom prst="rect">
            <a:avLst/>
          </a:prstGeom>
          <a:noFill/>
          <a:ln w="7620">
            <a:solidFill>
              <a:srgbClr val="161311">
                <a:alpha val="2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234940"/>
            <a:ext cx="1051560" cy="201168"/>
          </a:xfrm>
          <a:prstGeom prst="rect">
            <a:avLst/>
          </a:prstGeom>
          <a:noFill/>
        </p:spPr>
        <p:txBody>
          <a:bodyPr wrap="square" lIns="0" rIns="0" tIns="0" bIns="0" anchor="t">
            <a:spAutoFit/>
          </a:bodyPr>
          <a:lstStyle/>
          <a:p>
            <a:pPr algn="l">
              <a:lnSpc>
                <a:spcPct val="100000"/>
              </a:lnSpc>
            </a:pPr>
            <a:r>
              <a:rPr sz="900" b="1" i="0" spc="70">
                <a:solidFill>
                  <a:srgbClr val="3D3731"/>
                </a:solidFill>
                <a:latin typeface="Courier Prime"/>
                <a:ea typeface="Courier Prime"/>
                <a:cs typeface="Courier Prime"/>
              </a:rPr>
              <a:t>SUMBER</a:t>
            </a:r>
          </a:p>
        </p:txBody>
      </p:sp>
      <p:sp>
        <p:nvSpPr>
          <p:cNvPr id="21" name="TextBox 20"/>
          <p:cNvSpPr txBox="1"/>
          <p:nvPr/>
        </p:nvSpPr>
        <p:spPr>
          <a:xfrm>
            <a:off x="1837943" y="5219395"/>
            <a:ext cx="3502152" cy="384048"/>
          </a:xfrm>
          <a:prstGeom prst="rect">
            <a:avLst/>
          </a:prstGeom>
          <a:noFill/>
        </p:spPr>
        <p:txBody>
          <a:bodyPr wrap="square" lIns="0" rIns="0" tIns="0" bIns="0" anchor="t">
            <a:spAutoFit/>
          </a:bodyPr>
          <a:lstStyle/>
          <a:p>
            <a:pPr algn="l">
              <a:lnSpc>
                <a:spcPct val="115000"/>
              </a:lnSpc>
            </a:pPr>
            <a:r>
              <a:rPr sz="1100" b="0" i="0">
                <a:solidFill>
                  <a:srgbClr val="161311"/>
                </a:solidFill>
                <a:latin typeface="Courier Prime"/>
                <a:ea typeface="Courier Prime"/>
                <a:cs typeface="Courier Prime"/>
              </a:rPr>
              <a:t>github.com/PugarHuda/tukar</a:t>
            </a:r>
          </a:p>
        </p:txBody>
      </p:sp>
      <p:sp>
        <p:nvSpPr>
          <p:cNvPr id="22" name="Rectangle 21"/>
          <p:cNvSpPr/>
          <p:nvPr/>
        </p:nvSpPr>
        <p:spPr>
          <a:xfrm>
            <a:off x="694944" y="5577840"/>
            <a:ext cx="4645152" cy="1"/>
          </a:xfrm>
          <a:prstGeom prst="rect">
            <a:avLst/>
          </a:prstGeom>
          <a:noFill/>
          <a:ln w="7620">
            <a:solidFill>
              <a:srgbClr val="161311">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687568"/>
            <a:ext cx="4645152" cy="228600"/>
          </a:xfrm>
          <a:prstGeom prst="rect">
            <a:avLst/>
          </a:prstGeom>
          <a:noFill/>
        </p:spPr>
        <p:txBody>
          <a:bodyPr wrap="square" lIns="0" rIns="0" tIns="0" bIns="0" anchor="t">
            <a:spAutoFit/>
          </a:bodyPr>
          <a:lstStyle/>
          <a:p>
            <a:pPr algn="l">
              <a:lnSpc>
                <a:spcPct val="135000"/>
              </a:lnSpc>
            </a:pPr>
            <a:r>
              <a:rPr sz="880" b="0" i="0">
                <a:solidFill>
                  <a:srgbClr val="5A5148"/>
                </a:solidFill>
                <a:latin typeface="Courier Prime"/>
                <a:ea typeface="Courier Prime"/>
                <a:cs typeface="Courier Prime"/>
              </a:rPr>
              <a:t>Semua alamat kontrak di deck ini bisa dibuka di stellar.expert.</a:t>
            </a:r>
          </a:p>
        </p:txBody>
      </p:sp>
      <p:sp>
        <p:nvSpPr>
          <p:cNvPr id="24" name="Rectangle 23"/>
          <p:cNvSpPr/>
          <p:nvPr/>
        </p:nvSpPr>
        <p:spPr>
          <a:xfrm>
            <a:off x="5852160" y="4434840"/>
            <a:ext cx="5888736" cy="1645920"/>
          </a:xfrm>
          <a:prstGeom prst="rect">
            <a:avLst/>
          </a:prstGeom>
          <a:solidFill>
            <a:srgbClr val="F6F1E7"/>
          </a:solidFill>
          <a:ln w="15875">
            <a:solidFill>
              <a:srgbClr val="161311"/>
            </a:solidFill>
          </a:ln>
          <a:effectLst>
            <a:outerShdw blurRad="177800" dist="88900" dir="5400000" rotWithShape="0">
              <a:srgbClr val="161311">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ectangle 24"/>
          <p:cNvSpPr/>
          <p:nvPr/>
        </p:nvSpPr>
        <p:spPr>
          <a:xfrm>
            <a:off x="5852160" y="4434840"/>
            <a:ext cx="5888736" cy="274320"/>
          </a:xfrm>
          <a:prstGeom prst="rect">
            <a:avLst/>
          </a:prstGeom>
          <a:solidFill>
            <a:srgbClr val="161311"/>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00000"/>
              </a:lnSpc>
            </a:pPr>
            <a:r>
              <a:rPr sz="900" b="1" i="0" spc="72">
                <a:solidFill>
                  <a:srgbClr val="F6F1E7"/>
                </a:solidFill>
                <a:latin typeface="Courier Prime"/>
                <a:ea typeface="Courier Prime"/>
                <a:cs typeface="Courier Prime"/>
              </a:rPr>
              <a:t>BACA INI SEBELUM APA PUN DI DECK INI</a:t>
            </a:r>
          </a:p>
        </p:txBody>
      </p:sp>
      <p:sp>
        <p:nvSpPr>
          <p:cNvPr id="26" name="TextBox 25"/>
          <p:cNvSpPr txBox="1"/>
          <p:nvPr/>
        </p:nvSpPr>
        <p:spPr>
          <a:xfrm>
            <a:off x="6089904" y="4855464"/>
            <a:ext cx="5413248" cy="1097280"/>
          </a:xfrm>
          <a:prstGeom prst="rect">
            <a:avLst/>
          </a:prstGeom>
          <a:noFill/>
        </p:spPr>
        <p:txBody>
          <a:bodyPr wrap="square" lIns="0" rIns="0" tIns="0" bIns="0" anchor="t">
            <a:spAutoFit/>
          </a:bodyPr>
          <a:lstStyle/>
          <a:p>
            <a:pPr algn="l">
              <a:lnSpc>
                <a:spcPct val="142000"/>
              </a:lnSpc>
            </a:pPr>
            <a:r>
              <a:rPr sz="1100" b="0" i="0">
                <a:solidFill>
                  <a:srgbClr val="3D3731"/>
                </a:solidFill>
                <a:latin typeface="Barlow"/>
                <a:ea typeface="Barlow"/>
                <a:cs typeface="Barlow"/>
              </a:rPr>
              <a:t>Belum ada pengguna dan belum ada volume. Tukar masih pra-mainnet, di testnet, dan belum diaudit secara profesional. Belum ada anchor yang dihubungi. Tidak ada yang di sini didukung, diaudit, diperiksa, atau disetujui SDF maupun SCF. Selain itu, semua di deck ini entah on-chain dan bisa dicek hari ini, atau ditandai sebagai pekerjaan yang belum terjadi.</a:t>
            </a:r>
          </a:p>
        </p:txBody>
      </p:sp>
      <p:sp>
        <p:nvSpPr>
          <p:cNvPr id="27" name="Rounded Rectangle 26"/>
          <p:cNvSpPr/>
          <p:nvPr/>
        </p:nvSpPr>
        <p:spPr>
          <a:xfrm>
            <a:off x="457200" y="6236208"/>
            <a:ext cx="2103120" cy="256032"/>
          </a:xfrm>
          <a:prstGeom prst="roundRect">
            <a:avLst>
              <a:gd name="adj" fmla="val 10000"/>
            </a:avLst>
          </a:prstGeom>
          <a:solidFill>
            <a:srgbClr val="F6F1E7"/>
          </a:solidFill>
          <a:ln w="9525">
            <a:solidFill>
              <a:srgbClr val="161311"/>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lnSpc>
                <a:spcPct val="100000"/>
              </a:lnSpc>
            </a:pPr>
            <a:r>
              <a:rPr sz="850" b="1" i="0" spc="70">
                <a:solidFill>
                  <a:srgbClr val="161311"/>
                </a:solidFill>
                <a:latin typeface="Courier Prime"/>
                <a:ea typeface="Courier Prime"/>
                <a:cs typeface="Courier Prime"/>
              </a:rPr>
              <a:t>19/19</a:t>
            </a:r>
            <a:r>
              <a:rPr sz="850" b="1" i="0" spc="70">
                <a:solidFill>
                  <a:srgbClr val="161311"/>
                </a:solidFill>
                <a:latin typeface="Courier Prime"/>
                <a:ea typeface="Courier Prime"/>
                <a:cs typeface="Courier Prime"/>
              </a:rPr>
              <a:t>   </a:t>
            </a:r>
            <a:r>
              <a:rPr sz="850" b="1" i="0" spc="70">
                <a:solidFill>
                  <a:srgbClr val="5A5148"/>
                </a:solidFill>
                <a:latin typeface="Courier Prime"/>
                <a:ea typeface="Courier Prime"/>
                <a:cs typeface="Courier Prime"/>
              </a:rPr>
              <a:t>PENUTUP</a:t>
            </a:r>
          </a:p>
        </p:txBody>
      </p:sp>
      <p:pic>
        <p:nvPicPr>
          <p:cNvPr id="28" name="Picture 27" descr="seal.png"/>
          <p:cNvPicPr>
            <a:picLocks noChangeAspect="1"/>
          </p:cNvPicPr>
          <p:nvPr/>
        </p:nvPicPr>
        <p:blipFill>
          <a:blip r:embed="rId4"/>
          <a:stretch>
            <a:fillRect/>
          </a:stretch>
        </p:blipFill>
        <p:spPr>
          <a:xfrm>
            <a:off x="11356848" y="6199632"/>
            <a:ext cx="548640" cy="274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